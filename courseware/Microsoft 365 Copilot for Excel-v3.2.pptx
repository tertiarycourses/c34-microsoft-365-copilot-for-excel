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NON-WSQ COURSE  •  C34</a:t>
            </a:r>
          </a:p>
        </p:txBody>
      </p:sp>
      <p:sp>
        <p:nvSpPr>
          <p:cNvPr id="6" name="TextBox 5"/>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v3.2  ·  13 October 2026</a:t>
            </a:r>
          </a:p>
        </p:txBody>
      </p:sp>
      <p:sp>
        <p:nvSpPr>
          <p:cNvPr id="7" name="TextBox 6"/>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Microsoft 365 Copilot for Excel</a:t>
            </a:r>
          </a:p>
        </p:txBody>
      </p:sp>
      <p:sp>
        <p:nvSpPr>
          <p:cNvPr id="8" name="TextBox 7"/>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9" name="TextBox 8"/>
          <p:cNvSpPr txBox="1"/>
          <p:nvPr/>
        </p:nvSpPr>
        <p:spPr>
          <a:xfrm>
            <a:off x="822960" y="6172200"/>
            <a:ext cx="10515600" cy="320040"/>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0" name="TextBox 9"/>
          <p:cNvSpPr txBox="1"/>
          <p:nvPr/>
        </p:nvSpPr>
        <p:spPr>
          <a:xfrm>
            <a:off x="7159752" y="6355080"/>
            <a:ext cx="4572000" cy="274320"/>
          </a:xfrm>
          <a:prstGeom prst="rect">
            <a:avLst/>
          </a:prstGeom>
          <a:noFill/>
        </p:spPr>
        <p:txBody>
          <a:bodyPr wrap="square" anchor="t">
            <a:spAutoFit/>
          </a:bodyPr>
          <a:lstStyle/>
          <a:p>
            <a:pPr algn="r">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37360"/>
            <a:ext cx="3291840" cy="3291840"/>
          </a:xfrm>
          <a:prstGeom prst="roundRect">
            <a:avLst>
              <a:gd name="adj" fmla="val 6000"/>
            </a:avLst>
          </a:prstGeom>
          <a:solidFill>
            <a:srgbClr val="21201C"/>
          </a:solidFill>
          <a:ln>
            <a:noFill/>
          </a:ln>
        </p:spPr>
        <p:txBody>
          <a:bodyPr rtlCol="0" anchor="ctr"/>
          <a:lstStyle/>
          <a:p>
            <a:pPr algn="ctr"/>
          </a:p>
        </p:txBody>
      </p:sp>
      <p:sp>
        <p:nvSpPr>
          <p:cNvPr id="6" name="Oval 5"/>
          <p:cNvSpPr/>
          <p:nvPr/>
        </p:nvSpPr>
        <p:spPr>
          <a:xfrm>
            <a:off x="2103120" y="2103120"/>
            <a:ext cx="640080" cy="640080"/>
          </a:xfrm>
          <a:prstGeom prst="ellipse">
            <a:avLst/>
          </a:prstGeom>
          <a:solidFill>
            <a:srgbClr val="D97757"/>
          </a:solidFill>
          <a:ln>
            <a:noFill/>
          </a:ln>
          <a:effectLst/>
        </p:spPr>
        <p:txBody>
          <a:bodyPr rtlCol="0" anchor="ctr"/>
          <a:lstStyle/>
          <a:p>
            <a:pPr algn="ctr"/>
          </a:p>
        </p:txBody>
      </p:sp>
      <p:pic>
        <p:nvPicPr>
          <p:cNvPr id="7" name="Picture 6" descr="person.png"/>
          <p:cNvPicPr>
            <a:picLocks noChangeAspect="1"/>
          </p:cNvPicPr>
          <p:nvPr/>
        </p:nvPicPr>
        <p:blipFill>
          <a:blip r:embed="rId2"/>
          <a:stretch>
            <a:fillRect/>
          </a:stretch>
        </p:blipFill>
        <p:spPr>
          <a:xfrm>
            <a:off x="2256739" y="2256739"/>
            <a:ext cx="332841" cy="332841"/>
          </a:xfrm>
          <a:prstGeom prst="rect">
            <a:avLst/>
          </a:prstGeom>
        </p:spPr>
      </p:pic>
      <p:sp>
        <p:nvSpPr>
          <p:cNvPr id="8" name="TextBox 7"/>
          <p:cNvSpPr txBox="1"/>
          <p:nvPr/>
        </p:nvSpPr>
        <p:spPr>
          <a:xfrm>
            <a:off x="777240" y="2926080"/>
            <a:ext cx="3291840" cy="548640"/>
          </a:xfrm>
          <a:prstGeom prst="rect">
            <a:avLst/>
          </a:prstGeom>
          <a:noFill/>
        </p:spPr>
        <p:txBody>
          <a:bodyPr wrap="square" anchor="t">
            <a:spAutoFit/>
          </a:bodyPr>
          <a:lstStyle/>
          <a:p>
            <a:pPr algn="ctr">
              <a:spcAft>
                <a:spcPts val="400"/>
              </a:spcAft>
            </a:pPr>
            <a:r>
              <a:rPr sz="2200" b="1">
                <a:solidFill>
                  <a:srgbClr val="FFFFFF"/>
                </a:solidFill>
                <a:latin typeface="Cambria"/>
              </a:rPr>
              <a:t>Dr. Alfred Ang</a:t>
            </a:r>
          </a:p>
        </p:txBody>
      </p:sp>
      <p:sp>
        <p:nvSpPr>
          <p:cNvPr id="9" name="TextBox 8"/>
          <p:cNvSpPr txBox="1"/>
          <p:nvPr/>
        </p:nvSpPr>
        <p:spPr>
          <a:xfrm>
            <a:off x="777240" y="3429000"/>
            <a:ext cx="3291840" cy="365760"/>
          </a:xfrm>
          <a:prstGeom prst="rect">
            <a:avLst/>
          </a:prstGeom>
          <a:noFill/>
        </p:spPr>
        <p:txBody>
          <a:bodyPr wrap="square" anchor="t">
            <a:spAutoFit/>
          </a:bodyPr>
          <a:lstStyle/>
          <a:p>
            <a:pPr algn="ctr">
              <a:spcAft>
                <a:spcPts val="400"/>
              </a:spcAft>
            </a:pPr>
            <a:r>
              <a:rPr sz="1300" b="0">
                <a:solidFill>
                  <a:srgbClr val="D97757"/>
                </a:solidFill>
                <a:latin typeface="Calibri"/>
              </a:rPr>
              <a:t>AI Trainer &amp; Engineer</a:t>
            </a:r>
          </a:p>
        </p:txBody>
      </p:sp>
      <p:sp>
        <p:nvSpPr>
          <p:cNvPr id="10" name="Oval 9"/>
          <p:cNvSpPr/>
          <p:nvPr/>
        </p:nvSpPr>
        <p:spPr>
          <a:xfrm>
            <a:off x="4434840" y="1828800"/>
            <a:ext cx="502920" cy="502920"/>
          </a:xfrm>
          <a:prstGeom prst="ellipse">
            <a:avLst/>
          </a:prstGeom>
          <a:solidFill>
            <a:srgbClr val="3A7D7B"/>
          </a:solidFill>
          <a:ln>
            <a:noFill/>
          </a:ln>
          <a:effectLst/>
        </p:spPr>
        <p:txBody>
          <a:bodyPr rtlCol="0" anchor="ctr"/>
          <a:lstStyle/>
          <a:p>
            <a:pPr algn="ctr"/>
          </a:p>
        </p:txBody>
      </p:sp>
      <p:pic>
        <p:nvPicPr>
          <p:cNvPr id="11" name="Picture 10" descr="graduate.png"/>
          <p:cNvPicPr>
            <a:picLocks noChangeAspect="1"/>
          </p:cNvPicPr>
          <p:nvPr/>
        </p:nvPicPr>
        <p:blipFill>
          <a:blip r:embed="rId3"/>
          <a:stretch>
            <a:fillRect/>
          </a:stretch>
        </p:blipFill>
        <p:spPr>
          <a:xfrm>
            <a:off x="4555541" y="1949501"/>
            <a:ext cx="261518" cy="261518"/>
          </a:xfrm>
          <a:prstGeom prst="rect">
            <a:avLst/>
          </a:prstGeom>
        </p:spPr>
      </p:pic>
      <p:sp>
        <p:nvSpPr>
          <p:cNvPr id="12" name="TextBox 11"/>
          <p:cNvSpPr txBox="1"/>
          <p:nvPr/>
        </p:nvSpPr>
        <p:spPr>
          <a:xfrm>
            <a:off x="5120640" y="1673352"/>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PhD-qualified trainer specialising in AI, software engineering and developer tooling.</a:t>
            </a:r>
          </a:p>
        </p:txBody>
      </p:sp>
      <p:sp>
        <p:nvSpPr>
          <p:cNvPr id="13" name="Oval 12"/>
          <p:cNvSpPr/>
          <p:nvPr/>
        </p:nvSpPr>
        <p:spPr>
          <a:xfrm>
            <a:off x="4434840" y="2633472"/>
            <a:ext cx="502920" cy="502920"/>
          </a:xfrm>
          <a:prstGeom prst="ellipse">
            <a:avLst/>
          </a:prstGeom>
          <a:solidFill>
            <a:srgbClr val="3A7D7B"/>
          </a:solidFill>
          <a:ln>
            <a:noFill/>
          </a:ln>
          <a:effectLst/>
        </p:spPr>
        <p:txBody>
          <a:bodyPr rtlCol="0" anchor="ctr"/>
          <a:lstStyle/>
          <a:p>
            <a:pPr algn="ctr"/>
          </a:p>
        </p:txBody>
      </p:sp>
      <p:pic>
        <p:nvPicPr>
          <p:cNvPr id="14" name="Picture 13" descr="laptop.png"/>
          <p:cNvPicPr>
            <a:picLocks noChangeAspect="1"/>
          </p:cNvPicPr>
          <p:nvPr/>
        </p:nvPicPr>
        <p:blipFill>
          <a:blip r:embed="rId4"/>
          <a:stretch>
            <a:fillRect/>
          </a:stretch>
        </p:blipFill>
        <p:spPr>
          <a:xfrm>
            <a:off x="4555541" y="2754173"/>
            <a:ext cx="261518" cy="261518"/>
          </a:xfrm>
          <a:prstGeom prst="rect">
            <a:avLst/>
          </a:prstGeom>
        </p:spPr>
      </p:pic>
      <p:sp>
        <p:nvSpPr>
          <p:cNvPr id="15" name="TextBox 14"/>
          <p:cNvSpPr txBox="1"/>
          <p:nvPr/>
        </p:nvSpPr>
        <p:spPr>
          <a:xfrm>
            <a:off x="5120640" y="2478024"/>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Builds AI agents and Microsoft 365 Copilot workflows for business teams.</a:t>
            </a:r>
          </a:p>
        </p:txBody>
      </p:sp>
      <p:sp>
        <p:nvSpPr>
          <p:cNvPr id="16" name="Oval 15"/>
          <p:cNvSpPr/>
          <p:nvPr/>
        </p:nvSpPr>
        <p:spPr>
          <a:xfrm>
            <a:off x="4434840" y="3438144"/>
            <a:ext cx="502920" cy="502920"/>
          </a:xfrm>
          <a:prstGeom prst="ellipse">
            <a:avLst/>
          </a:prstGeom>
          <a:solidFill>
            <a:srgbClr val="3A7D7B"/>
          </a:solidFill>
          <a:ln>
            <a:noFill/>
          </a:ln>
          <a:effectLst/>
        </p:spPr>
        <p:txBody>
          <a:bodyPr rtlCol="0" anchor="ctr"/>
          <a:lstStyle/>
          <a:p>
            <a:pPr algn="ctr"/>
          </a:p>
        </p:txBody>
      </p:sp>
      <p:pic>
        <p:nvPicPr>
          <p:cNvPr id="17" name="Picture 16" descr="teach.png"/>
          <p:cNvPicPr>
            <a:picLocks noChangeAspect="1"/>
          </p:cNvPicPr>
          <p:nvPr/>
        </p:nvPicPr>
        <p:blipFill>
          <a:blip r:embed="rId5"/>
          <a:stretch>
            <a:fillRect/>
          </a:stretch>
        </p:blipFill>
        <p:spPr>
          <a:xfrm>
            <a:off x="4555541" y="3558845"/>
            <a:ext cx="261518" cy="261518"/>
          </a:xfrm>
          <a:prstGeom prst="rect">
            <a:avLst/>
          </a:prstGeom>
        </p:spPr>
      </p:pic>
      <p:sp>
        <p:nvSpPr>
          <p:cNvPr id="18" name="TextBox 17"/>
          <p:cNvSpPr txBox="1"/>
          <p:nvPr/>
        </p:nvSpPr>
        <p:spPr>
          <a:xfrm>
            <a:off x="5120640" y="3282696"/>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Trains professionals across Singapore on practical, project-based AI skills.</a:t>
            </a:r>
          </a:p>
        </p:txBody>
      </p:sp>
      <p:sp>
        <p:nvSpPr>
          <p:cNvPr id="19" name="Oval 18"/>
          <p:cNvSpPr/>
          <p:nvPr/>
        </p:nvSpPr>
        <p:spPr>
          <a:xfrm>
            <a:off x="4434840" y="4242816"/>
            <a:ext cx="502920" cy="502920"/>
          </a:xfrm>
          <a:prstGeom prst="ellipse">
            <a:avLst/>
          </a:prstGeom>
          <a:solidFill>
            <a:srgbClr val="3A7D7B"/>
          </a:solidFill>
          <a:ln>
            <a:noFill/>
          </a:ln>
          <a:effectLst/>
        </p:spPr>
        <p:txBody>
          <a:bodyPr rtlCol="0" anchor="ctr"/>
          <a:lstStyle/>
          <a:p>
            <a:pPr algn="ctr"/>
          </a:p>
        </p:txBody>
      </p:sp>
      <p:pic>
        <p:nvPicPr>
          <p:cNvPr id="20" name="Picture 19" descr="badge.png"/>
          <p:cNvPicPr>
            <a:picLocks noChangeAspect="1"/>
          </p:cNvPicPr>
          <p:nvPr/>
        </p:nvPicPr>
        <p:blipFill>
          <a:blip r:embed="rId6"/>
          <a:stretch>
            <a:fillRect/>
          </a:stretch>
        </p:blipFill>
        <p:spPr>
          <a:xfrm>
            <a:off x="4555541" y="4363517"/>
            <a:ext cx="261518" cy="261518"/>
          </a:xfrm>
          <a:prstGeom prst="rect">
            <a:avLst/>
          </a:prstGeom>
        </p:spPr>
      </p:pic>
      <p:sp>
        <p:nvSpPr>
          <p:cNvPr id="21" name="TextBox 20"/>
          <p:cNvSpPr txBox="1"/>
          <p:nvPr/>
        </p:nvSpPr>
        <p:spPr>
          <a:xfrm>
            <a:off x="5120640" y="4087368"/>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Certifications: PMP, AWS, Microsoft, CompTIA, CKA, CKAD.</a:t>
            </a:r>
          </a:p>
        </p:txBody>
      </p:sp>
      <p:sp>
        <p:nvSpPr>
          <p:cNvPr id="22" name="Oval 21"/>
          <p:cNvSpPr/>
          <p:nvPr/>
        </p:nvSpPr>
        <p:spPr>
          <a:xfrm>
            <a:off x="4434840" y="5093208"/>
            <a:ext cx="502920" cy="502920"/>
          </a:xfrm>
          <a:prstGeom prst="ellipse">
            <a:avLst/>
          </a:prstGeom>
          <a:solidFill>
            <a:srgbClr val="D97757"/>
          </a:solidFill>
          <a:ln>
            <a:noFill/>
          </a:ln>
          <a:effectLst/>
        </p:spPr>
        <p:txBody>
          <a:bodyPr rtlCol="0" anchor="ctr"/>
          <a:lstStyle/>
          <a:p>
            <a:pPr algn="ctr"/>
          </a:p>
        </p:txBody>
      </p:sp>
      <p:pic>
        <p:nvPicPr>
          <p:cNvPr id="23" name="Picture 22" descr="linkedin.png"/>
          <p:cNvPicPr>
            <a:picLocks noChangeAspect="1"/>
          </p:cNvPicPr>
          <p:nvPr/>
        </p:nvPicPr>
        <p:blipFill>
          <a:blip r:embed="rId7"/>
          <a:stretch>
            <a:fillRect/>
          </a:stretch>
        </p:blipFill>
        <p:spPr>
          <a:xfrm>
            <a:off x="4555541" y="5213909"/>
            <a:ext cx="261518" cy="261518"/>
          </a:xfrm>
          <a:prstGeom prst="rect">
            <a:avLst/>
          </a:prstGeom>
        </p:spPr>
      </p:pic>
      <p:sp>
        <p:nvSpPr>
          <p:cNvPr id="24" name="TextBox 23"/>
          <p:cNvSpPr txBox="1"/>
          <p:nvPr/>
        </p:nvSpPr>
        <p:spPr>
          <a:xfrm>
            <a:off x="512064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linkedin.com/in/angchewhoe</a:t>
            </a:r>
          </a:p>
        </p:txBody>
      </p:sp>
      <p:sp>
        <p:nvSpPr>
          <p:cNvPr id="25" name="Oval 24"/>
          <p:cNvSpPr/>
          <p:nvPr/>
        </p:nvSpPr>
        <p:spPr>
          <a:xfrm>
            <a:off x="8458200" y="5093208"/>
            <a:ext cx="502920" cy="502920"/>
          </a:xfrm>
          <a:prstGeom prst="ellipse">
            <a:avLst/>
          </a:prstGeom>
          <a:solidFill>
            <a:srgbClr val="D97757"/>
          </a:solidFill>
          <a:ln>
            <a:noFill/>
          </a:ln>
          <a:effectLst/>
        </p:spPr>
        <p:txBody>
          <a:bodyPr rtlCol="0" anchor="ctr"/>
          <a:lstStyle/>
          <a:p>
            <a:pPr algn="ctr"/>
          </a:p>
        </p:txBody>
      </p:sp>
      <p:pic>
        <p:nvPicPr>
          <p:cNvPr id="26" name="Picture 25" descr="github.png"/>
          <p:cNvPicPr>
            <a:picLocks noChangeAspect="1"/>
          </p:cNvPicPr>
          <p:nvPr/>
        </p:nvPicPr>
        <p:blipFill>
          <a:blip r:embed="rId8"/>
          <a:stretch>
            <a:fillRect/>
          </a:stretch>
        </p:blipFill>
        <p:spPr>
          <a:xfrm>
            <a:off x="8578901" y="5213909"/>
            <a:ext cx="261518" cy="261518"/>
          </a:xfrm>
          <a:prstGeom prst="rect">
            <a:avLst/>
          </a:prstGeom>
        </p:spPr>
      </p:pic>
      <p:sp>
        <p:nvSpPr>
          <p:cNvPr id="27" name="TextBox 26"/>
          <p:cNvSpPr txBox="1"/>
          <p:nvPr/>
        </p:nvSpPr>
        <p:spPr>
          <a:xfrm>
            <a:off x="914400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github.com/alfredang</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organisation and role.</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One HR, recruitment or finance report you rebuild in Excel every week or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The correction you find yourself giving Copilot (or a colleague) again and again.</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Whether you can see the Copilot button in Excel, and on which app (Windows, Mac or web).</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Access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C34 course page or the trainer-supplied Drive folder</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courseware links for this course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Download the Slides, Learner Guide and Lesson Plan</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labs folder for all 8 lab folders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the files together as you work</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tertiarycourses.com.sg/microsoft-365-copilot-for-excel.html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CLASSROOM ACCESS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Microsoft 365 Training Accounts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Training account 1</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600" b="0">
                <a:solidFill>
                  <a:srgbClr val="21201C"/>
                </a:solidFill>
                <a:latin typeface="Calibri"/>
              </a:rPr>
              <a:t>•  training1-tertiary@outlook.com</a:t>
            </a:r>
          </a:p>
          <a:p>
            <a:pPr>
              <a:spcAft>
                <a:spcPts val="900"/>
              </a:spcAft>
            </a:pPr>
            <a:r>
              <a:rPr sz="1600" b="0">
                <a:solidFill>
                  <a:srgbClr val="21201C"/>
                </a:solidFill>
                <a:latin typeface="Calibri"/>
              </a:rPr>
              <a:t>•  Password issued by trainer</a:t>
            </a:r>
          </a:p>
          <a:p>
            <a:pPr>
              <a:spcAft>
                <a:spcPts val="900"/>
              </a:spcAft>
            </a:pPr>
            <a:r>
              <a:rPr sz="1600" b="0">
                <a:solidFill>
                  <a:srgbClr val="21201C"/>
                </a:solidFill>
                <a:latin typeface="Calibri"/>
              </a:rPr>
              <a:t>•  Do not save in prompts or screenshots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Training account 2</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600" b="0">
                <a:solidFill>
                  <a:srgbClr val="21201C"/>
                </a:solidFill>
                <a:latin typeface="Calibri"/>
              </a:rPr>
              <a:t>•  training2-tertiary@outlook.com</a:t>
            </a:r>
          </a:p>
          <a:p>
            <a:pPr>
              <a:spcAft>
                <a:spcPts val="900"/>
              </a:spcAft>
            </a:pPr>
            <a:r>
              <a:rPr sz="1600" b="0">
                <a:solidFill>
                  <a:srgbClr val="21201C"/>
                </a:solidFill>
                <a:latin typeface="Calibri"/>
              </a:rPr>
              <a:t>•  Password issued by trainer</a:t>
            </a:r>
          </a:p>
          <a:p>
            <a:pPr>
              <a:spcAft>
                <a:spcPts val="900"/>
              </a:spcAft>
            </a:pPr>
            <a:r>
              <a:rPr sz="1600" b="0">
                <a:solidFill>
                  <a:srgbClr val="21201C"/>
                </a:solidFill>
                <a:latin typeface="Calibri"/>
              </a:rPr>
              <a:t>•  Sign out at the end of class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Safe handling</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600" b="0">
                <a:solidFill>
                  <a:srgbClr val="21201C"/>
                </a:solidFill>
                <a:latin typeface="Calibri"/>
              </a:rPr>
              <a:t>•  Use only the assigned account</a:t>
            </a:r>
          </a:p>
          <a:p>
            <a:pPr>
              <a:spcAft>
                <a:spcPts val="900"/>
              </a:spcAft>
            </a:pPr>
            <a:r>
              <a:rPr sz="1600" b="0">
                <a:solidFill>
                  <a:srgbClr val="21201C"/>
                </a:solidFill>
                <a:latin typeface="Calibri"/>
              </a:rPr>
              <a:t>•  Do not change recovery settings</a:t>
            </a:r>
          </a:p>
          <a:p>
            <a:pPr>
              <a:spcAft>
                <a:spcPts val="900"/>
              </a:spcAft>
            </a:pPr>
            <a:r>
              <a:rPr sz="1600" b="0">
                <a:solidFill>
                  <a:srgbClr val="21201C"/>
                </a:solidFill>
                <a:latin typeface="Calibri"/>
              </a:rPr>
              <a:t>•  Report access issues to the trainer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1 Day, 7.5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Topic 1: Excel Fundamentals with Copilot (Labs 1–3)</a:t>
            </a:r>
          </a:p>
          <a:p>
            <a:pPr>
              <a:spcAft>
                <a:spcPts val="1000"/>
              </a:spcAft>
            </a:pPr>
            <a:r>
              <a:rPr sz="1600" b="0">
                <a:solidFill>
                  <a:srgbClr val="21201C"/>
                </a:solidFill>
                <a:latin typeface="Calibri"/>
              </a:rPr>
              <a:t>•  Topic 2: Skills and Rules (Labs 4–6)</a:t>
            </a:r>
          </a:p>
          <a:p>
            <a:pPr>
              <a:spcAft>
                <a:spcPts val="1000"/>
              </a:spcAft>
            </a:pPr>
            <a:r>
              <a:rPr sz="1600" b="0">
                <a:solidFill>
                  <a:srgbClr val="21201C"/>
                </a:solidFill>
                <a:latin typeface="Calibri"/>
              </a:rPr>
              <a:t>•  Topic 3: Interactive Dashboards with Copilot, Skills and Rules (Labs 7–8)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9:30 am - 6:30 pm (1-hour lunch; two 15-minute tea breaks; 7.5 instructional hours)</a:t>
            </a:r>
          </a:p>
          <a:p>
            <a:pPr>
              <a:spcAft>
                <a:spcPts val="1000"/>
              </a:spcAft>
            </a:pPr>
            <a:r>
              <a:rPr sz="1600" b="0">
                <a:solidFill>
                  <a:srgbClr val="21201C"/>
                </a:solidFill>
                <a:latin typeface="Calibri"/>
              </a:rPr>
              <a:t>•  Instructional time</a:t>
            </a:r>
          </a:p>
          <a:p>
            <a:pPr>
              <a:spcAft>
                <a:spcPts val="1000"/>
              </a:spcAft>
            </a:pPr>
            <a:r>
              <a:rPr sz="1400" b="0">
                <a:solidFill>
                  <a:srgbClr val="6B6862"/>
                </a:solidFill>
                <a:latin typeface="Calibri"/>
              </a:rPr>
              <a:t>–  7.5 hours · 8 connected labs</a:t>
            </a:r>
          </a:p>
          <a:p>
            <a:pPr>
              <a:spcAft>
                <a:spcPts val="1000"/>
              </a:spcAft>
            </a:pPr>
            <a:r>
              <a:rPr sz="1600" b="0">
                <a:solidFill>
                  <a:srgbClr val="21201C"/>
                </a:solidFill>
                <a:latin typeface="Calibri"/>
              </a:rPr>
              <a:t>•  Learning arc</a:t>
            </a:r>
          </a:p>
          <a:p>
            <a:pPr>
              <a:spcAft>
                <a:spcPts val="1000"/>
              </a:spcAft>
            </a:pPr>
            <a:r>
              <a:rPr sz="1400" b="0">
                <a:solidFill>
                  <a:srgbClr val="6B6862"/>
                </a:solidFill>
                <a:latin typeface="Calibri"/>
              </a:rPr>
              <a:t>–  Concept → demonstrate → build → verify → discuss → recap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ROADMAP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Eight Labs in Three Topics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Excel Fundamentals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1: Data Prep &amp; Data Quality</a:t>
            </a:r>
          </a:p>
          <a:p>
            <a:pPr>
              <a:spcAft>
                <a:spcPts val="900"/>
              </a:spcAft>
            </a:pPr>
            <a:r>
              <a:rPr sz="1400" b="0">
                <a:solidFill>
                  <a:srgbClr val="21201C"/>
                </a:solidFill>
                <a:latin typeface="Calibri"/>
              </a:rPr>
              <a:t>•  Lab 2: Formulas &amp; XLOOKUP</a:t>
            </a:r>
          </a:p>
          <a:p>
            <a:pPr>
              <a:spcAft>
                <a:spcPts val="900"/>
              </a:spcAft>
            </a:pPr>
            <a:r>
              <a:rPr sz="1400" b="0">
                <a:solidFill>
                  <a:srgbClr val="21201C"/>
                </a:solidFill>
                <a:latin typeface="Calibri"/>
              </a:rPr>
              <a:t>•  Lab 3: PivotTables, PivotCharts &amp; Visuals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Skills &amp; Rules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4: Workbook Rules &amp; Personalisation</a:t>
            </a:r>
          </a:p>
          <a:p>
            <a:pPr>
              <a:spcAft>
                <a:spcPts val="900"/>
              </a:spcAft>
            </a:pPr>
            <a:r>
              <a:rPr sz="1400" b="0">
                <a:solidFill>
                  <a:srgbClr val="21201C"/>
                </a:solidFill>
                <a:latin typeface="Calibri"/>
              </a:rPr>
              <a:t>•  Lab 5: Built-in Skills: Visual Design</a:t>
            </a:r>
          </a:p>
          <a:p>
            <a:pPr>
              <a:spcAft>
                <a:spcPts val="900"/>
              </a:spcAft>
            </a:pPr>
            <a:r>
              <a:rPr sz="1400" b="0">
                <a:solidFill>
                  <a:srgbClr val="21201C"/>
                </a:solidFill>
                <a:latin typeface="Calibri"/>
              </a:rPr>
              <a:t>•  Lab 6: Custom Skills: Pareto Chart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Interactive Dashboard</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7: Interactive Dashboard</a:t>
            </a:r>
          </a:p>
          <a:p>
            <a:pPr>
              <a:spcAft>
                <a:spcPts val="900"/>
              </a:spcAft>
            </a:pPr>
            <a:r>
              <a:rPr sz="1400" b="0">
                <a:solidFill>
                  <a:srgbClr val="21201C"/>
                </a:solidFill>
                <a:latin typeface="Calibri"/>
              </a:rPr>
              <a:t>•  Lab 8: Dashboard Skill, Refresh &amp;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Excel Fundamentals</a:t>
            </a:r>
          </a:p>
          <a:p>
            <a:pPr algn="l">
              <a:spcAft>
                <a:spcPts val="300"/>
              </a:spcAft>
            </a:pPr>
            <a:r>
              <a:rPr sz="1300" b="0">
                <a:solidFill>
                  <a:srgbClr val="6B6862"/>
                </a:solidFill>
                <a:latin typeface="Calibri"/>
              </a:rPr>
              <a:t>Use Copilot in Excel's Chat only, Plan and Allow editing modes to prepare and clean data, write formulas and XLOOKUPs, and build PivotTables, PivotCharts and charts, verifying every result.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Skills &amp; Rules</a:t>
            </a:r>
          </a:p>
          <a:p>
            <a:pPr algn="l">
              <a:spcAft>
                <a:spcPts val="300"/>
              </a:spcAft>
            </a:pPr>
            <a:r>
              <a:rPr sz="1300" b="0">
                <a:solidFill>
                  <a:srgbClr val="6B6862"/>
                </a:solidFill>
                <a:latin typeface="Calibri"/>
              </a:rPr>
              <a:t>Make Copilot's work consistent and repeatable with personalisation, workbook rules (.Rules), built-in skills and custom skills that you create with Copilot.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Combine Copilot, rules and skills to build a highly visual, interactive and refreshable dashboard, and verify and share it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How You'll Learn</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concept</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it yourself in the hands-on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Verify with the lab's 'Test it' step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Discuss and troubleshoot together</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Recap against the learning outcomes</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CORE CONCEPTS</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Copilot in Excel for HR and Recruitment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OVERVIEW</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BrightPath Scenario</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BrightPath Talent Solutions</a:t>
            </a:r>
          </a:p>
          <a:p>
            <a:pPr algn="l">
              <a:spcAft>
                <a:spcPts val="300"/>
              </a:spcAft>
            </a:pPr>
            <a:r>
              <a:rPr sz="1300" b="0">
                <a:solidFill>
                  <a:srgbClr val="6B6862"/>
                </a:solidFill>
                <a:latin typeface="Calibri"/>
              </a:rPr>
              <a:t>A fictional Singapore recruitment, flexible-staffing and HR-outsourcing firm.</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Recruitment data</a:t>
            </a:r>
          </a:p>
          <a:p>
            <a:pPr algn="l">
              <a:spcAft>
                <a:spcPts val="300"/>
              </a:spcAft>
            </a:pPr>
            <a:r>
              <a:rPr sz="1300" b="0">
                <a:solidFill>
                  <a:srgbClr val="6B6862"/>
                </a:solidFill>
                <a:latin typeface="Calibri"/>
              </a:rPr>
              <a:t>Candidate pipeline, job requisitions, monthly funnel metrics, job postings and client orders.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Business and workforce data</a:t>
            </a:r>
          </a:p>
          <a:p>
            <a:pPr algn="l">
              <a:spcAft>
                <a:spcPts val="300"/>
              </a:spcAft>
            </a:pPr>
            <a:r>
              <a:rPr sz="1300" b="0">
                <a:solidFill>
                  <a:srgbClr val="6B6862"/>
                </a:solidFill>
                <a:latin typeface="Calibri"/>
              </a:rPr>
              <a:t>HR-outsourcing client growth data and internal workforce data.</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Your role</a:t>
            </a:r>
          </a:p>
          <a:p>
            <a:pPr algn="l">
              <a:spcAft>
                <a:spcPts val="300"/>
              </a:spcAft>
            </a:pPr>
            <a:r>
              <a:rPr sz="1300" b="0">
                <a:solidFill>
                  <a:srgbClr val="6B6862"/>
                </a:solidFill>
                <a:latin typeface="Calibri"/>
              </a:rPr>
              <a:t>HR / talent analyst who uses Copilot, rules and skills to turn these workbooks into verified dashboards.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Excel Fundamentals with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Chat only, Plan and Allow editing · setup, data sources and the model picker · data prep and automated cleanup · formulas and XLOOKUP · PivotTables, PivotCharts and charts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C34 OPERATING PRINCIPLE</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Copilot does the work. Rules and skills make it repeatable. Your checks make it trustworthy.</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Describe the task precisely, write the standards down once, and reconcile every number before it reaches a people decision.</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WHAT'S NEW · WHERE YOU PRACTISE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Ten Things Copilot in Excel Does Now</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Allow editing, Plan, Chat only</a:t>
            </a:r>
          </a:p>
          <a:p>
            <a:pPr algn="l">
              <a:spcAft>
                <a:spcPts val="300"/>
              </a:spcAft>
            </a:pPr>
            <a:r>
              <a:rPr sz="1200" b="0">
                <a:solidFill>
                  <a:srgbClr val="6B6862"/>
                </a:solidFill>
                <a:latin typeface="Calibri"/>
              </a:rPr>
              <a:t>Three ways to work with Copilot - Lab 1.</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Analyse the data</a:t>
            </a:r>
          </a:p>
          <a:p>
            <a:pPr algn="l">
              <a:spcAft>
                <a:spcPts val="300"/>
              </a:spcAft>
            </a:pPr>
            <a:r>
              <a:rPr sz="1200" b="0">
                <a:solidFill>
                  <a:srgbClr val="6B6862"/>
                </a:solidFill>
                <a:latin typeface="Calibri"/>
              </a:rPr>
              <a:t>Find patterns and answer questions - Labs 1, 7.</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Bring in other data</a:t>
            </a:r>
          </a:p>
          <a:p>
            <a:pPr algn="l">
              <a:spcAft>
                <a:spcPts val="300"/>
              </a:spcAft>
            </a:pPr>
            <a:r>
              <a:rPr sz="1200" b="0">
                <a:solidFill>
                  <a:srgbClr val="6B6862"/>
                </a:solidFill>
                <a:latin typeface="Calibri"/>
              </a:rPr>
              <a:t>Attach another workbook as context - Lab 2 challenge.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Model selector</a:t>
            </a:r>
          </a:p>
          <a:p>
            <a:pPr algn="l">
              <a:spcAft>
                <a:spcPts val="300"/>
              </a:spcAft>
            </a:pPr>
            <a:r>
              <a:rPr sz="1200" b="0">
                <a:solidFill>
                  <a:srgbClr val="6B6862"/>
                </a:solidFill>
                <a:latin typeface="Calibri"/>
              </a:rPr>
              <a:t>Compare models on a hard question - Lab 1.</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Automated cleanup</a:t>
            </a:r>
          </a:p>
          <a:p>
            <a:pPr algn="l">
              <a:spcAft>
                <a:spcPts val="300"/>
              </a:spcAft>
            </a:pPr>
            <a:r>
              <a:rPr sz="1200" b="0">
                <a:solidFill>
                  <a:srgbClr val="6B6862"/>
                </a:solidFill>
                <a:latin typeface="Calibri"/>
              </a:rPr>
              <a:t>Tidy messy data with Clean Data - Lab 4.</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Personalisation</a:t>
            </a:r>
          </a:p>
          <a:p>
            <a:pPr algn="l">
              <a:spcAft>
                <a:spcPts val="300"/>
              </a:spcAft>
            </a:pPr>
            <a:r>
              <a:rPr sz="1200" b="0">
                <a:solidFill>
                  <a:srgbClr val="6B6862"/>
                </a:solidFill>
                <a:latin typeface="Calibri"/>
              </a:rPr>
              <a:t>Preferences that follow you - Lab 4.</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WHAT'S NEW · WHERE YOU PRACTISE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Ten Things Copilot in Excel Does Now (cont.)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5B4B8A"/>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7</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Workbook rules</a:t>
            </a:r>
          </a:p>
          <a:p>
            <a:pPr algn="l">
              <a:spcAft>
                <a:spcPts val="300"/>
              </a:spcAft>
            </a:pPr>
            <a:r>
              <a:rPr sz="1200" b="0">
                <a:solidFill>
                  <a:srgbClr val="6B6862"/>
                </a:solidFill>
                <a:latin typeface="Calibri"/>
              </a:rPr>
              <a:t>Standards stored in the file (.Rules) - Labs 4, 7, 8.</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C2603F"/>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C2603F"/>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8</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Write formulas</a:t>
            </a:r>
          </a:p>
          <a:p>
            <a:pPr algn="l">
              <a:spcAft>
                <a:spcPts val="300"/>
              </a:spcAft>
            </a:pPr>
            <a:r>
              <a:rPr sz="1200" b="0">
                <a:solidFill>
                  <a:srgbClr val="6B6862"/>
                </a:solidFill>
                <a:latin typeface="Calibri"/>
              </a:rPr>
              <a:t>Describe the calculation you need - Lab 2.</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D97757"/>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9</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Create new spreadsheets</a:t>
            </a:r>
          </a:p>
          <a:p>
            <a:pPr algn="l">
              <a:spcAft>
                <a:spcPts val="300"/>
              </a:spcAft>
            </a:pPr>
            <a:r>
              <a:rPr sz="1200" b="0">
                <a:solidFill>
                  <a:srgbClr val="6B6862"/>
                </a:solidFill>
                <a:latin typeface="Calibri"/>
              </a:rPr>
              <a:t>Start from research or a blank workbook - Lab 3 challenge.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3A7D7B"/>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3A7D7B"/>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10</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Skills</a:t>
            </a:r>
          </a:p>
          <a:p>
            <a:pPr algn="l">
              <a:spcAft>
                <a:spcPts val="300"/>
              </a:spcAft>
            </a:pPr>
            <a:r>
              <a:rPr sz="1200" b="0">
                <a:solidFill>
                  <a:srgbClr val="6B6862"/>
                </a:solidFill>
                <a:latin typeface="Calibri"/>
              </a:rPr>
              <a:t>Make the work repeatable - Labs 5, 6, 8.</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1-3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Excel Fundamentals with Copilot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Pick the right mode</a:t>
            </a:r>
          </a:p>
          <a:p>
            <a:pPr algn="l">
              <a:spcAft>
                <a:spcPts val="300"/>
              </a:spcAft>
            </a:pPr>
            <a:r>
              <a:rPr sz="1400" b="0">
                <a:solidFill>
                  <a:srgbClr val="6B6862"/>
                </a:solidFill>
                <a:latin typeface="Calibri"/>
              </a:rPr>
              <a:t>Chat only answers without touching the sheet. Plan shows its steps first. Allow editing makes the change.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Keep or undo every change</a:t>
            </a:r>
          </a:p>
          <a:p>
            <a:pPr algn="l">
              <a:spcAft>
                <a:spcPts val="300"/>
              </a:spcAft>
            </a:pPr>
            <a:r>
              <a:rPr sz="1400" b="0">
                <a:solidFill>
                  <a:srgbClr val="6B6862"/>
                </a:solidFill>
                <a:latin typeface="Calibri"/>
              </a:rPr>
              <a:t>After Copilot edits, select Done to keep it or Undo to reverse it. Version history is your safety net.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Turn your data into a table</a:t>
            </a:r>
          </a:p>
          <a:p>
            <a:pPr algn="l">
              <a:spcAft>
                <a:spcPts val="300"/>
              </a:spcAft>
            </a:pPr>
            <a:r>
              <a:rPr sz="1400" b="0">
                <a:solidFill>
                  <a:srgbClr val="6B6862"/>
                </a:solidFill>
                <a:latin typeface="Calibri"/>
              </a:rPr>
              <a:t>Ask Copilot to format the range as a named table, e.g. tblApplications. Copilot gives better answers on tables.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Name the columns in your prompt</a:t>
            </a:r>
          </a:p>
          <a:p>
            <a:pPr algn="l">
              <a:spcAft>
                <a:spcPts val="300"/>
              </a:spcAft>
            </a:pPr>
            <a:r>
              <a:rPr sz="1400" b="0">
                <a:solidFill>
                  <a:srgbClr val="6B6862"/>
                </a:solidFill>
                <a:latin typeface="Calibri"/>
              </a:rPr>
              <a:t>'Count hires by Source in tblApplications for 2026' beats 'analyse my data'.</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Describe the formula in plain English</a:t>
            </a:r>
          </a:p>
          <a:p>
            <a:pPr algn="l">
              <a:spcAft>
                <a:spcPts val="300"/>
              </a:spcAft>
            </a:pPr>
            <a:r>
              <a:rPr sz="1400" b="0">
                <a:solidFill>
                  <a:srgbClr val="6B6862"/>
                </a:solidFill>
                <a:latin typeface="Calibri"/>
              </a:rPr>
              <a:t>'Look up Recruiter_Name from tblRecruiters' - Copilot writes the XLOOKUP and explains it.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Check every number</a:t>
            </a:r>
          </a:p>
          <a:p>
            <a:pPr algn="l">
              <a:spcAft>
                <a:spcPts val="300"/>
              </a:spcAft>
            </a:pPr>
            <a:r>
              <a:rPr sz="1400" b="0">
                <a:solidFill>
                  <a:srgbClr val="6B6862"/>
                </a:solidFill>
                <a:latin typeface="Calibri"/>
              </a:rPr>
              <a:t>Compare Copilot's answer with your own COUNTIFS, SUMIFS or PivotTable total.</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Excel Fundamentals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Data Prep &amp; Data Quality</a:t>
            </a:r>
          </a:p>
          <a:p>
            <a:pPr>
              <a:spcAft>
                <a:spcPts val="900"/>
              </a:spcAft>
            </a:pPr>
            <a:r>
              <a:rPr sz="1200" b="0">
                <a:solidFill>
                  <a:srgbClr val="6B6862"/>
                </a:solidFill>
                <a:latin typeface="Calibri"/>
              </a:rPr>
              <a:t>–  Explore and Question Recruitment Pipeline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Formulas &amp; XLOOKUP</a:t>
            </a:r>
          </a:p>
          <a:p>
            <a:pPr>
              <a:spcAft>
                <a:spcPts val="900"/>
              </a:spcAft>
            </a:pPr>
            <a:r>
              <a:rPr sz="1200" b="0">
                <a:solidFill>
                  <a:srgbClr val="6B6862"/>
                </a:solidFill>
                <a:latin typeface="Calibri"/>
              </a:rPr>
              <a:t>–  Generate and Verify Formula Columns and XLOOKUPs for Job Requisitions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Lab 3</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PivotTables, PivotCharts &amp; Visuals</a:t>
            </a:r>
          </a:p>
          <a:p>
            <a:pPr>
              <a:spcAft>
                <a:spcPts val="900"/>
              </a:spcAft>
            </a:pPr>
            <a:r>
              <a:rPr sz="1200" b="0">
                <a:solidFill>
                  <a:srgbClr val="6B6862"/>
                </a:solidFill>
                <a:latin typeface="Calibri"/>
              </a:rPr>
              <a:t>–  Build PivotTables, PivotCharts and Recruitment Charts with Copilot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Data Prep?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Turning a raw export into a clean table: one header row, one record per row, one kind of value per column.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Formulas, PivotTables, charts and Copilot only stay correct on a tidy table.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Can you say in one sentence what one row means?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Data Prep?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DO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Click in the data and press Ctrl+T (Format as Table).</a:t>
            </a:r>
          </a:p>
          <a:p>
            <a:pPr>
              <a:spcAft>
                <a:spcPts val="1000"/>
              </a:spcAft>
            </a:pPr>
            <a:r>
              <a:rPr sz="1600" b="0">
                <a:solidFill>
                  <a:srgbClr val="21201C"/>
                </a:solidFill>
                <a:latin typeface="Calibri"/>
              </a:rPr>
              <a:t>•  Table Design &gt; Table Name: tblApplications.</a:t>
            </a:r>
          </a:p>
          <a:p>
            <a:pPr>
              <a:spcAft>
                <a:spcPts val="1000"/>
              </a:spcAft>
            </a:pPr>
            <a:r>
              <a:rPr sz="1600" b="0">
                <a:solidFill>
                  <a:srgbClr val="21201C"/>
                </a:solidFill>
                <a:latin typeface="Calibri"/>
              </a:rPr>
              <a:t>•  One header row, no blank rows, no merged cells.</a:t>
            </a:r>
          </a:p>
          <a:p>
            <a:pPr>
              <a:spcAft>
                <a:spcPts val="1000"/>
              </a:spcAft>
            </a:pPr>
            <a:r>
              <a:rPr sz="1600" b="0">
                <a:solidFill>
                  <a:srgbClr val="21201C"/>
                </a:solidFill>
                <a:latin typeface="Calibri"/>
              </a:rPr>
              <a:t>•  Grain: one row = one application.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New rows join the table automatically.</a:t>
            </a:r>
          </a:p>
          <a:p>
            <a:pPr>
              <a:spcAft>
                <a:spcPts val="1000"/>
              </a:spcAft>
            </a:pPr>
            <a:r>
              <a:rPr sz="1600" b="0">
                <a:solidFill>
                  <a:srgbClr val="21201C"/>
                </a:solidFill>
                <a:latin typeface="Calibri"/>
              </a:rPr>
              <a:t>•  Every column holds one kind of value.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Why Data Quality Matters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Good data is complete, consistent, unique and valid. Common problems: duplicates, spelling variants, text numbers.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count and chart inherits the errors: 'Linked In' and 'LinkedIn' become two sources.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Profile before you analyse: rows vs unique IDs, distinct values, data types.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Why Data Quality Matters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Are any Application_IDs repeated in tblApplications?</a:t>
            </a:r>
          </a:p>
          <a:p>
            <a:pPr>
              <a:spcAft>
                <a:spcPts val="1000"/>
              </a:spcAft>
            </a:pPr>
            <a:r>
              <a:rPr sz="1600" b="0">
                <a:solidFill>
                  <a:srgbClr val="21201C"/>
                </a:solidFill>
                <a:latin typeface="Calibri"/>
              </a:rPr>
              <a:t>•  List every Source value with a count of each.</a:t>
            </a:r>
          </a:p>
          <a:p>
            <a:pPr>
              <a:spcAft>
                <a:spcPts val="1000"/>
              </a:spcAft>
            </a:pPr>
            <a:r>
              <a:rPr sz="1600" b="0">
                <a:solidFill>
                  <a:srgbClr val="21201C"/>
                </a:solidFill>
                <a:latin typeface="Calibri"/>
              </a:rPr>
              <a:t>•  Or open the Source filter drop-down to see the variants.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242 rows vs 240 unique IDs = 2 duplicates.</a:t>
            </a:r>
          </a:p>
          <a:p>
            <a:pPr>
              <a:spcAft>
                <a:spcPts val="1000"/>
              </a:spcAft>
            </a:pPr>
            <a:r>
              <a:rPr sz="1600" b="0">
                <a:solidFill>
                  <a:srgbClr val="21201C"/>
                </a:solidFill>
                <a:latin typeface="Calibri"/>
              </a:rPr>
              <a:t>•  Fix in a helper column; keep the original.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Chat Only, Plan and Allow Editing</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Three modes: Chat only answers, Plan shows its steps first, Allow editing makes the change.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edit your workbook. Picking the mode first keeps you in control.</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After every edit, look at the highlighted changes, then select Done or Undo.</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Chat Only, Plan and Allow Editing</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Chat only: What does one row in tblApplications represent?</a:t>
            </a:r>
          </a:p>
          <a:p>
            <a:pPr>
              <a:spcAft>
                <a:spcPts val="1000"/>
              </a:spcAft>
            </a:pPr>
            <a:r>
              <a:rPr sz="1600" b="0">
                <a:solidFill>
                  <a:srgbClr val="21201C"/>
                </a:solidFill>
                <a:latin typeface="Calibri"/>
              </a:rPr>
              <a:t>•  Plan: Flag duplicate Application_IDs and standardise Source. Show me the steps first.</a:t>
            </a:r>
          </a:p>
          <a:p>
            <a:pPr>
              <a:spcAft>
                <a:spcPts val="1000"/>
              </a:spcAft>
            </a:pPr>
            <a:r>
              <a:rPr sz="1600" b="0">
                <a:solidFill>
                  <a:srgbClr val="21201C"/>
                </a:solidFill>
                <a:latin typeface="Calibri"/>
              </a:rPr>
              <a:t>•  Allow editing: Format this range as a table named tblApplications.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Chat only left the sheet unchanged.</a:t>
            </a:r>
          </a:p>
          <a:p>
            <a:pPr>
              <a:spcAft>
                <a:spcPts val="1000"/>
              </a:spcAft>
            </a:pPr>
            <a:r>
              <a:rPr sz="1600" b="0">
                <a:solidFill>
                  <a:srgbClr val="21201C"/>
                </a:solidFill>
                <a:latin typeface="Calibri"/>
              </a:rPr>
              <a:t>•  Plan waited for your approval.</a:t>
            </a:r>
          </a:p>
          <a:p>
            <a:pPr>
              <a:spcAft>
                <a:spcPts val="1000"/>
              </a:spcAft>
            </a:pPr>
            <a:r>
              <a:rPr sz="1600" b="0">
                <a:solidFill>
                  <a:srgbClr val="21201C"/>
                </a:solidFill>
                <a:latin typeface="Calibri"/>
              </a:rPr>
              <a:t>•  Done keeps a change; Undo removes it.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Copilot Pane — What Each Control Does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Copilot button or floating icon</a:t>
            </a:r>
          </a:p>
          <a:p>
            <a:pPr algn="l">
              <a:spcAft>
                <a:spcPts val="300"/>
              </a:spcAft>
            </a:pPr>
            <a:r>
              <a:rPr sz="1300" b="0">
                <a:solidFill>
                  <a:srgbClr val="6B6862"/>
                </a:solidFill>
                <a:latin typeface="Calibri"/>
              </a:rPr>
              <a:t>Home &gt; Copilot, or the floating icon at the bottom right. Right-click the icon to dock it or move it to the ribbon.</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Model picker (top)</a:t>
            </a:r>
          </a:p>
          <a:p>
            <a:pPr algn="l">
              <a:spcAft>
                <a:spcPts val="300"/>
              </a:spcAft>
            </a:pPr>
            <a:r>
              <a:rPr sz="1300" b="0">
                <a:solidFill>
                  <a:srgbClr val="6B6862"/>
                </a:solidFill>
                <a:latin typeface="Calibri"/>
              </a:rPr>
              <a:t>Auto picks the model for each task. Or choose a Claude (Anthropic) or GPT (OpenAI) model for this session.</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Mode (above the prompt box)</a:t>
            </a:r>
          </a:p>
          <a:p>
            <a:pPr algn="l">
              <a:spcAft>
                <a:spcPts val="300"/>
              </a:spcAft>
            </a:pPr>
            <a:r>
              <a:rPr sz="1300" b="0">
                <a:solidFill>
                  <a:srgbClr val="6B6862"/>
                </a:solidFill>
                <a:latin typeface="Calibri"/>
              </a:rPr>
              <a:t>Chat only answers. Plan shows its steps and waits. Allow editing (the default) makes the change.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 Add work content</a:t>
            </a:r>
          </a:p>
          <a:p>
            <a:pPr algn="l">
              <a:spcAft>
                <a:spcPts val="300"/>
              </a:spcAft>
            </a:pPr>
            <a:r>
              <a:rPr sz="1300" b="0">
                <a:solidFill>
                  <a:srgbClr val="6B6862"/>
                </a:solidFill>
                <a:latin typeface="Calibri"/>
              </a:rPr>
              <a:t>Attach a file, choose plugins &amp; skills, create workbook rules, or switch web and work sources.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Settings (...)</a:t>
            </a:r>
          </a:p>
          <a:p>
            <a:pPr algn="l">
              <a:spcAft>
                <a:spcPts val="300"/>
              </a:spcAft>
            </a:pPr>
            <a:r>
              <a:rPr sz="1300" b="0">
                <a:solidFill>
                  <a:srgbClr val="6B6862"/>
                </a:solidFill>
                <a:latin typeface="Calibri"/>
              </a:rPr>
              <a:t>Personalization for your preferences; Manage plugins &amp; skills to turn skills on or off.</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New chat and history</a:t>
            </a:r>
          </a:p>
          <a:p>
            <a:pPr algn="l">
              <a:spcAft>
                <a:spcPts val="300"/>
              </a:spcAft>
            </a:pPr>
            <a:r>
              <a:rPr sz="1300" b="0">
                <a:solidFill>
                  <a:srgbClr val="6B6862"/>
                </a:solidFill>
                <a:latin typeface="Calibri"/>
              </a:rPr>
              <a:t>Start a new chat when you switch task or change a setting; reopen earlier chats from history.</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a Model</a:t>
            </a:r>
          </a:p>
        </p:txBody>
      </p:sp>
      <p:sp>
        <p:nvSpPr>
          <p:cNvPr id="5" name="Rectangle 4"/>
          <p:cNvSpPr/>
          <p:nvPr/>
        </p:nvSpPr>
        <p:spPr>
          <a:xfrm>
            <a:off x="731520" y="1764792"/>
            <a:ext cx="2539789" cy="4434840"/>
          </a:xfrm>
          <a:prstGeom prst="rect">
            <a:avLst/>
          </a:prstGeom>
          <a:solidFill>
            <a:srgbClr val="DCD8CF"/>
          </a:solidFill>
          <a:ln>
            <a:noFill/>
          </a:ln>
          <a:effectLst/>
        </p:spPr>
        <p:txBody>
          <a:bodyPr rtlCol="0" anchor="ctr"/>
          <a:lstStyle/>
          <a:p>
            <a:pPr algn="ctr"/>
          </a:p>
        </p:txBody>
      </p:sp>
      <p:pic>
        <p:nvPicPr>
          <p:cNvPr id="6" name="Picture 5" descr="model-picker.png"/>
          <p:cNvPicPr>
            <a:picLocks noChangeAspect="1"/>
          </p:cNvPicPr>
          <p:nvPr/>
        </p:nvPicPr>
        <p:blipFill>
          <a:blip r:embed="rId2"/>
          <a:stretch>
            <a:fillRect/>
          </a:stretch>
        </p:blipFill>
        <p:spPr>
          <a:xfrm>
            <a:off x="777240" y="1810512"/>
            <a:ext cx="2448350" cy="4343400"/>
          </a:xfrm>
          <a:prstGeom prst="rect">
            <a:avLst/>
          </a:prstGeom>
        </p:spPr>
      </p:pic>
      <p:sp>
        <p:nvSpPr>
          <p:cNvPr id="7" name="Rounded Rectangle 6"/>
          <p:cNvSpPr/>
          <p:nvPr/>
        </p:nvSpPr>
        <p:spPr>
          <a:xfrm>
            <a:off x="3591349" y="1810512"/>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3591349" y="1810512"/>
            <a:ext cx="7820363" cy="64008"/>
          </a:xfrm>
          <a:prstGeom prst="rect">
            <a:avLst/>
          </a:prstGeom>
          <a:solidFill>
            <a:srgbClr val="D97757"/>
          </a:solidFill>
          <a:ln>
            <a:noFill/>
          </a:ln>
          <a:effectLst/>
        </p:spPr>
        <p:txBody>
          <a:bodyPr rtlCol="0" anchor="ctr"/>
          <a:lstStyle/>
          <a:p>
            <a:pPr algn="ctr"/>
          </a:p>
        </p:txBody>
      </p:sp>
      <p:sp>
        <p:nvSpPr>
          <p:cNvPr id="9" name="Oval 8"/>
          <p:cNvSpPr/>
          <p:nvPr/>
        </p:nvSpPr>
        <p:spPr>
          <a:xfrm>
            <a:off x="3774229"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3774229"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4322869" y="1810512"/>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Auto (recommended)</a:t>
            </a:r>
          </a:p>
          <a:p>
            <a:pPr algn="l">
              <a:spcAft>
                <a:spcPts val="200"/>
              </a:spcAft>
            </a:pPr>
            <a:r>
              <a:rPr sz="1200" b="0">
                <a:solidFill>
                  <a:srgbClr val="6B6862"/>
                </a:solidFill>
                <a:latin typeface="Calibri"/>
              </a:rPr>
              <a:t>Copilot chooses the model for each task. Start here.</a:t>
            </a:r>
          </a:p>
        </p:txBody>
      </p:sp>
      <p:sp>
        <p:nvSpPr>
          <p:cNvPr id="12" name="Rounded Rectangle 11"/>
          <p:cNvSpPr/>
          <p:nvPr/>
        </p:nvSpPr>
        <p:spPr>
          <a:xfrm>
            <a:off x="3591349" y="2923794"/>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3591349" y="2923794"/>
            <a:ext cx="7820363" cy="64008"/>
          </a:xfrm>
          <a:prstGeom prst="rect">
            <a:avLst/>
          </a:prstGeom>
          <a:solidFill>
            <a:srgbClr val="3A7D7B"/>
          </a:solidFill>
          <a:ln>
            <a:noFill/>
          </a:ln>
          <a:effectLst/>
        </p:spPr>
        <p:txBody>
          <a:bodyPr rtlCol="0" anchor="ctr"/>
          <a:lstStyle/>
          <a:p>
            <a:pPr algn="ctr"/>
          </a:p>
        </p:txBody>
      </p:sp>
      <p:sp>
        <p:nvSpPr>
          <p:cNvPr id="14" name="Oval 13"/>
          <p:cNvSpPr/>
          <p:nvPr/>
        </p:nvSpPr>
        <p:spPr>
          <a:xfrm>
            <a:off x="3774229"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3774229"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4322869" y="2923794"/>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Claude - Anthropic</a:t>
            </a:r>
          </a:p>
          <a:p>
            <a:pPr algn="l">
              <a:spcAft>
                <a:spcPts val="200"/>
              </a:spcAft>
            </a:pPr>
            <a:r>
              <a:rPr sz="1200" b="0">
                <a:solidFill>
                  <a:srgbClr val="6B6862"/>
                </a:solidFill>
                <a:latin typeface="Calibri"/>
              </a:rPr>
              <a:t>e.g. Claude Opus and Sonnet models. Deep reasoning models suit complex analysis.</a:t>
            </a:r>
          </a:p>
        </p:txBody>
      </p:sp>
      <p:sp>
        <p:nvSpPr>
          <p:cNvPr id="17" name="Rounded Rectangle 16"/>
          <p:cNvSpPr/>
          <p:nvPr/>
        </p:nvSpPr>
        <p:spPr>
          <a:xfrm>
            <a:off x="3591349" y="4037076"/>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3591349" y="4037076"/>
            <a:ext cx="7820363" cy="64008"/>
          </a:xfrm>
          <a:prstGeom prst="rect">
            <a:avLst/>
          </a:prstGeom>
          <a:solidFill>
            <a:srgbClr val="5B4B8A"/>
          </a:solidFill>
          <a:ln>
            <a:noFill/>
          </a:ln>
          <a:effectLst/>
        </p:spPr>
        <p:txBody>
          <a:bodyPr rtlCol="0" anchor="ctr"/>
          <a:lstStyle/>
          <a:p>
            <a:pPr algn="ctr"/>
          </a:p>
        </p:txBody>
      </p:sp>
      <p:sp>
        <p:nvSpPr>
          <p:cNvPr id="19" name="Oval 18"/>
          <p:cNvSpPr/>
          <p:nvPr/>
        </p:nvSpPr>
        <p:spPr>
          <a:xfrm>
            <a:off x="3774229"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3774229"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4322869" y="4037076"/>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GPT - OpenAI</a:t>
            </a:r>
          </a:p>
          <a:p>
            <a:pPr algn="l">
              <a:spcAft>
                <a:spcPts val="200"/>
              </a:spcAft>
            </a:pPr>
            <a:r>
              <a:rPr sz="1200" b="0">
                <a:solidFill>
                  <a:srgbClr val="6B6862"/>
                </a:solidFill>
                <a:latin typeface="Calibri"/>
              </a:rPr>
              <a:t>OpenAI's GPT models.</a:t>
            </a:r>
          </a:p>
        </p:txBody>
      </p:sp>
      <p:sp>
        <p:nvSpPr>
          <p:cNvPr id="22" name="Rounded Rectangle 21"/>
          <p:cNvSpPr/>
          <p:nvPr/>
        </p:nvSpPr>
        <p:spPr>
          <a:xfrm>
            <a:off x="3591349" y="5150358"/>
            <a:ext cx="7820363"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3591349" y="5150358"/>
            <a:ext cx="7820363" cy="64008"/>
          </a:xfrm>
          <a:prstGeom prst="rect">
            <a:avLst/>
          </a:prstGeom>
          <a:solidFill>
            <a:srgbClr val="C2603F"/>
          </a:solidFill>
          <a:ln>
            <a:noFill/>
          </a:ln>
          <a:effectLst/>
        </p:spPr>
        <p:txBody>
          <a:bodyPr rtlCol="0" anchor="ctr"/>
          <a:lstStyle/>
          <a:p>
            <a:pPr algn="ctr"/>
          </a:p>
        </p:txBody>
      </p:sp>
      <p:sp>
        <p:nvSpPr>
          <p:cNvPr id="24" name="Oval 23"/>
          <p:cNvSpPr/>
          <p:nvPr/>
        </p:nvSpPr>
        <p:spPr>
          <a:xfrm>
            <a:off x="3774229"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3774229"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4322869" y="5150358"/>
            <a:ext cx="6905963" cy="1003554"/>
          </a:xfrm>
          <a:prstGeom prst="rect">
            <a:avLst/>
          </a:prstGeom>
          <a:noFill/>
        </p:spPr>
        <p:txBody>
          <a:bodyPr wrap="square" anchor="ctr">
            <a:spAutoFit/>
          </a:bodyPr>
          <a:lstStyle/>
          <a:p>
            <a:pPr algn="l">
              <a:spcAft>
                <a:spcPts val="200"/>
              </a:spcAft>
            </a:pPr>
            <a:r>
              <a:rPr sz="1400" b="1">
                <a:solidFill>
                  <a:srgbClr val="21201C"/>
                </a:solidFill>
                <a:latin typeface="Calibri"/>
              </a:rPr>
              <a:t>Which one?</a:t>
            </a:r>
          </a:p>
          <a:p>
            <a:pPr algn="l">
              <a:spcAft>
                <a:spcPts val="200"/>
              </a:spcAft>
            </a:pPr>
            <a:r>
              <a:rPr sz="1200" b="0">
                <a:solidFill>
                  <a:srgbClr val="6B6862"/>
                </a:solidFill>
                <a:latin typeface="Calibri"/>
              </a:rPr>
              <a:t>Try another model if an answer is weak. Premium models have fair-use limits. Always check the result.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Setup, Data Sources and the Model Picker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needs an eligible licence and a current Excel. The + menu adds files and sources; the top menu picks the model.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Most 'Copilot is missing' problems are setup. Naming the right file beats letting Copilot guess.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the model on Auto. When you compare models, check both against the same Checks sheet.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Setup, Data Sources and the Model Picker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SET IT UP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Save as .xlsx locally; Calculation Options = Automatic.</a:t>
            </a:r>
          </a:p>
          <a:p>
            <a:pPr>
              <a:spcAft>
                <a:spcPts val="1000"/>
              </a:spcAft>
            </a:pPr>
            <a:r>
              <a:rPr sz="1600" b="0">
                <a:solidFill>
                  <a:srgbClr val="21201C"/>
                </a:solidFill>
                <a:latin typeface="Calibri"/>
              </a:rPr>
              <a:t>•  + &gt; attach a file, or type / and the file name.</a:t>
            </a:r>
          </a:p>
          <a:p>
            <a:pPr>
              <a:spcAft>
                <a:spcPts val="1000"/>
              </a:spcAft>
            </a:pPr>
            <a:r>
              <a:rPr sz="1600" b="0">
                <a:solidFill>
                  <a:srgbClr val="21201C"/>
                </a:solidFill>
                <a:latin typeface="Calibri"/>
              </a:rPr>
              <a:t>•  Model picker (top): Auto, or a Claude or GPT model.</a:t>
            </a:r>
          </a:p>
          <a:p>
            <a:pPr>
              <a:spcAft>
                <a:spcPts val="1000"/>
              </a:spcAft>
            </a:pPr>
            <a:r>
              <a:rPr sz="1600" b="0">
                <a:solidFill>
                  <a:srgbClr val="21201C"/>
                </a:solidFill>
                <a:latin typeface="Calibri"/>
              </a:rPr>
              <a:t>•  New chat, then ask the same question to compare.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Copilot button is active, not grey.</a:t>
            </a:r>
          </a:p>
          <a:p>
            <a:pPr>
              <a:spcAft>
                <a:spcPts val="1000"/>
              </a:spcAft>
            </a:pPr>
            <a:r>
              <a:rPr sz="1600" b="0">
                <a:solidFill>
                  <a:srgbClr val="21201C"/>
                </a:solidFill>
                <a:latin typeface="Calibri"/>
              </a:rPr>
              <a:t>•  Both models agree with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Cleaning Data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Ask Copilot to make the table, list the problems and fix them in a helper column. Data &gt; Clean Data fixes spaces and capitals.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finds problems in seconds - but cleanup fixes typing, not meaning.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 rows and unique IDs before and after. Flag problems before you fix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Cleaning Data with Copilot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Format this range as a table with headers and name it tblApplications.</a:t>
            </a:r>
          </a:p>
          <a:p>
            <a:pPr>
              <a:spcAft>
                <a:spcPts val="1000"/>
              </a:spcAft>
            </a:pPr>
            <a:r>
              <a:rPr sz="1600" b="0">
                <a:solidFill>
                  <a:srgbClr val="21201C"/>
                </a:solidFill>
                <a:latin typeface="Calibri"/>
              </a:rPr>
              <a:t>•  How many rows and how many unique Application_IDs are there?</a:t>
            </a:r>
          </a:p>
          <a:p>
            <a:pPr>
              <a:spcAft>
                <a:spcPts val="1000"/>
              </a:spcAft>
            </a:pPr>
            <a:r>
              <a:rPr sz="1600" b="0">
                <a:solidFill>
                  <a:srgbClr val="21201C"/>
                </a:solidFill>
                <a:latin typeface="Calibri"/>
              </a:rPr>
              <a:t>•  List the distinct values in Source and flag any spelling variants.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242 rows but 240 unique IDs = 2 duplicates found.</a:t>
            </a:r>
          </a:p>
          <a:p>
            <a:pPr>
              <a:spcAft>
                <a:spcPts val="1000"/>
              </a:spcAft>
            </a:pPr>
            <a:r>
              <a:rPr sz="1600" b="0">
                <a:solidFill>
                  <a:srgbClr val="21201C"/>
                </a:solidFill>
                <a:latin typeface="Calibri"/>
              </a:rPr>
              <a:t>•  No row deleted after the clean-up.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DATA PREP &amp; DATA QUALITY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Explore and Question Recruitment Pipeline Data</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You are a talent analyst at BrightPath Talent Solutions, a fictional Singapore recruitment and staffing firm. You will meet Copilot's three modes on a real task, asking in plain English: Allow editing turns the H1 2026 pipeline export into a named table, Chat only describes it without touching the sheet, and Plan shows you its steps before it fixes duplicate IDs and inconsistent Source names. You will then ask which source brings in the most hires, have Copilot add a Checks sheet to confirm the answer, compare two AI models, and highlight, sort and filter the pipeline.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BrightPath_Candidate_Pipeline.xlsx in your work-c34 folder with table tblApplications, a Source_Clean column, duplicate IDs and Hired rows highlighted, a Checks sheet that confirms the hire counts and a filled Prompt_Log</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Create the table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Describe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Find &amp; fix issues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Ask &amp; check</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Highlight, sort, filter</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for Microsoft 365 (desktop) · Copilot (Chat only, Plan, Allow editing, model picker) · BrightPath_Candidate_Pipeline.xlsx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Summary:  </a:t>
            </a:r>
            <a:r>
              <a:rPr sz="1200" b="0">
                <a:solidFill>
                  <a:srgbClr val="21201C"/>
                </a:solidFill>
                <a:latin typeface="Calibri"/>
              </a:rPr>
              <a:t>Give me a quick summary of this pipeline data in five bullet points.</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reads the whole table and sums it up in five short points - a quick first look before you dig in.</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Question:  </a:t>
            </a:r>
            <a:r>
              <a:rPr sz="1200" b="0">
                <a:solidFill>
                  <a:srgbClr val="21201C"/>
                </a:solidFill>
                <a:latin typeface="Calibri"/>
              </a:rPr>
              <a:t>Which sector received the most applications?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Counts the applications for each sector and names the top one (Technology).</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Question:  </a:t>
            </a:r>
            <a:r>
              <a:rPr sz="1200" b="0">
                <a:solidFill>
                  <a:srgbClr val="21201C"/>
                </a:solidFill>
                <a:latin typeface="Calibri"/>
              </a:rPr>
              <a:t>Which recruiter has the most candidates at the Offer stage?</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Counts the candidates at the Offer stage for each recruiter, so you see whose candidates are closest to a hire.</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Highlight:  </a:t>
            </a:r>
            <a:r>
              <a:rPr sz="1200" b="0">
                <a:solidFill>
                  <a:srgbClr val="21201C"/>
                </a:solidFill>
                <a:latin typeface="Calibri"/>
              </a:rPr>
              <a:t>Highlight the candidates with an interview score of 5 in light blue.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Colours the rows with the top interview score so the strongest candidates stand out.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Insight:  </a:t>
            </a:r>
            <a:r>
              <a:rPr sz="1200" b="0">
                <a:solidFill>
                  <a:srgbClr val="21201C"/>
                </a:solidFill>
                <a:latin typeface="Calibri"/>
              </a:rPr>
              <a:t>What's interesting about this data? Give me three observations with the numbers behind them.</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looks for patterns - e.g. which sources or sectors convert best - and backs each one with numbers you can check.</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Rows in tblApplications</a:t>
            </a:r>
          </a:p>
          <a:p>
            <a:pPr algn="l">
              <a:spcAft>
                <a:spcPts val="300"/>
              </a:spcAft>
            </a:pPr>
            <a:r>
              <a:rPr sz="1300" b="0">
                <a:solidFill>
                  <a:srgbClr val="6B6862"/>
                </a:solidFill>
                <a:latin typeface="Calibri"/>
              </a:rPr>
              <a:t>242 rows, 240 unique Application_IDs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Duplicate IDs (orange)</a:t>
            </a:r>
          </a:p>
          <a:p>
            <a:pPr algn="l">
              <a:spcAft>
                <a:spcPts val="300"/>
              </a:spcAft>
            </a:pPr>
            <a:r>
              <a:rPr sz="1300" b="0">
                <a:solidFill>
                  <a:srgbClr val="6B6862"/>
                </a:solidFill>
                <a:latin typeface="Calibri"/>
              </a:rPr>
              <a:t>APP-0018 and APP-0020 - 4 orange cells: 2 near the top, 2 in the last rows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Source_Clean</a:t>
            </a:r>
          </a:p>
          <a:p>
            <a:pPr algn="l">
              <a:spcAft>
                <a:spcPts val="300"/>
              </a:spcAft>
            </a:pPr>
            <a:r>
              <a:rPr sz="1300" b="0">
                <a:solidFill>
                  <a:srgbClr val="6B6862"/>
                </a:solidFill>
                <a:latin typeface="Calibri"/>
              </a:rPr>
              <a:t>7 sources - 3 'Linked In' and 2 'JobStreet' (extra space) fixed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(Checks sheet)</a:t>
            </a:r>
          </a:p>
          <a:p>
            <a:pPr algn="l">
              <a:spcAft>
                <a:spcPts val="300"/>
              </a:spcAft>
            </a:pPr>
            <a:r>
              <a:rPr sz="1300" b="0">
                <a:solidFill>
                  <a:srgbClr val="6B6862"/>
                </a:solidFill>
                <a:latin typeface="Calibri"/>
              </a:rPr>
              <a:t>22 in total; LinkedIn has the most (8)</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Two models</a:t>
            </a:r>
          </a:p>
          <a:p>
            <a:pPr algn="l">
              <a:spcAft>
                <a:spcPts val="300"/>
              </a:spcAft>
            </a:pPr>
            <a:r>
              <a:rPr sz="1300" b="0">
                <a:solidFill>
                  <a:srgbClr val="6B6862"/>
                </a:solidFill>
                <a:latin typeface="Calibri"/>
              </a:rPr>
              <a:t>Both name LinkedIn as the top source, matching the Checks sheet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Technology + Interview filter</a:t>
            </a:r>
          </a:p>
          <a:p>
            <a:pPr algn="l">
              <a:spcAft>
                <a:spcPts val="300"/>
              </a:spcAft>
            </a:pPr>
            <a:r>
              <a:rPr sz="1300" b="0">
                <a:solidFill>
                  <a:srgbClr val="6B6862"/>
                </a:solidFill>
                <a:latin typeface="Calibri"/>
              </a:rPr>
              <a:t>9 rows; all 242 back after Data &gt; Clear</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Formula in Excel?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formula starts with = and calculates from cells and functions. In a table, use names: =[@Filled]/[@Openings].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Formulas are auditable and recalculate when the data changes. A typed number does neither.</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Click any result and read its formula in the formula bar.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a Formula in Excel?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TRY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Fill rate: =[@Filled]/[@Openings]</a:t>
            </a:r>
          </a:p>
          <a:p>
            <a:pPr>
              <a:spcAft>
                <a:spcPts val="1000"/>
              </a:spcAft>
            </a:pPr>
            <a:r>
              <a:rPr sz="1600" b="0">
                <a:solidFill>
                  <a:srgbClr val="21201C"/>
                </a:solidFill>
                <a:latin typeface="Calibri"/>
              </a:rPr>
              <a:t>•  Open or closed: =IF([@Close_Date]="","Open","Closed")</a:t>
            </a:r>
          </a:p>
          <a:p>
            <a:pPr>
              <a:spcAft>
                <a:spcPts val="1000"/>
              </a:spcAft>
            </a:pPr>
            <a:r>
              <a:rPr sz="1600" b="0">
                <a:solidFill>
                  <a:srgbClr val="21201C"/>
                </a:solidFill>
                <a:latin typeface="Calibri"/>
              </a:rPr>
              <a:t>•  Count: =COUNTIFS(tblRequisitions[Status],"Open")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Typed once, it fills the whole column.</a:t>
            </a:r>
          </a:p>
          <a:p>
            <a:pPr>
              <a:spcAft>
                <a:spcPts val="1000"/>
              </a:spcAft>
            </a:pPr>
            <a:r>
              <a:rPr sz="1600" b="0">
                <a:solidFill>
                  <a:srgbClr val="21201C"/>
                </a:solidFill>
                <a:latin typeface="Calibri"/>
              </a:rPr>
              <a:t>•  No typed numbers in calculated columns.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Table References: What Does @ Mean?</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 a table, @ means 'this row'. [@Filled] is the Filled value in the same row as the formula.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formula fills every row, reads like the rule, and keeps working when rows are added or sorted.</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 = this row. No @ = the whole column.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Excel — Table References: What Does @ Mean?</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IT LIKE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=[@Filled]/[@Openings] - this row's Filled / this row's Openings</a:t>
            </a:r>
          </a:p>
          <a:p>
            <a:pPr>
              <a:spcAft>
                <a:spcPts val="1000"/>
              </a:spcAft>
            </a:pPr>
            <a:r>
              <a:rPr sz="1600" b="0">
                <a:solidFill>
                  <a:srgbClr val="21201C"/>
                </a:solidFill>
                <a:latin typeface="Calibri"/>
              </a:rPr>
              <a:t>•  Same as =G3/F3 on row 3, but readable and safe to sort</a:t>
            </a:r>
          </a:p>
          <a:p>
            <a:pPr>
              <a:spcAft>
                <a:spcPts val="1000"/>
              </a:spcAft>
            </a:pPr>
            <a:r>
              <a:rPr sz="1600" b="0">
                <a:solidFill>
                  <a:srgbClr val="21201C"/>
                </a:solidFill>
                <a:latin typeface="Calibri"/>
              </a:rPr>
              <a:t>•  =SUM(tblRequisitions[Filled]) - the whole Filled column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You only see @ inside an Excel table.</a:t>
            </a:r>
          </a:p>
          <a:p>
            <a:pPr>
              <a:spcAft>
                <a:spcPts val="1000"/>
              </a:spcAft>
            </a:pPr>
            <a:r>
              <a:rPr sz="1600" b="0">
                <a:solidFill>
                  <a:srgbClr val="21201C"/>
                </a:solidFill>
                <a:latin typeface="Calibri"/>
              </a:rPr>
              <a:t>•  =SUM([@Filled]) adds just one row - drop the @ for totals.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Reading Excel References: !, :, $ and [@[...]]</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 = on that sheet. : = a range. $ = locked when copied. [@[Column]] = this row's value, same as [@Column].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Copilot's replies and formulas use them all - reading them shows which cells changed and where a formula looks.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the reference point at the right sheet, the right range and the right fixed input?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Excel — Reading Excel References: !, :, $ and [@[...]]</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IT LIKE THIS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Requisitions!P2:P61 - cells P2 to P61 on the Requisitions sheet</a:t>
            </a:r>
          </a:p>
          <a:p>
            <a:pPr>
              <a:spcAft>
                <a:spcPts val="1000"/>
              </a:spcAft>
            </a:pPr>
            <a:r>
              <a:rPr sz="1600" b="0">
                <a:solidFill>
                  <a:srgbClr val="21201C"/>
                </a:solidFill>
                <a:latin typeface="Calibri"/>
              </a:rPr>
              <a:t>•  Control!$B$1 - cell B1 on the Control sheet, locked with $</a:t>
            </a:r>
          </a:p>
          <a:p>
            <a:pPr>
              <a:spcAft>
                <a:spcPts val="1000"/>
              </a:spcAft>
            </a:pPr>
            <a:r>
              <a:rPr sz="1600" b="0">
                <a:solidFill>
                  <a:srgbClr val="21201C"/>
                </a:solidFill>
                <a:latin typeface="Calibri"/>
              </a:rPr>
              <a:t>•  [@[Fee_Rate]] - this row's Fee_Rate, same as [@Fee_Rate]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Press F4 while editing a reference to add or remove $.</a:t>
            </a:r>
          </a:p>
          <a:p>
            <a:pPr>
              <a:spcAft>
                <a:spcPts val="1000"/>
              </a:spcAft>
            </a:pPr>
            <a:r>
              <a:rPr sz="1600" b="0">
                <a:solidFill>
                  <a:srgbClr val="21201C"/>
                </a:solidFill>
                <a:latin typeface="Calibri"/>
              </a:rPr>
              <a:t>•  Sheet names with spaces need quotes: 'Dash Data'!B2.</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READ THE FORMULA</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Reading a Formula: IF, AND and @</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 PIECE BY PIECE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WHY THE @?</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=IF(AND([@Status]="Open", [@[Days_Open]]&gt;45), "Overdue", "")</a:t>
            </a:r>
          </a:p>
          <a:p>
            <a:pPr>
              <a:spcAft>
                <a:spcPts val="1000"/>
              </a:spcAft>
            </a:pPr>
            <a:r>
              <a:rPr sz="1600" b="0">
                <a:solidFill>
                  <a:srgbClr val="21201C"/>
                </a:solidFill>
                <a:latin typeface="Calibri"/>
              </a:rPr>
              <a:t>•  [@Status]="Open" - is this row's Status Open?</a:t>
            </a:r>
          </a:p>
          <a:p>
            <a:pPr>
              <a:spcAft>
                <a:spcPts val="1000"/>
              </a:spcAft>
            </a:pPr>
            <a:r>
              <a:rPr sz="1600" b="0">
                <a:solidFill>
                  <a:srgbClr val="21201C"/>
                </a:solidFill>
                <a:latin typeface="Calibri"/>
              </a:rPr>
              <a:t>•  [@[Days_Open]]&gt;45 - has this row been open more than 45 days?</a:t>
            </a:r>
          </a:p>
          <a:p>
            <a:pPr>
              <a:spcAft>
                <a:spcPts val="1000"/>
              </a:spcAft>
            </a:pPr>
            <a:r>
              <a:rPr sz="1600" b="0">
                <a:solidFill>
                  <a:srgbClr val="21201C"/>
                </a:solidFill>
                <a:latin typeface="Calibri"/>
              </a:rPr>
              <a:t>•  AND(test1, test2) - TRUE only if both are TRUE</a:t>
            </a:r>
          </a:p>
          <a:p>
            <a:pPr>
              <a:spcAft>
                <a:spcPts val="1000"/>
              </a:spcAft>
            </a:pPr>
            <a:r>
              <a:rPr sz="1600" b="0">
                <a:solidFill>
                  <a:srgbClr val="21201C"/>
                </a:solidFill>
                <a:latin typeface="Calibri"/>
              </a:rPr>
              <a:t>•  IF(test, "Overdue", "") - show Overdue, otherwise leave blank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 = this row: each requisition is checked on its own row.</a:t>
            </a:r>
          </a:p>
          <a:p>
            <a:pPr>
              <a:spcAft>
                <a:spcPts val="1000"/>
              </a:spcAft>
            </a:pPr>
            <a:r>
              <a:rPr sz="1600" b="0">
                <a:solidFill>
                  <a:srgbClr val="21201C"/>
                </a:solidFill>
                <a:latin typeface="Calibri"/>
              </a:rPr>
              <a:t>•  Without @, [Status] means all 60 values at once - error or wrong result.</a:t>
            </a:r>
          </a:p>
          <a:p>
            <a:pPr>
              <a:spcAft>
                <a:spcPts val="1000"/>
              </a:spcAft>
            </a:pPr>
            <a:r>
              <a:rPr sz="1600" b="0">
                <a:solidFill>
                  <a:srgbClr val="21201C"/>
                </a:solidFill>
                <a:latin typeface="Calibri"/>
              </a:rPr>
              <a:t>•  [@Status] and [@[Days_Open]] mean the same kind of thing.</a:t>
            </a:r>
          </a:p>
          <a:p>
            <a:pPr>
              <a:spcAft>
                <a:spcPts val="1000"/>
              </a:spcAft>
            </a:pPr>
            <a:r>
              <a:rPr sz="1600" b="0">
                <a:solidFill>
                  <a:srgbClr val="21201C"/>
                </a:solidFill>
                <a:latin typeface="Calibri"/>
              </a:rPr>
              <a:t>•  Check: 13 rows show Overdue.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XLOOKUP?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XLOOKUP finds a key in one table and returns the matching value from another table.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Joins data by a shared ID instead of copy-paste - and updates when either table changes. Simpler and safer than VLOOKUP.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 'Not found' results: each one is a missing or mistyped key.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Excel — What Is XLOOKUP?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SYNTAX</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=XLOOKUP(lookup_value, lookup_array, return_array, [if_not_found])</a:t>
            </a:r>
          </a:p>
          <a:p>
            <a:pPr>
              <a:spcAft>
                <a:spcPts val="1000"/>
              </a:spcAft>
            </a:pPr>
            <a:r>
              <a:rPr sz="1600" b="0">
                <a:solidFill>
                  <a:srgbClr val="21201C"/>
                </a:solidFill>
                <a:latin typeface="Calibri"/>
              </a:rPr>
              <a:t>•  =XLOOKUP([@Recruiter_ID], tblRecruiters[Recruiter_ID], tblRecruiters[Recruiter_Name], "Not found")</a:t>
            </a:r>
          </a:p>
          <a:p>
            <a:pPr>
              <a:spcAft>
                <a:spcPts val="1000"/>
              </a:spcAft>
            </a:pPr>
            <a:r>
              <a:rPr sz="1600" b="0">
                <a:solidFill>
                  <a:srgbClr val="21201C"/>
                </a:solidFill>
                <a:latin typeface="Calibri"/>
              </a:rPr>
              <a:t>•  =COUNTIF(tblRequisitions[Recruiter_Name], "Not found")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JOB-2002: R05 returns Siti Hamid.</a:t>
            </a:r>
          </a:p>
          <a:p>
            <a:pPr>
              <a:spcAft>
                <a:spcPts val="1000"/>
              </a:spcAft>
            </a:pPr>
            <a:r>
              <a:rPr sz="1600" b="0">
                <a:solidFill>
                  <a:srgbClr val="21201C"/>
                </a:solidFill>
                <a:latin typeface="Calibri"/>
              </a:rPr>
              <a:t>•  Keys must match exactly - watch extra spaces.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Writing Formulas and XLOOKUPs with Copilot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calculation in plain English and Copilot writes the formula or XLOOKUP, and explains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formula can run without errors and still be wrong, e.g. a monthly instead of an annual salary.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Work out one row by hand and compare the column total with your own formula.</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Writing Formulas and XLOOKUPs with Copilot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Add Recruiter_Name by looking it up from tblRecruiters using Recruiter_ID.</a:t>
            </a:r>
          </a:p>
          <a:p>
            <a:pPr>
              <a:spcAft>
                <a:spcPts val="1000"/>
              </a:spcAft>
            </a:pPr>
            <a:r>
              <a:rPr sz="1600" b="0">
                <a:solidFill>
                  <a:srgbClr val="21201C"/>
                </a:solidFill>
                <a:latin typeface="Calibri"/>
              </a:rPr>
              <a:t>•  Add Est_Fee = Filled x Monthly_Salary_Budget x 12 x Fee_Rate, then a total row.</a:t>
            </a:r>
          </a:p>
          <a:p>
            <a:pPr>
              <a:spcAft>
                <a:spcPts val="1000"/>
              </a:spcAft>
            </a:pPr>
            <a:r>
              <a:rPr sz="1600" b="0">
                <a:solidFill>
                  <a:srgbClr val="21201C"/>
                </a:solidFill>
                <a:latin typeface="Calibri"/>
              </a:rPr>
              <a:t>•  Explain the formula in the selected cell.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JOB-2002: 4 x S$4,900 x 12 x 25% = S$58,800.</a:t>
            </a:r>
          </a:p>
          <a:p>
            <a:pPr>
              <a:spcAft>
                <a:spcPts val="1000"/>
              </a:spcAft>
            </a:pPr>
            <a:r>
              <a:rPr sz="1600" b="0">
                <a:solidFill>
                  <a:srgbClr val="21201C"/>
                </a:solidFill>
                <a:latin typeface="Calibri"/>
              </a:rPr>
              <a:t>•  No 'Not found' in the lookup column.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FORMULAS &amp; XLOOKUP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Generate and Verify Formula Columns and XLOOKUPs for Job Requisitions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permanent-recruitment desk tracks 60 client job orders. You will ask Copilot to add an XLOOKUP for the recruiter's name and four calculated columns written from business rules, ask it to explain each formula, hand-check one requisition and reconcile column totals to independent formulas on the Control sheet. You will then ask Copilot which recruiter generated the most estimated fees and verify the answer.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BrightPath_Job_Requisitions.xlsx with Recruiter_Name, Days_Open, Fill_Rate, Est_Fee and Ageing_Flag columns in tblRequisitions, overdue requisitions highlighted, and a Control sheet that reconciles the totals</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Lookup</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Days open</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Fill rate &amp; fee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Ageing flag</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Reconcile</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XLOOKUP · structured references · BrightPath_Job_Requisitions.xlsx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Lookup:  </a:t>
            </a:r>
            <a:r>
              <a:rPr sz="1200" b="0">
                <a:solidFill>
                  <a:srgbClr val="21201C"/>
                </a:solidFill>
                <a:latin typeface="Calibri"/>
              </a:rPr>
              <a:t>Add a column Recruiter_Name that looks up Recruiter_Name from tblRecruiters using Recruiter_ID with XLOOKUP. Return "Not found" if missing.</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e.g. =XLOOKUP([@Recruiter_ID], tblRecruiters[Recruiter_ID], tblRecruiters[Recruiter_Name], "Not found"): finds this row's ID in tblRecruiters and returns the name.</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Duration:  </a:t>
            </a:r>
            <a:r>
              <a:rPr sz="1200" b="0">
                <a:solidFill>
                  <a:srgbClr val="21201C"/>
                </a:solidFill>
                <a:latin typeface="Calibri"/>
              </a:rPr>
              <a:t>Add a column Days_Open: if Close_Date is blank use Control!B1 minus Open_Date, otherwise Close_Date minus Open_Date.</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e.g. =IF([@Close_Date]="", Control!$B$1-[@Open_Date], [@Close_Date]-[@Open_Date]): still open? count to the report date; closed? count to the close date.</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Ratio:  </a:t>
            </a:r>
            <a:r>
              <a:rPr sz="1200" b="0">
                <a:solidFill>
                  <a:srgbClr val="21201C"/>
                </a:solidFill>
                <a:latin typeface="Calibri"/>
              </a:rPr>
              <a:t>Add a column Fill_Rate = Filled / Openings formatted as a percentage.</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=[@Filled]/[@Openings]: this row's filled positions divided by its openings, e.g. 4 of 4 = 100%.</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Business rule:  </a:t>
            </a:r>
            <a:r>
              <a:rPr sz="1200" b="0">
                <a:solidFill>
                  <a:srgbClr val="21201C"/>
                </a:solidFill>
                <a:latin typeface="Calibri"/>
              </a:rPr>
              <a:t>Add a column Est_Fee = Filled x Monthly_Salary_Budget x 12 x Fee_Rate, formatted as S$ with no decimals.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=[@Filled]*[@Monthly_Salary_Budget]*12*[@Fee_Rate]: monthly salary x 12 = annual salary, x fee rate, x positions filled. JOB-2002: 4 x S$4,900 x 12 x 25% = S$58,800.</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Flag:  </a:t>
            </a:r>
            <a:r>
              <a:rPr sz="1200" b="0">
                <a:solidFill>
                  <a:srgbClr val="21201C"/>
                </a:solidFill>
                <a:latin typeface="Calibri"/>
              </a:rPr>
              <a:t>Add a column Ageing_Flag that shows "Overdue" when Status is Open and Days_Open &gt; 45, otherwise blank.</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=IF(AND([@Status]="Open", [@Days_Open]&gt;45), "Overdue", ""): Overdue only when both tests are true; otherwise the cell stays blank.</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estimated fees (Control B3 and B4)</a:t>
            </a:r>
          </a:p>
          <a:p>
            <a:pPr algn="l">
              <a:spcAft>
                <a:spcPts val="300"/>
              </a:spcAft>
            </a:pPr>
            <a:r>
              <a:rPr sz="1300" b="0">
                <a:solidFill>
                  <a:srgbClr val="6B6862"/>
                </a:solidFill>
                <a:latin typeface="Calibri"/>
              </a:rPr>
              <a:t>Both S$1,030,512</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Average days to fill (B5)</a:t>
            </a:r>
          </a:p>
          <a:p>
            <a:pPr algn="l">
              <a:spcAft>
                <a:spcPts val="300"/>
              </a:spcAft>
            </a:pPr>
            <a:r>
              <a:rPr sz="1300" b="0">
                <a:solidFill>
                  <a:srgbClr val="6B6862"/>
                </a:solidFill>
                <a:latin typeface="Calibri"/>
              </a:rPr>
              <a:t>34.6 days (29 filled requisitions)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Overdue requisitions (B6 and B7)</a:t>
            </a:r>
          </a:p>
          <a:p>
            <a:pPr algn="l">
              <a:spcAft>
                <a:spcPts val="300"/>
              </a:spcAft>
            </a:pPr>
            <a:r>
              <a:rPr sz="1300" b="0">
                <a:solidFill>
                  <a:srgbClr val="6B6862"/>
                </a:solidFill>
                <a:latin typeface="Calibri"/>
              </a:rPr>
              <a:t>Both 13</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Sample row JOB-2002</a:t>
            </a:r>
          </a:p>
          <a:p>
            <a:pPr algn="l">
              <a:spcAft>
                <a:spcPts val="300"/>
              </a:spcAft>
            </a:pPr>
            <a:r>
              <a:rPr sz="1300" b="0">
                <a:solidFill>
                  <a:srgbClr val="6B6862"/>
                </a:solidFill>
                <a:latin typeface="Calibri"/>
              </a:rPr>
              <a:t>Est_Fee S$58,800, Days_Open 36</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Recruiter_Name lookup</a:t>
            </a:r>
          </a:p>
          <a:p>
            <a:pPr algn="l">
              <a:spcAft>
                <a:spcPts val="300"/>
              </a:spcAft>
            </a:pPr>
            <a:r>
              <a:rPr sz="1300" b="0">
                <a:solidFill>
                  <a:srgbClr val="6B6862"/>
                </a:solidFill>
                <a:latin typeface="Calibri"/>
              </a:rPr>
              <a:t>Every row has a name - no "Not found"</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Top recruiter by fees</a:t>
            </a:r>
          </a:p>
          <a:p>
            <a:pPr algn="l">
              <a:spcAft>
                <a:spcPts val="300"/>
              </a:spcAft>
            </a:pPr>
            <a:r>
              <a:rPr sz="1300" b="0">
                <a:solidFill>
                  <a:srgbClr val="6B6862"/>
                </a:solidFill>
                <a:latin typeface="Calibri"/>
              </a:rPr>
              <a:t>Aisha Rahman - S$221,760</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Are PivotTables and PivotCharts?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PivotTable summarises a table by dragging fields into Rows, Columns, Values and Filters. A PivotChart charts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Answers 'how many by X' in seconds, without formulas - and you can reshape it any time.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Is the value Sum, Count or Average? Did you Refresh after the data changed?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Excel — What Are PivotTables and PivotCharts?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DO IT IN EXCEL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Click in tblMonthly &gt; Insert &gt; PivotTable &gt; New Worksheet.</a:t>
            </a:r>
          </a:p>
          <a:p>
            <a:pPr>
              <a:spcAft>
                <a:spcPts val="1000"/>
              </a:spcAft>
            </a:pPr>
            <a:r>
              <a:rPr sz="1600" b="0">
                <a:solidFill>
                  <a:srgbClr val="21201C"/>
                </a:solidFill>
                <a:latin typeface="Calibri"/>
              </a:rPr>
              <a:t>•  Rows: Month_Label · Values: Sum of Hires.</a:t>
            </a:r>
          </a:p>
          <a:p>
            <a:pPr>
              <a:spcAft>
                <a:spcPts val="1000"/>
              </a:spcAft>
            </a:pPr>
            <a:r>
              <a:rPr sz="1600" b="0">
                <a:solidFill>
                  <a:srgbClr val="21201C"/>
                </a:solidFill>
                <a:latin typeface="Calibri"/>
              </a:rPr>
              <a:t>•  PivotTable Analyze &gt; PivotChart &gt; Line.</a:t>
            </a:r>
          </a:p>
          <a:p>
            <a:pPr>
              <a:spcAft>
                <a:spcPts val="1000"/>
              </a:spcAft>
            </a:pPr>
            <a:r>
              <a:rPr sz="1600" b="0">
                <a:solidFill>
                  <a:srgbClr val="21201C"/>
                </a:solidFill>
                <a:latin typeface="Calibri"/>
              </a:rPr>
              <a:t>•  Data &gt; Refresh All after the data changes.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 SUM(tblMonthly[Hires]).</a:t>
            </a:r>
          </a:p>
          <a:p>
            <a:pPr>
              <a:spcAft>
                <a:spcPts val="1000"/>
              </a:spcAft>
            </a:pPr>
            <a:r>
              <a:rPr sz="1600" b="0">
                <a:solidFill>
                  <a:srgbClr val="21201C"/>
                </a:solidFill>
                <a:latin typeface="Calibri"/>
              </a:rPr>
              <a:t>•  The chart follows the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PivotTables and PivotCharts from a Prompt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PivotTable and the PivotChart you want, and Copilot builds both, linked to your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PivotTable total lets you check the chart, and both update when the data grows.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PivotTable grand total equals a SUM or SUMIFS of the source column.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PivotTables and PivotCharts from a Prompt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PivotTable from tblMonthly with Month_Label in rows and Sum of Hires.</a:t>
            </a:r>
          </a:p>
          <a:p>
            <a:pPr>
              <a:spcAft>
                <a:spcPts val="1000"/>
              </a:spcAft>
            </a:pPr>
            <a:r>
              <a:rPr sz="1600" b="0">
                <a:solidFill>
                  <a:srgbClr val="21201C"/>
                </a:solidFill>
                <a:latin typeface="Calibri"/>
              </a:rPr>
              <a:t>•  Create a line PivotChart of total hires by month from it, with data labels.</a:t>
            </a:r>
          </a:p>
          <a:p>
            <a:pPr>
              <a:spcAft>
                <a:spcPts val="1000"/>
              </a:spcAft>
            </a:pPr>
            <a:r>
              <a:rPr sz="1600" b="0">
                <a:solidFill>
                  <a:srgbClr val="21201C"/>
                </a:solidFill>
                <a:latin typeface="Calibri"/>
              </a:rPr>
              <a:t>•  Put both on a new sheet named Pivot_Trend.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 SUM(tblMonthly[Hires]).</a:t>
            </a:r>
          </a:p>
          <a:p>
            <a:pPr>
              <a:spcAft>
                <a:spcPts val="1000"/>
              </a:spcAft>
            </a:pPr>
            <a:r>
              <a:rPr sz="1600" b="0">
                <a:solidFill>
                  <a:srgbClr val="21201C"/>
                </a:solidFill>
                <a:latin typeface="Calibri"/>
              </a:rPr>
              <a:t>•  The chart is a PivotChart, not a pasted picture.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and Refining Charts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Pick the chart from the question, then refine it with one follow-up prompt per change.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wrong chart type misleads. A finding-style title tells leaders what to see.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Could someone get the main message from the title in 5 seconds?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Choosing and Refining 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bar chart of 2026 hires by Sector, sorted high to low.</a:t>
            </a:r>
          </a:p>
          <a:p>
            <a:pPr>
              <a:spcAft>
                <a:spcPts val="1000"/>
              </a:spcAft>
            </a:pPr>
            <a:r>
              <a:rPr sz="1600" b="0">
                <a:solidFill>
                  <a:srgbClr val="21201C"/>
                </a:solidFill>
                <a:latin typeface="Calibri"/>
              </a:rPr>
              <a:t>•  Change the title to: Technology led hiring in H1 2026.</a:t>
            </a:r>
          </a:p>
          <a:p>
            <a:pPr>
              <a:spcAft>
                <a:spcPts val="1000"/>
              </a:spcAft>
            </a:pPr>
            <a:r>
              <a:rPr sz="1600" b="0">
                <a:solidFill>
                  <a:srgbClr val="21201C"/>
                </a:solidFill>
                <a:latin typeface="Calibri"/>
              </a:rPr>
              <a:t>•  Put Cost_per_Hire on a secondary axis as a line, formatted as 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Axes labelled with units.</a:t>
            </a:r>
          </a:p>
          <a:p>
            <a:pPr>
              <a:spcAft>
                <a:spcPts val="1000"/>
              </a:spcAft>
            </a:pPr>
            <a:r>
              <a:rPr sz="1600" b="0">
                <a:solidFill>
                  <a:srgbClr val="21201C"/>
                </a:solidFill>
                <a:latin typeface="Calibri"/>
              </a:rPr>
              <a:t>•  Values still match the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PIVOTTABLES, PIVOTCHARTS &amp; VISUALS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PivotTables, PivotCharts and Recruitment Charts with Copilot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leadership wants to see how hiring is moving and which sectors and sourcing channels perform best. You will ask Copilot to build PivotTables and PivotCharts from 18 months of funnel metrics and a sourcing summary, choose each chart from the question it answers, refine titles, labels, sort order and axes with follow-up prompts, and reconcile every chart to an independent SUMIFS check.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BrightPath_Recruitment_Metrics.xlsx with PivotTables and four refined charts on the Charts sheet: a monthly hires line PivotChart, a sorted 2026 hires-by-sector bar PivotChart, a 2026 recruitment funnel and a hire-rate vs cost-per-hire combo chart</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Pivot + line PivotChart</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Sector PivotChart</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Funnel</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Source combo</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Refine &amp; check</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 PivotTables, PivotCharts · line, bar, funnel and combo charts · BrightPath_Recruitment_Metrics.xlsx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PivotTable:  </a:t>
            </a:r>
            <a:r>
              <a:rPr sz="1200" b="0">
                <a:solidFill>
                  <a:srgbClr val="21201C"/>
                </a:solidFill>
                <a:latin typeface="Calibri"/>
              </a:rPr>
              <a:t>Create a PivotTable from tblMonthly with Month_Label in rows, Sector in columns and Sum of Hires as values.</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Builds a summary with no formulas: one row per month, one column per sector, each cell the total hires. Check the grand total against =SUM(tblMonthly[Hires]).</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PivotChart:  </a:t>
            </a:r>
            <a:r>
              <a:rPr sz="1200" b="0">
                <a:solidFill>
                  <a:srgbClr val="21201C"/>
                </a:solidFill>
                <a:latin typeface="Calibri"/>
              </a:rPr>
              <a:t>Create a line PivotChart from the Pivot_Trend PivotTable showing total hires by month. Show data labels and gridlines.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Draws a line chart linked to the PivotTable, so it changes when the PivotTable is filtered or refreshed.</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Bar chart:  </a:t>
            </a:r>
            <a:r>
              <a:rPr sz="1200" b="0">
                <a:solidFill>
                  <a:srgbClr val="21201C"/>
                </a:solidFill>
                <a:latin typeface="Calibri"/>
              </a:rPr>
              <a:t>Create a bar chart of 2026 hires by Sector, sorted from highest to lowest.</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Totals 2026 hires for each sector and draws bars, longest first, so the top sector stands out.</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Funnel:  </a:t>
            </a:r>
            <a:r>
              <a:rPr sz="1200" b="0">
                <a:solidFill>
                  <a:srgbClr val="21201C"/>
                </a:solidFill>
                <a:latin typeface="Calibri"/>
              </a:rPr>
              <a:t>Create a funnel chart of 2026 Applications, Screened, Interviews, Offers and Hires with data labels.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Shows how many candidates remain at each stage, from applications down to hires, so you see where people drop out.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Combo chart:  </a:t>
            </a:r>
            <a:r>
              <a:rPr sz="1200" b="0">
                <a:solidFill>
                  <a:srgbClr val="21201C"/>
                </a:solidFill>
                <a:latin typeface="Calibri"/>
              </a:rPr>
              <a:t>Create a combo chart of Hire_Rate as columns and Cost_per_Hire as a line on a secondary axis.</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Puts two measures with different units on one chart: hire rate (%) as columns on the left axis, cost per hire (S$) as a line on the right axis.</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hires (Pivot_Trend)</a:t>
            </a:r>
          </a:p>
          <a:p>
            <a:pPr algn="l">
              <a:spcAft>
                <a:spcPts val="300"/>
              </a:spcAft>
            </a:pPr>
            <a:r>
              <a:rPr sz="1300" b="0">
                <a:solidFill>
                  <a:srgbClr val="6B6862"/>
                </a:solidFill>
                <a:latin typeface="Calibri"/>
              </a:rPr>
              <a:t>1,065 = SUM(tblMonthly[Hires])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Peak month</a:t>
            </a:r>
          </a:p>
          <a:p>
            <a:pPr algn="l">
              <a:spcAft>
                <a:spcPts val="300"/>
              </a:spcAft>
            </a:pPr>
            <a:r>
              <a:rPr sz="1300" b="0">
                <a:solidFill>
                  <a:srgbClr val="6B6862"/>
                </a:solidFill>
                <a:latin typeface="Calibri"/>
              </a:rPr>
              <a:t>2025-11 with 68 hires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2026 hires by sector</a:t>
            </a:r>
          </a:p>
          <a:p>
            <a:pPr algn="l">
              <a:spcAft>
                <a:spcPts val="300"/>
              </a:spcAft>
            </a:pPr>
            <a:r>
              <a:rPr sz="1300" b="0">
                <a:solidFill>
                  <a:srgbClr val="6B6862"/>
                </a:solidFill>
                <a:latin typeface="Calibri"/>
              </a:rPr>
              <a:t>Technology first (84); Pivot total 361</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Funnel</a:t>
            </a:r>
          </a:p>
          <a:p>
            <a:pPr algn="l">
              <a:spcAft>
                <a:spcPts val="300"/>
              </a:spcAft>
            </a:pPr>
            <a:r>
              <a:rPr sz="1300" b="0">
                <a:solidFill>
                  <a:srgbClr val="6B6862"/>
                </a:solidFill>
                <a:latin typeface="Calibri"/>
              </a:rPr>
              <a:t>6,616 &gt; 3,229 &gt; 1,385 &gt; 495 &gt; 361</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Best source</a:t>
            </a:r>
          </a:p>
          <a:p>
            <a:pPr algn="l">
              <a:spcAft>
                <a:spcPts val="300"/>
              </a:spcAft>
            </a:pPr>
            <a:r>
              <a:rPr sz="1300" b="0">
                <a:solidFill>
                  <a:srgbClr val="6B6862"/>
                </a:solidFill>
                <a:latin typeface="Calibri"/>
              </a:rPr>
              <a:t>Referral: highest hire rate (8.7%); MyCareersFuture: lowest cost per hire (S$126)</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Charts sheet</a:t>
            </a:r>
          </a:p>
          <a:p>
            <a:pPr algn="l">
              <a:spcAft>
                <a:spcPts val="300"/>
              </a:spcAft>
            </a:pPr>
            <a:r>
              <a:rPr sz="1300" b="0">
                <a:solidFill>
                  <a:srgbClr val="6B6862"/>
                </a:solidFill>
                <a:latin typeface="Calibri"/>
              </a:rPr>
              <a:t>2 PivotCharts + funnel + combo in a 2 x 2 grid (A1:Q37), clean style, finding-style titles, labelled axes and alt text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Excel Fundamentals with Copilot</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Modes: Chat only to ask, Plan to review the steps, Allow editing to change - then Done or Undo.</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Data prep: Named tables, duplicates and spelling variants flagged and fixed, row counts unchanged.</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Formulas: Formulas and XLOOKUPs described in plain English, explained, and hand-checked on one row.</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PivotTables and charts: PivotTables, PivotCharts and refined charts, each tied to a SUM or SUMIFS total.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Skills and Rules</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Personalisation · workbook rules on a .Rules sheet · built-in chart and theme skills · custom skills in SKILL.md · using Copilot to write a skill · Pareto charts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4-6</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Skills and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Personalisation = you</a:t>
            </a:r>
          </a:p>
          <a:p>
            <a:pPr algn="l">
              <a:spcAft>
                <a:spcPts val="300"/>
              </a:spcAft>
            </a:pPr>
            <a:r>
              <a:rPr sz="1400" b="0">
                <a:solidFill>
                  <a:srgbClr val="6B6862"/>
                </a:solidFill>
                <a:latin typeface="Calibri"/>
              </a:rPr>
              <a:t>Preferences that follow you to every workbook, e.g. 'Never merge cells'. Settings (...) &gt; Personalization.</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Rules = this workbook</a:t>
            </a:r>
          </a:p>
          <a:p>
            <a:pPr algn="l">
              <a:spcAft>
                <a:spcPts val="300"/>
              </a:spcAft>
            </a:pPr>
            <a:r>
              <a:rPr sz="1400" b="0">
                <a:solidFill>
                  <a:srgbClr val="6B6862"/>
                </a:solidFill>
                <a:latin typeface="Calibri"/>
              </a:rPr>
              <a:t>A visible sheet named .Rules with one rule per cell in column A. The rules travel with the file.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Skills = a repeatable recipe</a:t>
            </a:r>
          </a:p>
          <a:p>
            <a:pPr algn="l">
              <a:spcAft>
                <a:spcPts val="300"/>
              </a:spcAft>
            </a:pPr>
            <a:r>
              <a:rPr sz="1400" b="0">
                <a:solidFill>
                  <a:srgbClr val="6B6862"/>
                </a:solidFill>
                <a:latin typeface="Calibri"/>
              </a:rPr>
              <a:t>Saved step-by-step instructions you call by name with @, in any workbook.</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Start with built-in skills</a:t>
            </a:r>
          </a:p>
          <a:p>
            <a:pPr algn="l">
              <a:spcAft>
                <a:spcPts val="300"/>
              </a:spcAft>
            </a:pPr>
            <a:r>
              <a:rPr sz="1400" b="0">
                <a:solidFill>
                  <a:srgbClr val="6B6862"/>
                </a:solidFill>
                <a:latin typeface="Calibri"/>
              </a:rPr>
              <a:t>@chart-design plots a chart from a prompt; @theme-design gives the whole workbook one look.</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Let Copilot write your skill</a:t>
            </a:r>
          </a:p>
          <a:p>
            <a:pPr algn="l">
              <a:spcAft>
                <a:spcPts val="300"/>
              </a:spcAft>
            </a:pPr>
            <a:r>
              <a:rPr sz="1400" b="0">
                <a:solidFill>
                  <a:srgbClr val="6B6862"/>
                </a:solidFill>
                <a:latin typeface="Calibri"/>
              </a:rPr>
              <a:t>Describe the task to Copilot on the web; it writes the SKILL.md. Upload it to its own OneDrive folder, then Refresh in Excel.</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Still check the result</a:t>
            </a:r>
          </a:p>
          <a:p>
            <a:pPr algn="l">
              <a:spcAft>
                <a:spcPts val="300"/>
              </a:spcAft>
            </a:pPr>
            <a:r>
              <a:rPr sz="1400" b="0">
                <a:solidFill>
                  <a:srgbClr val="6B6862"/>
                </a:solidFill>
                <a:latin typeface="Calibri"/>
              </a:rPr>
              <a:t>Rules and skills guide Copilot. They do not guarantee the numbers are right.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Skills and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Lab 4</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Workbook Rules &amp; Personalisation</a:t>
            </a:r>
          </a:p>
          <a:p>
            <a:pPr>
              <a:spcAft>
                <a:spcPts val="900"/>
              </a:spcAft>
            </a:pPr>
            <a:r>
              <a:rPr sz="1200" b="0">
                <a:solidFill>
                  <a:srgbClr val="6B6862"/>
                </a:solidFill>
                <a:latin typeface="Calibri"/>
              </a:rPr>
              <a:t>–  Clean Messy Client Orders with Cleanup, Personalisation and Rules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Lab 5</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Built-in Skills: Visual Design</a:t>
            </a:r>
          </a:p>
          <a:p>
            <a:pPr>
              <a:spcAft>
                <a:spcPts val="900"/>
              </a:spcAft>
            </a:pPr>
            <a:r>
              <a:rPr sz="1200" b="0">
                <a:solidFill>
                  <a:srgbClr val="6B6862"/>
                </a:solidFill>
                <a:latin typeface="Calibri"/>
              </a:rPr>
              <a:t>–  Plot and Style Client Growth Charts with Built-in Visual Skills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Lab 6</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1">
                <a:solidFill>
                  <a:srgbClr val="21201C"/>
                </a:solidFill>
                <a:latin typeface="Calibri"/>
              </a:rPr>
              <a:t>•  Custom Skills: Pareto Chart</a:t>
            </a:r>
          </a:p>
          <a:p>
            <a:pPr>
              <a:spcAft>
                <a:spcPts val="900"/>
              </a:spcAft>
            </a:pPr>
            <a:r>
              <a:rPr sz="1200" b="0">
                <a:solidFill>
                  <a:srgbClr val="6B6862"/>
                </a:solidFill>
                <a:latin typeface="Calibri"/>
              </a:rPr>
              <a:t>–  Use Copilot to Build a Custom Pareto-Chart Skill</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Preferences That Follow You</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Your own preferences for Copilot, applied in every workbook. Settings (...) &gt; Personalization.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Say a correction once instead of in every prompt. A prompt that asks for something else still wins.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 a New chat, then check a new chart or table follows your preferences.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Personalisation: Preferences That Follow You</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ADD THESE PREFERENCES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Use column charts rather than bar charts unless labels are long.</a:t>
            </a:r>
          </a:p>
          <a:p>
            <a:pPr>
              <a:spcAft>
                <a:spcPts val="1000"/>
              </a:spcAft>
            </a:pPr>
            <a:r>
              <a:rPr sz="1600" b="0">
                <a:solidFill>
                  <a:srgbClr val="21201C"/>
                </a:solidFill>
                <a:latin typeface="Calibri"/>
              </a:rPr>
              <a:t>•  Use navy #1F4E79 and teal #2A9D8F as the main chart colours.</a:t>
            </a:r>
          </a:p>
          <a:p>
            <a:pPr>
              <a:spcAft>
                <a:spcPts val="1000"/>
              </a:spcAft>
            </a:pPr>
            <a:r>
              <a:rPr sz="1600" b="0">
                <a:solidFill>
                  <a:srgbClr val="21201C"/>
                </a:solidFill>
                <a:latin typeface="Calibri"/>
              </a:rPr>
              <a:t>•  Never merge cells.</a:t>
            </a:r>
          </a:p>
          <a:p>
            <a:pPr>
              <a:spcAft>
                <a:spcPts val="1000"/>
              </a:spcAft>
            </a:pPr>
            <a:r>
              <a:rPr sz="1600" b="0">
                <a:solidFill>
                  <a:srgbClr val="21201C"/>
                </a:solidFill>
                <a:latin typeface="Calibri"/>
              </a:rPr>
              <a:t>•  Give PivotTable fields readable names, e.g. Hires.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Saved to your account, not the file.</a:t>
            </a:r>
          </a:p>
          <a:p>
            <a:pPr>
              <a:spcAft>
                <a:spcPts val="1000"/>
              </a:spcAft>
            </a:pPr>
            <a:r>
              <a:rPr sz="1600" b="0">
                <a:solidFill>
                  <a:srgbClr val="21201C"/>
                </a:solidFill>
                <a:latin typeface="Calibri"/>
              </a:rPr>
              <a:t>•  New chats follow them.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Personalization in Copilot</a:t>
            </a:r>
          </a:p>
        </p:txBody>
      </p:sp>
      <p:sp>
        <p:nvSpPr>
          <p:cNvPr id="5" name="Rectangle 4"/>
          <p:cNvSpPr/>
          <p:nvPr/>
        </p:nvSpPr>
        <p:spPr>
          <a:xfrm>
            <a:off x="731520" y="1764792"/>
            <a:ext cx="2338498" cy="4434840"/>
          </a:xfrm>
          <a:prstGeom prst="rect">
            <a:avLst/>
          </a:prstGeom>
          <a:solidFill>
            <a:srgbClr val="DCD8CF"/>
          </a:solidFill>
          <a:ln>
            <a:noFill/>
          </a:ln>
          <a:effectLst/>
        </p:spPr>
        <p:txBody>
          <a:bodyPr rtlCol="0" anchor="ctr"/>
          <a:lstStyle/>
          <a:p>
            <a:pPr algn="ctr"/>
          </a:p>
        </p:txBody>
      </p:sp>
      <p:pic>
        <p:nvPicPr>
          <p:cNvPr id="6" name="Picture 5" descr="personalization.png"/>
          <p:cNvPicPr>
            <a:picLocks noChangeAspect="1"/>
          </p:cNvPicPr>
          <p:nvPr/>
        </p:nvPicPr>
        <p:blipFill>
          <a:blip r:embed="rId2"/>
          <a:stretch>
            <a:fillRect/>
          </a:stretch>
        </p:blipFill>
        <p:spPr>
          <a:xfrm>
            <a:off x="777240" y="1810512"/>
            <a:ext cx="2247059" cy="4343400"/>
          </a:xfrm>
          <a:prstGeom prst="rect">
            <a:avLst/>
          </a:prstGeom>
        </p:spPr>
      </p:pic>
      <p:sp>
        <p:nvSpPr>
          <p:cNvPr id="7" name="Rounded Rectangle 6"/>
          <p:cNvSpPr/>
          <p:nvPr/>
        </p:nvSpPr>
        <p:spPr>
          <a:xfrm>
            <a:off x="3390058" y="1810512"/>
            <a:ext cx="8021654" cy="13746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3390058" y="1810512"/>
            <a:ext cx="8021654" cy="64008"/>
          </a:xfrm>
          <a:prstGeom prst="rect">
            <a:avLst/>
          </a:prstGeom>
          <a:solidFill>
            <a:srgbClr val="D97757"/>
          </a:solidFill>
          <a:ln>
            <a:noFill/>
          </a:ln>
          <a:effectLst/>
        </p:spPr>
        <p:txBody>
          <a:bodyPr rtlCol="0" anchor="ctr"/>
          <a:lstStyle/>
          <a:p>
            <a:pPr algn="ctr"/>
          </a:p>
        </p:txBody>
      </p:sp>
      <p:sp>
        <p:nvSpPr>
          <p:cNvPr id="9" name="Oval 8"/>
          <p:cNvSpPr/>
          <p:nvPr/>
        </p:nvSpPr>
        <p:spPr>
          <a:xfrm>
            <a:off x="3572938" y="230581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3572938" y="230581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4121578" y="1810512"/>
            <a:ext cx="7107254" cy="1374648"/>
          </a:xfrm>
          <a:prstGeom prst="rect">
            <a:avLst/>
          </a:prstGeom>
          <a:noFill/>
        </p:spPr>
        <p:txBody>
          <a:bodyPr wrap="square" anchor="ctr">
            <a:spAutoFit/>
          </a:bodyPr>
          <a:lstStyle/>
          <a:p>
            <a:pPr algn="l">
              <a:spcAft>
                <a:spcPts val="200"/>
              </a:spcAft>
            </a:pPr>
            <a:r>
              <a:rPr sz="1400" b="1">
                <a:solidFill>
                  <a:srgbClr val="21201C"/>
                </a:solidFill>
                <a:latin typeface="Calibri"/>
              </a:rPr>
              <a:t>Settings (...) &gt; Personalization</a:t>
            </a:r>
          </a:p>
          <a:p>
            <a:pPr algn="l">
              <a:spcAft>
                <a:spcPts val="200"/>
              </a:spcAft>
            </a:pPr>
            <a:r>
              <a:rPr sz="1200" b="0">
                <a:solidFill>
                  <a:srgbClr val="6B6862"/>
                </a:solidFill>
                <a:latin typeface="Calibri"/>
              </a:rPr>
              <a:t>Opens Customise Copilot.</a:t>
            </a:r>
          </a:p>
        </p:txBody>
      </p:sp>
      <p:sp>
        <p:nvSpPr>
          <p:cNvPr id="12" name="Rounded Rectangle 11"/>
          <p:cNvSpPr/>
          <p:nvPr/>
        </p:nvSpPr>
        <p:spPr>
          <a:xfrm>
            <a:off x="3390058" y="3294888"/>
            <a:ext cx="8021654" cy="13746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3390058" y="3294888"/>
            <a:ext cx="8021654" cy="64008"/>
          </a:xfrm>
          <a:prstGeom prst="rect">
            <a:avLst/>
          </a:prstGeom>
          <a:solidFill>
            <a:srgbClr val="3A7D7B"/>
          </a:solidFill>
          <a:ln>
            <a:noFill/>
          </a:ln>
          <a:effectLst/>
        </p:spPr>
        <p:txBody>
          <a:bodyPr rtlCol="0" anchor="ctr"/>
          <a:lstStyle/>
          <a:p>
            <a:pPr algn="ctr"/>
          </a:p>
        </p:txBody>
      </p:sp>
      <p:sp>
        <p:nvSpPr>
          <p:cNvPr id="14" name="Oval 13"/>
          <p:cNvSpPr/>
          <p:nvPr/>
        </p:nvSpPr>
        <p:spPr>
          <a:xfrm>
            <a:off x="3572938" y="3790188"/>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3572938" y="379018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4121578" y="3294888"/>
            <a:ext cx="7107254" cy="1374648"/>
          </a:xfrm>
          <a:prstGeom prst="rect">
            <a:avLst/>
          </a:prstGeom>
          <a:noFill/>
        </p:spPr>
        <p:txBody>
          <a:bodyPr wrap="square" anchor="ctr">
            <a:spAutoFit/>
          </a:bodyPr>
          <a:lstStyle/>
          <a:p>
            <a:pPr algn="l">
              <a:spcAft>
                <a:spcPts val="200"/>
              </a:spcAft>
            </a:pPr>
            <a:r>
              <a:rPr sz="1400" b="1">
                <a:solidFill>
                  <a:srgbClr val="21201C"/>
                </a:solidFill>
                <a:latin typeface="Calibri"/>
              </a:rPr>
              <a:t>One preference per line</a:t>
            </a:r>
          </a:p>
          <a:p>
            <a:pPr algn="l">
              <a:spcAft>
                <a:spcPts val="200"/>
              </a:spcAft>
            </a:pPr>
            <a:r>
              <a:rPr sz="1200" b="0">
                <a:solidFill>
                  <a:srgbClr val="6B6862"/>
                </a:solidFill>
                <a:latin typeface="Calibri"/>
              </a:rPr>
              <a:t>Charts, colours, layout and PivotTable field names.</a:t>
            </a:r>
          </a:p>
        </p:txBody>
      </p:sp>
      <p:sp>
        <p:nvSpPr>
          <p:cNvPr id="17" name="Rounded Rectangle 16"/>
          <p:cNvSpPr/>
          <p:nvPr/>
        </p:nvSpPr>
        <p:spPr>
          <a:xfrm>
            <a:off x="3390058" y="4779264"/>
            <a:ext cx="8021654" cy="13746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3390058" y="4779264"/>
            <a:ext cx="8021654" cy="64008"/>
          </a:xfrm>
          <a:prstGeom prst="rect">
            <a:avLst/>
          </a:prstGeom>
          <a:solidFill>
            <a:srgbClr val="5B4B8A"/>
          </a:solidFill>
          <a:ln>
            <a:noFill/>
          </a:ln>
          <a:effectLst/>
        </p:spPr>
        <p:txBody>
          <a:bodyPr rtlCol="0" anchor="ctr"/>
          <a:lstStyle/>
          <a:p>
            <a:pPr algn="ctr"/>
          </a:p>
        </p:txBody>
      </p:sp>
      <p:sp>
        <p:nvSpPr>
          <p:cNvPr id="19" name="Oval 18"/>
          <p:cNvSpPr/>
          <p:nvPr/>
        </p:nvSpPr>
        <p:spPr>
          <a:xfrm>
            <a:off x="3572938" y="5274564"/>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3572938" y="527456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4121578" y="4779264"/>
            <a:ext cx="7107254" cy="1374648"/>
          </a:xfrm>
          <a:prstGeom prst="rect">
            <a:avLst/>
          </a:prstGeom>
          <a:noFill/>
        </p:spPr>
        <p:txBody>
          <a:bodyPr wrap="square" anchor="ctr">
            <a:spAutoFit/>
          </a:bodyPr>
          <a:lstStyle/>
          <a:p>
            <a:pPr algn="l">
              <a:spcAft>
                <a:spcPts val="200"/>
              </a:spcAft>
            </a:pPr>
            <a:r>
              <a:rPr sz="1400" b="1">
                <a:solidFill>
                  <a:srgbClr val="21201C"/>
                </a:solidFill>
                <a:latin typeface="Calibri"/>
              </a:rPr>
              <a:t>Save, then New chat</a:t>
            </a:r>
          </a:p>
          <a:p>
            <a:pPr algn="l">
              <a:spcAft>
                <a:spcPts val="200"/>
              </a:spcAft>
            </a:pPr>
            <a:r>
              <a:rPr sz="1200" b="0">
                <a:solidFill>
                  <a:srgbClr val="6B6862"/>
                </a:solidFill>
                <a:latin typeface="Calibri"/>
              </a:rPr>
              <a:t>The preferences now apply in every workbook you open.</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Workbook Rules: The .Rules Sheet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sheet named .Rules, one rule per cell in column A. Copilot follows it in this workbook.</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Short prompts, consistent results - and anyone who opens the file gets the same rules.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Give a one-line prompt and check the result follows every rule.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How .Rules Works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3A7D7B"/>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 &gt; Create workbook rules adds a sheet named .Rules with starter rules.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3A7D7B"/>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Write one rule per cell in column A, under ## headings, with an example.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3A7D7B"/>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On every prompt in this file, Copilot reads the visible .Rules sheet first.</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3A7D7B"/>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Your short prompt + the rules = the same result every time.</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3A7D7B"/>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3A7D7B"/>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Share the file: the rules travel with it - no setup for colleagues.</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Workbook Rules: The .Rules Sheet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 &gt; Create workbook rules (adds the .Rules sheet).</a:t>
            </a:r>
          </a:p>
          <a:p>
            <a:pPr>
              <a:spcAft>
                <a:spcPts val="1000"/>
              </a:spcAft>
            </a:pPr>
            <a:r>
              <a:rPr sz="1600" b="0">
                <a:solidFill>
                  <a:srgbClr val="21201C"/>
                </a:solidFill>
                <a:latin typeface="Calibri"/>
              </a:rPr>
              <a:t>•  Status must be one of: Open, In Progress, On Hold, Completed, Cancelled. WIP = In Progress.</a:t>
            </a:r>
          </a:p>
          <a:p>
            <a:pPr>
              <a:spcAft>
                <a:spcPts val="1000"/>
              </a:spcAft>
            </a:pPr>
            <a:r>
              <a:rPr sz="1600" b="0">
                <a:solidFill>
                  <a:srgbClr val="21201C"/>
                </a:solidFill>
                <a:latin typeface="Calibri"/>
              </a:rPr>
              <a:t>•  Create Orders_Clean with a clean copy of Orders_Raw, following the workbook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Exactly 5 statuses and 5 regions.</a:t>
            </a:r>
          </a:p>
          <a:p>
            <a:pPr>
              <a:spcAft>
                <a:spcPts val="1000"/>
              </a:spcAft>
            </a:pPr>
            <a:r>
              <a:rPr sz="1600" b="0">
                <a:solidFill>
                  <a:srgbClr val="21201C"/>
                </a:solidFill>
                <a:latin typeface="Calibri"/>
              </a:rPr>
              <a:t>•  A hidden .Rules sheet is ignored.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COMPARE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Personalization vs .Rules vs Skills</a:t>
            </a:r>
          </a:p>
        </p:txBody>
      </p:sp>
      <p:sp>
        <p:nvSpPr>
          <p:cNvPr id="5" name="Rectangle 4"/>
          <p:cNvSpPr/>
          <p:nvPr/>
        </p:nvSpPr>
        <p:spPr>
          <a:xfrm>
            <a:off x="2404872" y="1783080"/>
            <a:ext cx="295656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2404872" y="1783080"/>
            <a:ext cx="2956560" cy="457200"/>
          </a:xfrm>
          <a:prstGeom prst="rect">
            <a:avLst/>
          </a:prstGeom>
          <a:noFill/>
        </p:spPr>
        <p:txBody>
          <a:bodyPr wrap="square" anchor="ctr">
            <a:spAutoFit/>
          </a:bodyPr>
          <a:lstStyle/>
          <a:p>
            <a:pPr algn="ctr">
              <a:spcAft>
                <a:spcPts val="400"/>
              </a:spcAft>
            </a:pPr>
            <a:r>
              <a:rPr sz="1500" b="1">
                <a:solidFill>
                  <a:srgbClr val="FFFFFF"/>
                </a:solidFill>
                <a:latin typeface="Calibri"/>
              </a:rPr>
              <a:t>Personalization</a:t>
            </a:r>
          </a:p>
        </p:txBody>
      </p:sp>
      <p:sp>
        <p:nvSpPr>
          <p:cNvPr id="7" name="Rectangle 6"/>
          <p:cNvSpPr/>
          <p:nvPr/>
        </p:nvSpPr>
        <p:spPr>
          <a:xfrm>
            <a:off x="5416296" y="1783080"/>
            <a:ext cx="2956560" cy="457200"/>
          </a:xfrm>
          <a:prstGeom prst="rect">
            <a:avLst/>
          </a:prstGeom>
          <a:solidFill>
            <a:srgbClr val="3A7D7B"/>
          </a:solidFill>
          <a:ln>
            <a:noFill/>
          </a:ln>
          <a:effectLst/>
        </p:spPr>
        <p:txBody>
          <a:bodyPr rtlCol="0" anchor="ctr"/>
          <a:lstStyle/>
          <a:p>
            <a:pPr algn="ctr"/>
          </a:p>
        </p:txBody>
      </p:sp>
      <p:sp>
        <p:nvSpPr>
          <p:cNvPr id="8" name="TextBox 7"/>
          <p:cNvSpPr txBox="1"/>
          <p:nvPr/>
        </p:nvSpPr>
        <p:spPr>
          <a:xfrm>
            <a:off x="5416296" y="1783080"/>
            <a:ext cx="2956560" cy="457200"/>
          </a:xfrm>
          <a:prstGeom prst="rect">
            <a:avLst/>
          </a:prstGeom>
          <a:noFill/>
        </p:spPr>
        <p:txBody>
          <a:bodyPr wrap="square" anchor="ctr">
            <a:spAutoFit/>
          </a:bodyPr>
          <a:lstStyle/>
          <a:p>
            <a:pPr algn="ctr">
              <a:spcAft>
                <a:spcPts val="400"/>
              </a:spcAft>
            </a:pPr>
            <a:r>
              <a:rPr sz="1500" b="1">
                <a:solidFill>
                  <a:srgbClr val="FFFFFF"/>
                </a:solidFill>
                <a:latin typeface="Calibri"/>
              </a:rPr>
              <a:t>.Rules sheet</a:t>
            </a:r>
          </a:p>
        </p:txBody>
      </p:sp>
      <p:sp>
        <p:nvSpPr>
          <p:cNvPr id="9" name="Rectangle 8"/>
          <p:cNvSpPr/>
          <p:nvPr/>
        </p:nvSpPr>
        <p:spPr>
          <a:xfrm>
            <a:off x="8427720" y="1783080"/>
            <a:ext cx="2956560" cy="457200"/>
          </a:xfrm>
          <a:prstGeom prst="rect">
            <a:avLst/>
          </a:prstGeom>
          <a:solidFill>
            <a:srgbClr val="5B4B8A"/>
          </a:solidFill>
          <a:ln>
            <a:noFill/>
          </a:ln>
          <a:effectLst/>
        </p:spPr>
        <p:txBody>
          <a:bodyPr rtlCol="0" anchor="ctr"/>
          <a:lstStyle/>
          <a:p>
            <a:pPr algn="ctr"/>
          </a:p>
        </p:txBody>
      </p:sp>
      <p:sp>
        <p:nvSpPr>
          <p:cNvPr id="10" name="TextBox 9"/>
          <p:cNvSpPr txBox="1"/>
          <p:nvPr/>
        </p:nvSpPr>
        <p:spPr>
          <a:xfrm>
            <a:off x="8427720" y="1783080"/>
            <a:ext cx="2956560" cy="457200"/>
          </a:xfrm>
          <a:prstGeom prst="rect">
            <a:avLst/>
          </a:prstGeom>
          <a:noFill/>
        </p:spPr>
        <p:txBody>
          <a:bodyPr wrap="square" anchor="ctr">
            <a:spAutoFit/>
          </a:bodyPr>
          <a:lstStyle/>
          <a:p>
            <a:pPr algn="ctr">
              <a:spcAft>
                <a:spcPts val="400"/>
              </a:spcAft>
            </a:pPr>
            <a:r>
              <a:rPr sz="1500" b="1">
                <a:solidFill>
                  <a:srgbClr val="FFFFFF"/>
                </a:solidFill>
                <a:latin typeface="Calibri"/>
              </a:rPr>
              <a:t>Skill</a:t>
            </a:r>
          </a:p>
        </p:txBody>
      </p:sp>
      <p:sp>
        <p:nvSpPr>
          <p:cNvPr id="11" name="Rounded Rectangle 10"/>
          <p:cNvSpPr/>
          <p:nvPr/>
        </p:nvSpPr>
        <p:spPr>
          <a:xfrm>
            <a:off x="777240" y="2295144"/>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86968" y="2295144"/>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What it is</a:t>
            </a:r>
          </a:p>
        </p:txBody>
      </p:sp>
      <p:sp>
        <p:nvSpPr>
          <p:cNvPr id="13" name="TextBox 12"/>
          <p:cNvSpPr txBox="1"/>
          <p:nvPr/>
        </p:nvSpPr>
        <p:spPr>
          <a:xfrm>
            <a:off x="2487168" y="229514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Your preferences for how Copilot works</a:t>
            </a:r>
          </a:p>
        </p:txBody>
      </p:sp>
      <p:sp>
        <p:nvSpPr>
          <p:cNvPr id="14" name="TextBox 13"/>
          <p:cNvSpPr txBox="1"/>
          <p:nvPr/>
        </p:nvSpPr>
        <p:spPr>
          <a:xfrm>
            <a:off x="5498592" y="229514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Guidelines for one workbook</a:t>
            </a:r>
          </a:p>
        </p:txBody>
      </p:sp>
      <p:sp>
        <p:nvSpPr>
          <p:cNvPr id="15" name="TextBox 14"/>
          <p:cNvSpPr txBox="1"/>
          <p:nvPr/>
        </p:nvSpPr>
        <p:spPr>
          <a:xfrm>
            <a:off x="8510016" y="229514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 recipe for one repeatable task</a:t>
            </a:r>
          </a:p>
        </p:txBody>
      </p:sp>
      <p:sp>
        <p:nvSpPr>
          <p:cNvPr id="16" name="TextBox 15"/>
          <p:cNvSpPr txBox="1"/>
          <p:nvPr/>
        </p:nvSpPr>
        <p:spPr>
          <a:xfrm>
            <a:off x="886968" y="2856846"/>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Where it lives</a:t>
            </a:r>
          </a:p>
        </p:txBody>
      </p:sp>
      <p:sp>
        <p:nvSpPr>
          <p:cNvPr id="17" name="TextBox 16"/>
          <p:cNvSpPr txBox="1"/>
          <p:nvPr/>
        </p:nvSpPr>
        <p:spPr>
          <a:xfrm>
            <a:off x="2487168" y="285684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Your Microsoft 365 account</a:t>
            </a:r>
          </a:p>
        </p:txBody>
      </p:sp>
      <p:sp>
        <p:nvSpPr>
          <p:cNvPr id="18" name="TextBox 17"/>
          <p:cNvSpPr txBox="1"/>
          <p:nvPr/>
        </p:nvSpPr>
        <p:spPr>
          <a:xfrm>
            <a:off x="5498592" y="285684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 visible sheet named .Rules in the file</a:t>
            </a:r>
          </a:p>
        </p:txBody>
      </p:sp>
      <p:sp>
        <p:nvSpPr>
          <p:cNvPr id="19" name="TextBox 18"/>
          <p:cNvSpPr txBox="1"/>
          <p:nvPr/>
        </p:nvSpPr>
        <p:spPr>
          <a:xfrm>
            <a:off x="8510016" y="285684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Built in, or SKILL.md in your OneDrive skills folder</a:t>
            </a:r>
          </a:p>
        </p:txBody>
      </p:sp>
      <p:sp>
        <p:nvSpPr>
          <p:cNvPr id="20" name="Rounded Rectangle 19"/>
          <p:cNvSpPr/>
          <p:nvPr/>
        </p:nvSpPr>
        <p:spPr>
          <a:xfrm>
            <a:off x="777240" y="3418548"/>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86968" y="3418548"/>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Applies to</a:t>
            </a:r>
          </a:p>
        </p:txBody>
      </p:sp>
      <p:sp>
        <p:nvSpPr>
          <p:cNvPr id="22" name="TextBox 21"/>
          <p:cNvSpPr txBox="1"/>
          <p:nvPr/>
        </p:nvSpPr>
        <p:spPr>
          <a:xfrm>
            <a:off x="2487168" y="3418548"/>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You, in every workbook, on any device</a:t>
            </a:r>
          </a:p>
        </p:txBody>
      </p:sp>
      <p:sp>
        <p:nvSpPr>
          <p:cNvPr id="23" name="TextBox 22"/>
          <p:cNvSpPr txBox="1"/>
          <p:nvPr/>
        </p:nvSpPr>
        <p:spPr>
          <a:xfrm>
            <a:off x="5498592" y="3418548"/>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Anyone using Copilot in this workbook</a:t>
            </a:r>
          </a:p>
        </p:txBody>
      </p:sp>
      <p:sp>
        <p:nvSpPr>
          <p:cNvPr id="24" name="TextBox 23"/>
          <p:cNvSpPr txBox="1"/>
          <p:nvPr/>
        </p:nvSpPr>
        <p:spPr>
          <a:xfrm>
            <a:off x="8510016" y="3418548"/>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Any workbook, when you call @name</a:t>
            </a:r>
          </a:p>
        </p:txBody>
      </p:sp>
      <p:sp>
        <p:nvSpPr>
          <p:cNvPr id="25" name="TextBox 24"/>
          <p:cNvSpPr txBox="1"/>
          <p:nvPr/>
        </p:nvSpPr>
        <p:spPr>
          <a:xfrm>
            <a:off x="886968" y="3980250"/>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Shared?</a:t>
            </a:r>
          </a:p>
        </p:txBody>
      </p:sp>
      <p:sp>
        <p:nvSpPr>
          <p:cNvPr id="26" name="TextBox 25"/>
          <p:cNvSpPr txBox="1"/>
          <p:nvPr/>
        </p:nvSpPr>
        <p:spPr>
          <a:xfrm>
            <a:off x="2487168" y="3980250"/>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No - only you</a:t>
            </a:r>
          </a:p>
        </p:txBody>
      </p:sp>
      <p:sp>
        <p:nvSpPr>
          <p:cNvPr id="27" name="TextBox 26"/>
          <p:cNvSpPr txBox="1"/>
          <p:nvPr/>
        </p:nvSpPr>
        <p:spPr>
          <a:xfrm>
            <a:off x="5498592" y="3980250"/>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Yes - it travels with the file</a:t>
            </a:r>
          </a:p>
        </p:txBody>
      </p:sp>
      <p:sp>
        <p:nvSpPr>
          <p:cNvPr id="28" name="TextBox 27"/>
          <p:cNvSpPr txBox="1"/>
          <p:nvPr/>
        </p:nvSpPr>
        <p:spPr>
          <a:xfrm>
            <a:off x="8510016" y="3980250"/>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Only with people who install the same skill</a:t>
            </a:r>
          </a:p>
        </p:txBody>
      </p:sp>
      <p:sp>
        <p:nvSpPr>
          <p:cNvPr id="29" name="Rounded Rectangle 28"/>
          <p:cNvSpPr/>
          <p:nvPr/>
        </p:nvSpPr>
        <p:spPr>
          <a:xfrm>
            <a:off x="777240" y="4541952"/>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TextBox 29"/>
          <p:cNvSpPr txBox="1"/>
          <p:nvPr/>
        </p:nvSpPr>
        <p:spPr>
          <a:xfrm>
            <a:off x="886968" y="4541952"/>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Set up</a:t>
            </a:r>
          </a:p>
        </p:txBody>
      </p:sp>
      <p:sp>
        <p:nvSpPr>
          <p:cNvPr id="31" name="TextBox 30"/>
          <p:cNvSpPr txBox="1"/>
          <p:nvPr/>
        </p:nvSpPr>
        <p:spPr>
          <a:xfrm>
            <a:off x="2487168" y="4541952"/>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Settings (...) &gt; Personalization</a:t>
            </a:r>
          </a:p>
        </p:txBody>
      </p:sp>
      <p:sp>
        <p:nvSpPr>
          <p:cNvPr id="32" name="TextBox 31"/>
          <p:cNvSpPr txBox="1"/>
          <p:nvPr/>
        </p:nvSpPr>
        <p:spPr>
          <a:xfrm>
            <a:off x="5498592" y="4541952"/>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 &gt; Create workbook rules</a:t>
            </a:r>
          </a:p>
        </p:txBody>
      </p:sp>
      <p:sp>
        <p:nvSpPr>
          <p:cNvPr id="33" name="TextBox 32"/>
          <p:cNvSpPr txBox="1"/>
          <p:nvPr/>
        </p:nvSpPr>
        <p:spPr>
          <a:xfrm>
            <a:off x="8510016" y="4541952"/>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Manage plugins &amp; skills; custom: OneDrive + Refresh</a:t>
            </a:r>
          </a:p>
        </p:txBody>
      </p:sp>
      <p:sp>
        <p:nvSpPr>
          <p:cNvPr id="34" name="TextBox 33"/>
          <p:cNvSpPr txBox="1"/>
          <p:nvPr/>
        </p:nvSpPr>
        <p:spPr>
          <a:xfrm>
            <a:off x="886968" y="5103654"/>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Best for</a:t>
            </a:r>
          </a:p>
        </p:txBody>
      </p:sp>
      <p:sp>
        <p:nvSpPr>
          <p:cNvPr id="35" name="TextBox 34"/>
          <p:cNvSpPr txBox="1"/>
          <p:nvPr/>
        </p:nvSpPr>
        <p:spPr>
          <a:xfrm>
            <a:off x="2487168" y="510365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Formats, colours, tone you always want</a:t>
            </a:r>
          </a:p>
        </p:txBody>
      </p:sp>
      <p:sp>
        <p:nvSpPr>
          <p:cNvPr id="36" name="TextBox 35"/>
          <p:cNvSpPr txBox="1"/>
          <p:nvPr/>
        </p:nvSpPr>
        <p:spPr>
          <a:xfrm>
            <a:off x="5498592" y="510365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Definitions, valid values, layout</a:t>
            </a:r>
          </a:p>
        </p:txBody>
      </p:sp>
      <p:sp>
        <p:nvSpPr>
          <p:cNvPr id="37" name="TextBox 36"/>
          <p:cNvSpPr txBox="1"/>
          <p:nvPr/>
        </p:nvSpPr>
        <p:spPr>
          <a:xfrm>
            <a:off x="8510016" y="5103654"/>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Multi-step tasks repeated across files</a:t>
            </a:r>
          </a:p>
        </p:txBody>
      </p:sp>
      <p:sp>
        <p:nvSpPr>
          <p:cNvPr id="38" name="Rounded Rectangle 37"/>
          <p:cNvSpPr/>
          <p:nvPr/>
        </p:nvSpPr>
        <p:spPr>
          <a:xfrm>
            <a:off x="777240" y="5665356"/>
            <a:ext cx="10634472" cy="56170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9" name="TextBox 38"/>
          <p:cNvSpPr txBox="1"/>
          <p:nvPr/>
        </p:nvSpPr>
        <p:spPr>
          <a:xfrm>
            <a:off x="886968" y="5665356"/>
            <a:ext cx="1453896" cy="561702"/>
          </a:xfrm>
          <a:prstGeom prst="rect">
            <a:avLst/>
          </a:prstGeom>
          <a:noFill/>
        </p:spPr>
        <p:txBody>
          <a:bodyPr wrap="square" anchor="ctr">
            <a:spAutoFit/>
          </a:bodyPr>
          <a:lstStyle/>
          <a:p>
            <a:pPr algn="l">
              <a:spcAft>
                <a:spcPts val="400"/>
              </a:spcAft>
            </a:pPr>
            <a:r>
              <a:rPr sz="1250" b="1">
                <a:solidFill>
                  <a:srgbClr val="21201C"/>
                </a:solidFill>
                <a:latin typeface="Calibri"/>
              </a:rPr>
              <a:t>Example</a:t>
            </a:r>
          </a:p>
        </p:txBody>
      </p:sp>
      <p:sp>
        <p:nvSpPr>
          <p:cNvPr id="40" name="TextBox 39"/>
          <p:cNvSpPr txBox="1"/>
          <p:nvPr/>
        </p:nvSpPr>
        <p:spPr>
          <a:xfrm>
            <a:off x="2487168" y="566535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Use navy and teal for charts</a:t>
            </a:r>
          </a:p>
        </p:txBody>
      </p:sp>
      <p:sp>
        <p:nvSpPr>
          <p:cNvPr id="41" name="TextBox 40"/>
          <p:cNvSpPr txBox="1"/>
          <p:nvPr/>
        </p:nvSpPr>
        <p:spPr>
          <a:xfrm>
            <a:off x="5498592" y="566535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WIP = In Progress</a:t>
            </a:r>
          </a:p>
        </p:txBody>
      </p:sp>
      <p:sp>
        <p:nvSpPr>
          <p:cNvPr id="42" name="TextBox 41"/>
          <p:cNvSpPr txBox="1"/>
          <p:nvPr/>
        </p:nvSpPr>
        <p:spPr>
          <a:xfrm>
            <a:off x="8510016" y="5665356"/>
            <a:ext cx="2791968" cy="561702"/>
          </a:xfrm>
          <a:prstGeom prst="rect">
            <a:avLst/>
          </a:prstGeom>
          <a:noFill/>
        </p:spPr>
        <p:txBody>
          <a:bodyPr wrap="square" anchor="ctr">
            <a:spAutoFit/>
          </a:bodyPr>
          <a:lstStyle/>
          <a:p>
            <a:pPr algn="l">
              <a:spcAft>
                <a:spcPts val="400"/>
              </a:spcAft>
            </a:pPr>
            <a:r>
              <a:rPr sz="1150" b="0">
                <a:solidFill>
                  <a:srgbClr val="21201C"/>
                </a:solidFill>
                <a:latin typeface="Calibri"/>
              </a:rPr>
              <a:t>@pareto-chart Job_Category</a:t>
            </a:r>
          </a:p>
        </p:txBody>
      </p:sp>
      <p:sp>
        <p:nvSpPr>
          <p:cNvPr id="43" name="TextBox 4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45" name="TextBox 4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WHICH ONE?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Personalization, Rules and Skills Compared</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WHERE DOES IT GO?</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REMEMBER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'Always show currency as S$ with 2 decimals' → Personalization</a:t>
            </a:r>
          </a:p>
          <a:p>
            <a:pPr>
              <a:spcAft>
                <a:spcPts val="1000"/>
              </a:spcAft>
            </a:pPr>
            <a:r>
              <a:rPr sz="1600" b="0">
                <a:solidFill>
                  <a:srgbClr val="21201C"/>
                </a:solidFill>
                <a:latin typeface="Calibri"/>
              </a:rPr>
              <a:t>•  'In this workbook, WIP means In Progress' → .Rules</a:t>
            </a:r>
          </a:p>
          <a:p>
            <a:pPr>
              <a:spcAft>
                <a:spcPts val="1000"/>
              </a:spcAft>
            </a:pPr>
            <a:r>
              <a:rPr sz="1600" b="0">
                <a:solidFill>
                  <a:srgbClr val="21201C"/>
                </a:solidFill>
                <a:latin typeface="Calibri"/>
              </a:rPr>
              <a:t>•  'Plot a Pareto chart of any category column' → Skill</a:t>
            </a:r>
          </a:p>
          <a:p>
            <a:pPr>
              <a:spcAft>
                <a:spcPts val="1000"/>
              </a:spcAft>
            </a:pPr>
            <a:r>
              <a:rPr sz="1600" b="0">
                <a:solidFill>
                  <a:srgbClr val="21201C"/>
                </a:solidFill>
                <a:latin typeface="Calibri"/>
              </a:rPr>
              <a:t>•  'Charts in this client report use the client's colours' → .Rules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Your prompt overrides Personalization.</a:t>
            </a:r>
          </a:p>
          <a:p>
            <a:pPr>
              <a:spcAft>
                <a:spcPts val="1000"/>
              </a:spcAft>
            </a:pPr>
            <a:r>
              <a:rPr sz="1600" b="0">
                <a:solidFill>
                  <a:srgbClr val="21201C"/>
                </a:solidFill>
                <a:latin typeface="Calibri"/>
              </a:rPr>
              <a:t>•  A hidden .Rules sheet is ignored.</a:t>
            </a:r>
          </a:p>
          <a:p>
            <a:pPr>
              <a:spcAft>
                <a:spcPts val="1000"/>
              </a:spcAft>
            </a:pPr>
            <a:r>
              <a:rPr sz="1600" b="0">
                <a:solidFill>
                  <a:srgbClr val="21201C"/>
                </a:solidFill>
                <a:latin typeface="Calibri"/>
              </a:rPr>
              <a:t>•  A custom skill works only once installed in OneDrive.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 &amp;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Clean Messy Client Orders with Cleanup, Personalisation and Rules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order system exports client orders that several people typed by hand: 'WIP', 'in progress' and 'Ongoing' all mean In Progress, regions are written 23 ways and client names carry 'Pte Ltd' suffixes. You will save your own preferences in Personalization, try Copilot's automated cleanup, then create a .Rules sheet that defines the workbook's standards. With the rules in place, a one-line prompt builds a clean table, and the same rules shape the XLOOKUP and budget columns you add next.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Your Personalization (saved to your account) and BrightPath_Client_Orders_Raw.xlsx with a .Rules sheet, a clean tblOrdersClean table (5 statuses, 5 regions, 12 clients), Rate, Delivered_Value, Budget_Used and Over_Budget columns, and a Checks sheet that proves the clean-up</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Personalise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Automated cleanup</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Create .Rules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Apply the rules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Rules + XLOOKUP</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Personalization · Clean data with Copilot · .Rules worksheet · XLOOKUP</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Create rules:  </a:t>
            </a:r>
            <a:r>
              <a:rPr sz="1200" b="0">
                <a:solidFill>
                  <a:srgbClr val="21201C"/>
                </a:solidFill>
                <a:latin typeface="Calibri"/>
              </a:rPr>
              <a:t>Create a .Rules worksheet based on the formatting already used in this workbook.</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reads the workbook's current formats (dates, money, tables) and writes them as rules on a new .Rules sheet.</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Add a rule:  </a:t>
            </a:r>
            <a:r>
              <a:rPr sz="1200" b="0">
                <a:solidFill>
                  <a:srgbClr val="21201C"/>
                </a:solidFill>
                <a:latin typeface="Calibri"/>
              </a:rPr>
              <a:t>Add a rule to my .Rules worksheet that all charts should use navy #1F4E79 and teal #2A9D8F.</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Adds one line to column A of .Rules; from now on every chart Copilot makes in this workbook uses those colours.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Apply rules:  </a:t>
            </a:r>
            <a:r>
              <a:rPr sz="1200" b="0">
                <a:solidFill>
                  <a:srgbClr val="21201C"/>
                </a:solidFill>
                <a:latin typeface="Calibri"/>
              </a:rPr>
              <a:t>Create a new sheet Orders_Clean with a clean copy of Orders_Raw, following the workbook rules.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one-line prompt is enough: Copilot reads .Rules and applies every rule - statuses, regions, client names, dates, money - to a clean copy.</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Find variants:  </a:t>
            </a:r>
            <a:r>
              <a:rPr sz="1200" b="0">
                <a:solidFill>
                  <a:srgbClr val="21201C"/>
                </a:solidFill>
                <a:latin typeface="Calibri"/>
              </a:rPr>
              <a:t>List the distinct values in Status and Region with counts, and group the ones that mean the same thing.</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Lists each spelling with its count and groups variants such as WIP and In Progress, so you know what the rules must fix.</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Rules + lookup:  </a:t>
            </a:r>
            <a:r>
              <a:rPr sz="1200" b="0">
                <a:solidFill>
                  <a:srgbClr val="21201C"/>
                </a:solidFill>
                <a:latin typeface="Calibri"/>
              </a:rPr>
              <a:t>Add Rate from tblRateCard by Owner and Delivered_Value = Hours_Logged x Rate to tblOrdersClean.</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Rate: =XLOOKUP([@Owner], tblRateCard[Owner], tblRateCard[Hourly_Rate]) finds the owner's rate. Delivered_Value: =[@Hours_Logged]*[@Rate], hours x rate.</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Orders and distinct values (Checks B1:B4)</a:t>
            </a:r>
          </a:p>
          <a:p>
            <a:pPr algn="l">
              <a:spcAft>
                <a:spcPts val="300"/>
              </a:spcAft>
            </a:pPr>
            <a:r>
              <a:rPr sz="1300" b="0">
                <a:solidFill>
                  <a:srgbClr val="6B6862"/>
                </a:solidFill>
                <a:latin typeface="Calibri"/>
              </a:rPr>
              <a:t>64 orders; 5 statuses, 5 regions, 12 clients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Status counts</a:t>
            </a:r>
          </a:p>
          <a:p>
            <a:pPr algn="l">
              <a:spcAft>
                <a:spcPts val="300"/>
              </a:spcAft>
            </a:pPr>
            <a:r>
              <a:rPr sz="1300" b="0">
                <a:solidFill>
                  <a:srgbClr val="6B6862"/>
                </a:solidFill>
                <a:latin typeface="Calibri"/>
              </a:rPr>
              <a:t>Open 10, In Progress 24, On Hold 6, Completed 21, Cancelled 3</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Paused orders</a:t>
            </a:r>
          </a:p>
          <a:p>
            <a:pPr algn="l">
              <a:spcAft>
                <a:spcPts val="300"/>
              </a:spcAft>
            </a:pPr>
            <a:r>
              <a:rPr sz="1300" b="0">
                <a:solidFill>
                  <a:srgbClr val="6B6862"/>
                </a:solidFill>
                <a:latin typeface="Calibri"/>
              </a:rPr>
              <a:t>ORD-302 and ORD-303 are On Hold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 budget (B6)</a:t>
            </a:r>
          </a:p>
          <a:p>
            <a:pPr algn="l">
              <a:spcAft>
                <a:spcPts val="300"/>
              </a:spcAft>
            </a:pPr>
            <a:r>
              <a:rPr sz="1300" b="0">
                <a:solidFill>
                  <a:srgbClr val="6B6862"/>
                </a:solidFill>
                <a:latin typeface="Calibri"/>
              </a:rPr>
              <a:t>S$3,250,500</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Delivered value and over budget (B7, B8)</a:t>
            </a:r>
          </a:p>
          <a:p>
            <a:pPr algn="l">
              <a:spcAft>
                <a:spcPts val="300"/>
              </a:spcAft>
            </a:pPr>
            <a:r>
              <a:rPr sz="1300" b="0">
                <a:solidFill>
                  <a:srgbClr val="6B6862"/>
                </a:solidFill>
                <a:latin typeface="Calibri"/>
              </a:rPr>
              <a:t>S$1,961,030; 10 orders over budget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Sample ORD-326</a:t>
            </a:r>
          </a:p>
          <a:p>
            <a:pPr algn="l">
              <a:spcAft>
                <a:spcPts val="300"/>
              </a:spcAft>
            </a:pPr>
            <a:r>
              <a:rPr sz="1300" b="0">
                <a:solidFill>
                  <a:srgbClr val="6B6862"/>
                </a:solidFill>
                <a:latin typeface="Calibri"/>
              </a:rPr>
              <a:t>358 h x S$115 = S$41,170 vs budget S$36,500 - Over_Budget Yes</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Built-in Skills: Chart Design and Theme Design</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Ready-made skills you call with @: @chart-design plots the chart, @theme-design gives the workbook one look.</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Expert chart and style choices in one line - you still direct the position and colours.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Reproduce every plotted number on a Checks sheet.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Built-in Skills: Chart Design and Theme Design</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@chart-design Create a combo chart of MRR and active clients by month, over A1:H18.</a:t>
            </a:r>
          </a:p>
          <a:p>
            <a:pPr>
              <a:spcAft>
                <a:spcPts val="1000"/>
              </a:spcAft>
            </a:pPr>
            <a:r>
              <a:rPr sz="1600" b="0">
                <a:solidFill>
                  <a:srgbClr val="21201C"/>
                </a:solidFill>
                <a:latin typeface="Calibri"/>
              </a:rPr>
              <a:t>•  @chart-design Recommend the best chart for new vs churned clients by month, then create it.</a:t>
            </a:r>
          </a:p>
          <a:p>
            <a:pPr>
              <a:spcAft>
                <a:spcPts val="1000"/>
              </a:spcAft>
            </a:pPr>
            <a:r>
              <a:rPr sz="1600" b="0">
                <a:solidFill>
                  <a:srgbClr val="21201C"/>
                </a:solidFill>
                <a:latin typeface="Calibri"/>
              </a:rPr>
              <a:t>•  @theme-design Apply one clean, professional theme to the Charts sheet.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Four charts in a 2 x 2 grid, one clean style.</a:t>
            </a:r>
          </a:p>
          <a:p>
            <a:pPr>
              <a:spcAft>
                <a:spcPts val="1000"/>
              </a:spcAft>
            </a:pPr>
            <a:r>
              <a:rPr sz="1600" b="0">
                <a:solidFill>
                  <a:srgbClr val="21201C"/>
                </a:solidFill>
                <a:latin typeface="Calibri"/>
              </a:rPr>
              <a:t>•  Every chart matches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Turning Built-in Skills On</a:t>
            </a:r>
          </a:p>
        </p:txBody>
      </p:sp>
      <p:sp>
        <p:nvSpPr>
          <p:cNvPr id="5" name="Rectangle 4"/>
          <p:cNvSpPr/>
          <p:nvPr/>
        </p:nvSpPr>
        <p:spPr>
          <a:xfrm>
            <a:off x="731520" y="1764792"/>
            <a:ext cx="2518634" cy="4434840"/>
          </a:xfrm>
          <a:prstGeom prst="rect">
            <a:avLst/>
          </a:prstGeom>
          <a:solidFill>
            <a:srgbClr val="DCD8CF"/>
          </a:solidFill>
          <a:ln>
            <a:noFill/>
          </a:ln>
          <a:effectLst/>
        </p:spPr>
        <p:txBody>
          <a:bodyPr rtlCol="0" anchor="ctr"/>
          <a:lstStyle/>
          <a:p>
            <a:pPr algn="ctr"/>
          </a:p>
        </p:txBody>
      </p:sp>
      <p:pic>
        <p:nvPicPr>
          <p:cNvPr id="6" name="Picture 5" descr="manage-skills.png"/>
          <p:cNvPicPr>
            <a:picLocks noChangeAspect="1"/>
          </p:cNvPicPr>
          <p:nvPr/>
        </p:nvPicPr>
        <p:blipFill>
          <a:blip r:embed="rId2"/>
          <a:stretch>
            <a:fillRect/>
          </a:stretch>
        </p:blipFill>
        <p:spPr>
          <a:xfrm>
            <a:off x="777240" y="1810512"/>
            <a:ext cx="2427194" cy="4343400"/>
          </a:xfrm>
          <a:prstGeom prst="rect">
            <a:avLst/>
          </a:prstGeom>
        </p:spPr>
      </p:pic>
      <p:sp>
        <p:nvSpPr>
          <p:cNvPr id="7" name="Rounded Rectangle 6"/>
          <p:cNvSpPr/>
          <p:nvPr/>
        </p:nvSpPr>
        <p:spPr>
          <a:xfrm>
            <a:off x="3570194" y="1810512"/>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3570194" y="1810512"/>
            <a:ext cx="7841518" cy="64008"/>
          </a:xfrm>
          <a:prstGeom prst="rect">
            <a:avLst/>
          </a:prstGeom>
          <a:solidFill>
            <a:srgbClr val="D97757"/>
          </a:solidFill>
          <a:ln>
            <a:noFill/>
          </a:ln>
          <a:effectLst/>
        </p:spPr>
        <p:txBody>
          <a:bodyPr rtlCol="0" anchor="ctr"/>
          <a:lstStyle/>
          <a:p>
            <a:pPr algn="ctr"/>
          </a:p>
        </p:txBody>
      </p:sp>
      <p:sp>
        <p:nvSpPr>
          <p:cNvPr id="9" name="Oval 8"/>
          <p:cNvSpPr/>
          <p:nvPr/>
        </p:nvSpPr>
        <p:spPr>
          <a:xfrm>
            <a:off x="3753074"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3753074"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4301714" y="1810512"/>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Settings (...) &gt; Manage plugins &amp; skills</a:t>
            </a:r>
          </a:p>
          <a:p>
            <a:pPr algn="l">
              <a:spcAft>
                <a:spcPts val="200"/>
              </a:spcAft>
            </a:pPr>
            <a:r>
              <a:rPr sz="1200" b="0">
                <a:solidFill>
                  <a:srgbClr val="6B6862"/>
                </a:solidFill>
                <a:latin typeface="Calibri"/>
              </a:rPr>
              <a:t>Opens the Skills dialog.</a:t>
            </a:r>
          </a:p>
        </p:txBody>
      </p:sp>
      <p:sp>
        <p:nvSpPr>
          <p:cNvPr id="12" name="Rounded Rectangle 11"/>
          <p:cNvSpPr/>
          <p:nvPr/>
        </p:nvSpPr>
        <p:spPr>
          <a:xfrm>
            <a:off x="3570194" y="2923794"/>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3570194" y="2923794"/>
            <a:ext cx="7841518" cy="64008"/>
          </a:xfrm>
          <a:prstGeom prst="rect">
            <a:avLst/>
          </a:prstGeom>
          <a:solidFill>
            <a:srgbClr val="3A7D7B"/>
          </a:solidFill>
          <a:ln>
            <a:noFill/>
          </a:ln>
          <a:effectLst/>
        </p:spPr>
        <p:txBody>
          <a:bodyPr rtlCol="0" anchor="ctr"/>
          <a:lstStyle/>
          <a:p>
            <a:pPr algn="ctr"/>
          </a:p>
        </p:txBody>
      </p:sp>
      <p:sp>
        <p:nvSpPr>
          <p:cNvPr id="14" name="Oval 13"/>
          <p:cNvSpPr/>
          <p:nvPr/>
        </p:nvSpPr>
        <p:spPr>
          <a:xfrm>
            <a:off x="3753074"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3753074"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4301714" y="2923794"/>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Visualisation &gt; chart-design</a:t>
            </a:r>
          </a:p>
          <a:p>
            <a:pPr algn="l">
              <a:spcAft>
                <a:spcPts val="200"/>
              </a:spcAft>
            </a:pPr>
            <a:r>
              <a:rPr sz="1200" b="0">
                <a:solidFill>
                  <a:srgbClr val="6B6862"/>
                </a:solidFill>
                <a:latin typeface="Calibri"/>
              </a:rPr>
              <a:t>Off by default - turn it on.</a:t>
            </a:r>
          </a:p>
        </p:txBody>
      </p:sp>
      <p:sp>
        <p:nvSpPr>
          <p:cNvPr id="17" name="Rounded Rectangle 16"/>
          <p:cNvSpPr/>
          <p:nvPr/>
        </p:nvSpPr>
        <p:spPr>
          <a:xfrm>
            <a:off x="3570194" y="4037076"/>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3570194" y="4037076"/>
            <a:ext cx="7841518" cy="64008"/>
          </a:xfrm>
          <a:prstGeom prst="rect">
            <a:avLst/>
          </a:prstGeom>
          <a:solidFill>
            <a:srgbClr val="5B4B8A"/>
          </a:solidFill>
          <a:ln>
            <a:noFill/>
          </a:ln>
          <a:effectLst/>
        </p:spPr>
        <p:txBody>
          <a:bodyPr rtlCol="0" anchor="ctr"/>
          <a:lstStyle/>
          <a:p>
            <a:pPr algn="ctr"/>
          </a:p>
        </p:txBody>
      </p:sp>
      <p:sp>
        <p:nvSpPr>
          <p:cNvPr id="19" name="Oval 18"/>
          <p:cNvSpPr/>
          <p:nvPr/>
        </p:nvSpPr>
        <p:spPr>
          <a:xfrm>
            <a:off x="3753074"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3753074"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4301714" y="4037076"/>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Formatting &gt; theme-design</a:t>
            </a:r>
          </a:p>
          <a:p>
            <a:pPr algn="l">
              <a:spcAft>
                <a:spcPts val="200"/>
              </a:spcAft>
            </a:pPr>
            <a:r>
              <a:rPr sz="1200" b="0">
                <a:solidFill>
                  <a:srgbClr val="6B6862"/>
                </a:solidFill>
                <a:latin typeface="Calibri"/>
              </a:rPr>
              <a:t>Turn it on if the Formatting folder is shown.</a:t>
            </a:r>
          </a:p>
        </p:txBody>
      </p:sp>
      <p:sp>
        <p:nvSpPr>
          <p:cNvPr id="22" name="Rounded Rectangle 21"/>
          <p:cNvSpPr/>
          <p:nvPr/>
        </p:nvSpPr>
        <p:spPr>
          <a:xfrm>
            <a:off x="3570194" y="5150358"/>
            <a:ext cx="7841518"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3570194" y="5150358"/>
            <a:ext cx="7841518" cy="64008"/>
          </a:xfrm>
          <a:prstGeom prst="rect">
            <a:avLst/>
          </a:prstGeom>
          <a:solidFill>
            <a:srgbClr val="C2603F"/>
          </a:solidFill>
          <a:ln>
            <a:noFill/>
          </a:ln>
          <a:effectLst/>
        </p:spPr>
        <p:txBody>
          <a:bodyPr rtlCol="0" anchor="ctr"/>
          <a:lstStyle/>
          <a:p>
            <a:pPr algn="ctr"/>
          </a:p>
        </p:txBody>
      </p:sp>
      <p:sp>
        <p:nvSpPr>
          <p:cNvPr id="24" name="Oval 23"/>
          <p:cNvSpPr/>
          <p:nvPr/>
        </p:nvSpPr>
        <p:spPr>
          <a:xfrm>
            <a:off x="3753074"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3753074"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4301714" y="5150358"/>
            <a:ext cx="6927118" cy="1003554"/>
          </a:xfrm>
          <a:prstGeom prst="rect">
            <a:avLst/>
          </a:prstGeom>
          <a:noFill/>
        </p:spPr>
        <p:txBody>
          <a:bodyPr wrap="square" anchor="ctr">
            <a:spAutoFit/>
          </a:bodyPr>
          <a:lstStyle/>
          <a:p>
            <a:pPr algn="l">
              <a:spcAft>
                <a:spcPts val="200"/>
              </a:spcAft>
            </a:pPr>
            <a:r>
              <a:rPr sz="1400" b="1">
                <a:solidFill>
                  <a:srgbClr val="21201C"/>
                </a:solidFill>
                <a:latin typeface="Calibri"/>
              </a:rPr>
              <a:t>Type @ in the prompt box</a:t>
            </a:r>
          </a:p>
          <a:p>
            <a:pPr algn="l">
              <a:spcAft>
                <a:spcPts val="200"/>
              </a:spcAft>
            </a:pPr>
            <a:r>
              <a:rPr sz="1200" b="0">
                <a:solidFill>
                  <a:srgbClr val="6B6862"/>
                </a:solidFill>
                <a:latin typeface="Calibri"/>
              </a:rPr>
              <a:t>An enabled skill appears in the list.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Themes: One Look for the Whole Workbook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theme is one set of colours, fonts and formats for cells, tables and charts. @theme-design applies it from a prompt.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report looks like one piece, not four charts with four styles.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Style last, then confirm the values and formulas did not change.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Themes: One Look for the Whole Workbook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STYLE IT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@theme-design Apply one clean, professional theme to the Charts and Checks sheets.</a:t>
            </a:r>
          </a:p>
          <a:p>
            <a:pPr>
              <a:spcAft>
                <a:spcPts val="1000"/>
              </a:spcAft>
            </a:pPr>
            <a:r>
              <a:rPr sz="1600" b="0">
                <a:solidFill>
                  <a:srgbClr val="21201C"/>
                </a:solidFill>
                <a:latin typeface="Calibri"/>
              </a:rPr>
              <a:t>•  @theme-design Use navy #1F4E79 and teal #2A9D8F as the main colours.</a:t>
            </a:r>
          </a:p>
          <a:p>
            <a:pPr>
              <a:spcAft>
                <a:spcPts val="1000"/>
              </a:spcAft>
            </a:pPr>
            <a:r>
              <a:rPr sz="1600" b="0">
                <a:solidFill>
                  <a:srgbClr val="21201C"/>
                </a:solidFill>
                <a:latin typeface="Calibri"/>
              </a:rPr>
              <a:t>•  @brandkit Apply our organisation's brand colours and fonts to the charts.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All four charts share colours and fonts.</a:t>
            </a:r>
          </a:p>
          <a:p>
            <a:pPr>
              <a:spcAft>
                <a:spcPts val="1000"/>
              </a:spcAft>
            </a:pPr>
            <a:r>
              <a:rPr sz="1600" b="0">
                <a:solidFill>
                  <a:srgbClr val="21201C"/>
                </a:solidFill>
                <a:latin typeface="Calibri"/>
              </a:rPr>
              <a:t>•  The Checks values are unchanged.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BUILT-IN SKILLS: VISUAL DESIGN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Plot and Style Client Growth Charts with Built-in Visual Skills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HR-outsourcing business sells monthly payroll and HR services to client companies, and leadership wants four clear charts of how it is growing. You will switch on the built-in visual skills in Manage plugins &amp; skills, then call @chart-design to plot each chart - it picks the chart type and formats it using the Excel design team's guidance - and place all four in a 2 x 2 grid on a new Charts sheet. You will polish the set, ask Copilot for a Checks sheet that proves the numbers behind the charts, and finish with @theme-design to give the sheet one coordinated theme.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BrightPath_HR_Outsourcing_Finance.xlsx with a Charts sheet of four skill-designed charts in a 2 x 2 grid (MRR and clients, new vs churned clients, H1 2026 spend by channel, active clients by plan), a Checks sheet that agrees with the charts, and one consistent theme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Manage skills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@chart-design: plot</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@chart-design: polish</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Check the numbers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@theme-design</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(Allow editing, Chat only) · Manage plugins &amp; skills · @chart-design · @theme-design</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Find skills:  </a:t>
            </a:r>
            <a:r>
              <a:rPr sz="1200" b="0">
                <a:solidFill>
                  <a:srgbClr val="21201C"/>
                </a:solidFill>
                <a:latin typeface="Calibri"/>
              </a:rPr>
              <a:t>Which skills do you have for charts and formatting? When would I use each one?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Chat only: Copilot lists the skills for charts and formatting and says when each one helps.</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Chart skill:  </a:t>
            </a:r>
            <a:r>
              <a:rPr sz="1200" b="0">
                <a:solidFill>
                  <a:srgbClr val="21201C"/>
                </a:solidFill>
                <a:latin typeface="Calibri"/>
              </a:rPr>
              <a:t>@chart-design Recommend the best chart for new vs churned clients by month, then create it.</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Chart-design picks a chart type that compares the two series month by month, then draws it.</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Chart skill:  </a:t>
            </a:r>
            <a:r>
              <a:rPr sz="1200" b="0">
                <a:solidFill>
                  <a:srgbClr val="21201C"/>
                </a:solidFill>
                <a:latin typeface="Calibri"/>
              </a:rPr>
              <a:t>@chart-design Chart the sales and marketing spend for each Channel in H1 2026 as bars, longest first.</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Totals the H1 2026 spend of each channel and draws bars, longest first - LinkedIn Ads (S$191,590) leads.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Style skill:  </a:t>
            </a:r>
            <a:r>
              <a:rPr sz="1200" b="0">
                <a:solidFill>
                  <a:srgbClr val="21201C"/>
                </a:solidFill>
                <a:latin typeface="Calibri"/>
              </a:rPr>
              <a:t>@theme-design Apply a coordinated theme to this workbook.</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Calls theme-design: one coordinated set of colours, fonts and formats for cells, tables and charts.</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Colours:  </a:t>
            </a:r>
            <a:r>
              <a:rPr sz="1200" b="0">
                <a:solidFill>
                  <a:srgbClr val="21201C"/>
                </a:solidFill>
                <a:latin typeface="Calibri"/>
              </a:rPr>
              <a:t>@theme-design Use navy #1F4E79 and teal #2A9D8F as the main colours on every chart.</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Directs the theme with your own colours - navy for the main series, teal for comparisons.</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MRR and active clients, Jun 2026</a:t>
            </a:r>
          </a:p>
          <a:p>
            <a:pPr algn="l">
              <a:spcAft>
                <a:spcPts val="300"/>
              </a:spcAft>
            </a:pPr>
            <a:r>
              <a:rPr sz="1300" b="0">
                <a:solidFill>
                  <a:srgbClr val="6B6862"/>
                </a:solidFill>
                <a:latin typeface="Calibri"/>
              </a:rPr>
              <a:t>S$482,200; 131 clients (Jan 2025 MRR S$238,200)</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New and churned clients, 18 months</a:t>
            </a:r>
          </a:p>
          <a:p>
            <a:pPr algn="l">
              <a:spcAft>
                <a:spcPts val="300"/>
              </a:spcAft>
            </a:pPr>
            <a:r>
              <a:rPr sz="1300" b="0">
                <a:solidFill>
                  <a:srgbClr val="6B6862"/>
                </a:solidFill>
                <a:latin typeface="Calibri"/>
              </a:rPr>
              <a:t>98 new; 27 churned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H1 2026 spend, longest and shortest bar</a:t>
            </a:r>
          </a:p>
          <a:p>
            <a:pPr algn="l">
              <a:spcAft>
                <a:spcPts val="300"/>
              </a:spcAft>
            </a:pPr>
            <a:r>
              <a:rPr sz="1300" b="0">
                <a:solidFill>
                  <a:srgbClr val="6B6862"/>
                </a:solidFill>
                <a:latin typeface="Calibri"/>
              </a:rPr>
              <a:t>LinkedIn Ads S$191,590; Referral S$41,440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H1 2026 spend, all channels</a:t>
            </a:r>
          </a:p>
          <a:p>
            <a:pPr algn="l">
              <a:spcAft>
                <a:spcPts val="300"/>
              </a:spcAft>
            </a:pPr>
            <a:r>
              <a:rPr sz="1300" b="0">
                <a:solidFill>
                  <a:srgbClr val="6B6862"/>
                </a:solidFill>
                <a:latin typeface="Calibri"/>
              </a:rPr>
              <a:t>S$560,420</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Active clients by plan</a:t>
            </a:r>
          </a:p>
          <a:p>
            <a:pPr algn="l">
              <a:spcAft>
                <a:spcPts val="300"/>
              </a:spcAft>
            </a:pPr>
            <a:r>
              <a:rPr sz="1300" b="0">
                <a:solidFill>
                  <a:srgbClr val="6B6862"/>
                </a:solidFill>
                <a:latin typeface="Calibri"/>
              </a:rPr>
              <a:t>56 + 49 + 26 = 131</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Charts sheet</a:t>
            </a:r>
          </a:p>
          <a:p>
            <a:pPr algn="l">
              <a:spcAft>
                <a:spcPts val="300"/>
              </a:spcAft>
            </a:pPr>
            <a:r>
              <a:rPr sz="1300" b="0">
                <a:solidFill>
                  <a:srgbClr val="6B6862"/>
                </a:solidFill>
                <a:latin typeface="Calibri"/>
              </a:rPr>
              <a:t>Four charts in a 2 x 2 grid, one clean style, one theme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The SKILL.md Recipe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SKILL.md file in its own OneDrive folder: name and description at the top, plain-English steps below.</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Turns a long, repeated prompt into a one-line @mention that works in any workbook.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name = name: line. Select Refresh after every change.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Custom Skills: The SKILL.md Recipe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SET IT UP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 &gt; Manage plugins &amp; skills &gt; Custom skills &gt; Add in OneDrive.</a:t>
            </a:r>
          </a:p>
          <a:p>
            <a:pPr>
              <a:spcAft>
                <a:spcPts val="1000"/>
              </a:spcAft>
            </a:pPr>
            <a:r>
              <a:rPr sz="1600" b="0">
                <a:solidFill>
                  <a:srgbClr val="21201C"/>
                </a:solidFill>
                <a:latin typeface="Calibri"/>
              </a:rPr>
              <a:t>•  New folder: pareto-chart; upload SKILL.md into it.</a:t>
            </a:r>
          </a:p>
          <a:p>
            <a:pPr>
              <a:spcAft>
                <a:spcPts val="1000"/>
              </a:spcAft>
            </a:pPr>
            <a:r>
              <a:rPr sz="1600" b="0">
                <a:solidFill>
                  <a:srgbClr val="21201C"/>
                </a:solidFill>
                <a:latin typeface="Calibri"/>
              </a:rPr>
              <a:t>•  Custom skills &gt; Refresh; turn the skill on.</a:t>
            </a:r>
          </a:p>
          <a:p>
            <a:pPr>
              <a:spcAft>
                <a:spcPts val="1000"/>
              </a:spcAft>
            </a:pPr>
            <a:r>
              <a:rPr sz="1600" b="0">
                <a:solidFill>
                  <a:srgbClr val="21201C"/>
                </a:solidFill>
                <a:latin typeface="Calibri"/>
              </a:rPr>
              <a:t>•  @pareto-chart Plot a Pareto chart of Job_Category in tblJobs.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skill appears when you type @.</a:t>
            </a:r>
          </a:p>
          <a:p>
            <a:pPr>
              <a:spcAft>
                <a:spcPts val="1000"/>
              </a:spcAft>
            </a:pPr>
            <a:r>
              <a:rPr sz="1600" b="0">
                <a:solidFill>
                  <a:srgbClr val="21201C"/>
                </a:solidFill>
                <a:latin typeface="Calibri"/>
              </a:rPr>
              <a:t>•  It runs from one 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Upload the Skill to OneDrive</a:t>
            </a:r>
          </a:p>
        </p:txBody>
      </p:sp>
      <p:sp>
        <p:nvSpPr>
          <p:cNvPr id="5" name="Rectangle 4"/>
          <p:cNvSpPr/>
          <p:nvPr/>
        </p:nvSpPr>
        <p:spPr>
          <a:xfrm>
            <a:off x="1380961" y="1792224"/>
            <a:ext cx="9429773" cy="422452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1435825" y="1847088"/>
            <a:ext cx="9320045" cy="4114800"/>
          </a:xfrm>
          <a:prstGeom prst="rect">
            <a:avLst/>
          </a:prstGeom>
        </p:spPr>
      </p:pic>
      <p:sp>
        <p:nvSpPr>
          <p:cNvPr id="7" name="TextBox 6"/>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6B6862"/>
                </a:solidFill>
                <a:latin typeface="Calibri"/>
              </a:rPr>
              <a:t>OneDrive &gt; Documents &gt; Copilot &gt; Microsoft Excel &gt; skills. Create or upload &gt; Folder: pareto-chart, then upload SKILL.md into it. The sample make-calendar.example shows the layout.</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Using Copilot to Write and Improve a Skill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task to Microsoft 365 Copilot on the web (copilot.cloud.microsoft) and it writes the whole SKILL.md for you.</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coding needed - and a skill gets better each time you add a correction to it.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Read every step before saving, and test the skill on a copy first.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Using Copilot to Write and Improve a Skill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Write a SKILL.md named pareto-chart that plots a Pareto chart, a different colour for each column.</a:t>
            </a:r>
          </a:p>
          <a:p>
            <a:pPr>
              <a:spcAft>
                <a:spcPts val="1000"/>
              </a:spcAft>
            </a:pPr>
            <a:r>
              <a:rPr sz="1600" b="0">
                <a:solidFill>
                  <a:srgbClr val="21201C"/>
                </a:solidFill>
                <a:latin typeface="Calibri"/>
              </a:rPr>
              <a:t>•  Return only the SKILL.md text, starting with the --- front matter.</a:t>
            </a:r>
          </a:p>
          <a:p>
            <a:pPr>
              <a:spcAft>
                <a:spcPts val="1000"/>
              </a:spcAft>
            </a:pPr>
            <a:r>
              <a:rPr sz="1600" b="0">
                <a:solidFill>
                  <a:srgbClr val="21201C"/>
                </a:solidFill>
                <a:latin typeface="Calibri"/>
              </a:rPr>
              <a:t>•  Update the skill so the chart also shows a dashed 80% line.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500 jobs, 16 categories; 6 reach 83%.</a:t>
            </a:r>
          </a:p>
          <a:p>
            <a:pPr>
              <a:spcAft>
                <a:spcPts val="1000"/>
              </a:spcAft>
            </a:pPr>
            <a:r>
              <a:rPr sz="1600" b="0">
                <a:solidFill>
                  <a:srgbClr val="21201C"/>
                </a:solidFill>
                <a:latin typeface="Calibri"/>
              </a:rPr>
              <a:t>•  A different colour for every column.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Pareto Charts: Finding the Vital Few</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Columns sorted high to low plus a cumulative % line: the few categories behind most of the total.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It tells you where to act first - the vital few - instead of spreading effort over every category.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Count total equals the number of rows, and the line ends at 100%.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Pareto Charts: Finding the Vital Few</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READ THE CHART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@pareto-chart Plot a Pareto chart of Job_Category in tblJobs.</a:t>
            </a:r>
          </a:p>
          <a:p>
            <a:pPr>
              <a:spcAft>
                <a:spcPts val="1000"/>
              </a:spcAft>
            </a:pPr>
            <a:r>
              <a:rPr sz="1600" b="0">
                <a:solidFill>
                  <a:srgbClr val="21201C"/>
                </a:solidFill>
                <a:latin typeface="Calibri"/>
              </a:rPr>
              <a:t>•  Which job categories together make up 80% of the postings?</a:t>
            </a:r>
          </a:p>
          <a:p>
            <a:pPr>
              <a:spcAft>
                <a:spcPts val="1000"/>
              </a:spcAft>
            </a:pPr>
            <a:r>
              <a:rPr sz="1600" b="0">
                <a:solidFill>
                  <a:srgbClr val="21201C"/>
                </a:solidFill>
                <a:latin typeface="Calibri"/>
              </a:rPr>
              <a:t>•  Explain how to read this Pareto chart.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Customer Service leads: 145 of 500 jobs.</a:t>
            </a:r>
          </a:p>
          <a:p>
            <a:pPr>
              <a:spcAft>
                <a:spcPts val="1000"/>
              </a:spcAft>
            </a:pPr>
            <a:r>
              <a:rPr sz="1600" b="0">
                <a:solidFill>
                  <a:srgbClr val="21201C"/>
                </a:solidFill>
                <a:latin typeface="Calibri"/>
              </a:rPr>
              <a:t>•  6 of 16 categories reach 83%.</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CUSTOM SKILLS: PARETO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Use Copilot to Build a Custom Pareto-Chart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 received 500 job postings from clients in H1 2026, spread over 16 job categories. Which few categories make up most of the work? A Pareto chart answers that: bars sorted from highest to lowest and a cumulative % line that shows where the 'vital few' end. Excel's built-in Pareto chart paints every bar the same colour, so you will write a custom skill instead. You will ask Copilot on the web to write the pareto-chart SKILL.md, save it, upload it to your OneDrive skills folder, install it in Excel and call it with @ to plot the job categories - then reuse it on another column and improve it.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pareto-chart skill in your OneDrive skills folder, and BrightPath_Job_Postings.xlsx with a Pareto_Job_Category sheet and a Pareto_Client_Sector sheet - each a summary table and a Pareto chart with a different colour for every bar - plus a Checks sheet</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Draft on the web</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Save SKILL.md</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Upload to OneDrive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Install in Excel</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@pareto-chart</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web (https://copilot.cloud.microsoft/) to draft the skill · OneDrive skills folder · Excel Copilot (Chat only, Allow editing) · SKILL.md</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Write a skill · Microsoft 365 Copilot web:  </a:t>
            </a:r>
            <a:r>
              <a:rPr sz="1200" b="0">
                <a:solidFill>
                  <a:srgbClr val="21201C"/>
                </a:solidFill>
                <a:latin typeface="Calibri"/>
              </a:rPr>
              <a:t>In the web chat at https://copilot.cloud.microsoft/, use the complete Step 2 prompt below to draft pareto-chart. It describes the table, columns and chart because the web chat cannot see your workbook.</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on the web writes the whole pareto-chart SKILL.md. You save it and upload it to the OneDrive skills folder.</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Call the skill:  </a:t>
            </a:r>
            <a:r>
              <a:rPr sz="1200" b="0">
                <a:solidFill>
                  <a:srgbClr val="21201C"/>
                </a:solidFill>
                <a:latin typeface="Calibri"/>
              </a:rPr>
              <a:t>@pareto-chart Plot a Pareto chart of Job_Category in tblJobs.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Runs your skill: sorted counts, a cumulative % line and a different colour for each column - Customer Service (145 jobs) leads.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Reuse:  </a:t>
            </a:r>
            <a:r>
              <a:rPr sz="1200" b="0">
                <a:solidFill>
                  <a:srgbClr val="21201C"/>
                </a:solidFill>
                <a:latin typeface="Calibri"/>
              </a:rPr>
              <a:t>@pareto-chart Plot a Pareto chart of Client_Sector in tblJobs.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The same skill on another column - no need to repeat the instructions.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Check:  </a:t>
            </a:r>
            <a:r>
              <a:rPr sz="1200" b="0">
                <a:solidFill>
                  <a:srgbClr val="21201C"/>
                </a:solidFill>
                <a:latin typeface="Calibri"/>
              </a:rPr>
              <a:t>Add a Checks sheet with formulas that count all the jobs and the Customer Service jobs, so I can check the Pareto chart.</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writes the check formulas: 500 jobs in all and 145 Customer Service jobs - they must match the chart.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Vital few:  </a:t>
            </a:r>
            <a:r>
              <a:rPr sz="1200" b="0">
                <a:solidFill>
                  <a:srgbClr val="21201C"/>
                </a:solidFill>
                <a:latin typeface="Calibri"/>
              </a:rPr>
              <a:t>Which job categories together make up 80% of the postings? Show their combined share.</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Adds up the shares until 80% is passed: the first six categories make up 83.0%.</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Top category</a:t>
            </a:r>
          </a:p>
          <a:p>
            <a:pPr algn="l">
              <a:spcAft>
                <a:spcPts val="300"/>
              </a:spcAft>
            </a:pPr>
            <a:r>
              <a:rPr sz="1300" b="0">
                <a:solidFill>
                  <a:srgbClr val="6B6862"/>
                </a:solidFill>
                <a:latin typeface="Calibri"/>
              </a:rPr>
              <a:t>Customer Service: 145 of 500 jobs (29.0%); 16 categories in all</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Vital few</a:t>
            </a:r>
          </a:p>
          <a:p>
            <a:pPr algn="l">
              <a:spcAft>
                <a:spcPts val="300"/>
              </a:spcAft>
            </a:pPr>
            <a:r>
              <a:rPr sz="1300" b="0">
                <a:solidFill>
                  <a:srgbClr val="6B6862"/>
                </a:solidFill>
                <a:latin typeface="Calibri"/>
              </a:rPr>
              <a:t>6 of 16 categories reach 83.0% (80% is passed at Nursing &amp; Healthcare)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Pareto chart</a:t>
            </a:r>
          </a:p>
          <a:p>
            <a:pPr algn="l">
              <a:spcAft>
                <a:spcPts val="300"/>
              </a:spcAft>
            </a:pPr>
            <a:r>
              <a:rPr sz="1300" b="0">
                <a:solidFill>
                  <a:srgbClr val="6B6862"/>
                </a:solidFill>
                <a:latin typeface="Calibri"/>
              </a:rPr>
              <a:t>Columns high to low, a different colour for each, cumulative % line 0-100% on a secondary axis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Client_Sector Pareto</a:t>
            </a:r>
          </a:p>
          <a:p>
            <a:pPr algn="l">
              <a:spcAft>
                <a:spcPts val="300"/>
              </a:spcAft>
            </a:pPr>
            <a:r>
              <a:rPr sz="1300" b="0">
                <a:solidFill>
                  <a:srgbClr val="6B6862"/>
                </a:solidFill>
                <a:latin typeface="Calibri"/>
              </a:rPr>
              <a:t>Technology first (149 jobs, 29.8%); 4 sectors reach 80.8%</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Improved skill</a:t>
            </a:r>
          </a:p>
          <a:p>
            <a:pPr algn="l">
              <a:spcAft>
                <a:spcPts val="300"/>
              </a:spcAft>
            </a:pPr>
            <a:r>
              <a:rPr sz="1300" b="0">
                <a:solidFill>
                  <a:srgbClr val="6B6862"/>
                </a:solidFill>
                <a:latin typeface="Calibri"/>
              </a:rPr>
              <a:t>6 categories under 2% grouped into Other (29 jobs, 5.8%)</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pareto-chart appears when you type @ and runs from a one-line prompt</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Skills and Rules</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Personalisation: Your own preferences, saved once in Settings and applied in every workbook.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.Rules: One workbook's standards in a visible .Rules sheet, so a one-line prompt cleans the data.</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Built-in skills: @chart-design plots the charts and @theme-design gives them one look - checked against a Checks sheet.</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Custom skills: A pareto-chart SKILL.md written with Copilot, uploaded to OneDrive, installed and reused with one @mention.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Interactive Dashboards with Copilot, Skills and Rules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What a skill is: reusable, installed in OneDrive · designing a highly visual dashboard · KPI definitions and style in .Rules · plan, build and polish with skills · slicers, timelines and refresh · a reusable dashboard skill · sharing people dashboards responsibly</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7-8</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Interactive Dashboards with Copilot, Skills and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Define each KPI first</a:t>
            </a:r>
          </a:p>
          <a:p>
            <a:pPr algn="l">
              <a:spcAft>
                <a:spcPts val="300"/>
              </a:spcAft>
            </a:pPr>
            <a:r>
              <a:rPr sz="1400" b="0">
                <a:solidFill>
                  <a:srgbClr val="6B6862"/>
                </a:solidFill>
                <a:latin typeface="Calibri"/>
              </a:rPr>
              <a:t>Write the formula in .Rules, e.g. Cost per hire = total sourcing cost / hires.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Put the standards in .Rules</a:t>
            </a:r>
          </a:p>
          <a:p>
            <a:pPr algn="l">
              <a:spcAft>
                <a:spcPts val="300"/>
              </a:spcAft>
            </a:pPr>
            <a:r>
              <a:rPr sz="1400" b="0">
                <a:solidFill>
                  <a:srgbClr val="6B6862"/>
                </a:solidFill>
                <a:latin typeface="Calibri"/>
              </a:rPr>
              <a:t>KPI definitions, layout and colours in the rules keep the build prompt short.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Plan, then build</a:t>
            </a:r>
          </a:p>
          <a:p>
            <a:pPr algn="l">
              <a:spcAft>
                <a:spcPts val="300"/>
              </a:spcAft>
            </a:pPr>
            <a:r>
              <a:rPr sz="1400" b="0">
                <a:solidFill>
                  <a:srgbClr val="6B6862"/>
                </a:solidFill>
                <a:latin typeface="Calibri"/>
              </a:rPr>
              <a:t>Plan mode shows the dashboard plan. Fix a wrong KPI before Copilot copies it into five charts.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visual</a:t>
            </a:r>
          </a:p>
          <a:p>
            <a:pPr algn="l">
              <a:spcAft>
                <a:spcPts val="300"/>
              </a:spcAft>
            </a:pPr>
            <a:r>
              <a:rPr sz="1400" b="0">
                <a:solidFill>
                  <a:srgbClr val="6B6862"/>
                </a:solidFill>
                <a:latin typeface="Calibri"/>
              </a:rPr>
              <a:t>KPI cards on top, charts in a grid, traffic-light colours, then @chart-design and @theme-design to polish.</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interactive</a:t>
            </a:r>
          </a:p>
          <a:p>
            <a:pPr algn="l">
              <a:spcAft>
                <a:spcPts val="300"/>
              </a:spcAft>
            </a:pPr>
            <a:r>
              <a:rPr sz="1400" b="0">
                <a:solidFill>
                  <a:srgbClr val="6B6862"/>
                </a:solidFill>
                <a:latin typeface="Calibri"/>
              </a:rPr>
              <a:t>Slicers and a timeline filter every PivotTable and chart at once, and the KPI cards must follow.</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Make it repeatable and safe</a:t>
            </a:r>
          </a:p>
          <a:p>
            <a:pPr algn="l">
              <a:spcAft>
                <a:spcPts val="300"/>
              </a:spcAft>
            </a:pPr>
            <a:r>
              <a:rPr sz="1400" b="0">
                <a:solidFill>
                  <a:srgbClr val="6B6862"/>
                </a:solidFill>
                <a:latin typeface="Calibri"/>
              </a:rPr>
              <a:t>Save the recipe as a skill, test refresh with new rows, and hide groups under 5 people.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Interactive Dashboards with Copilot, Skills and Rules</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7</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Interactive Dashboard</a:t>
            </a:r>
          </a:p>
          <a:p>
            <a:pPr>
              <a:spcAft>
                <a:spcPts val="900"/>
              </a:spcAft>
            </a:pPr>
            <a:r>
              <a:rPr sz="1200" b="0">
                <a:solidFill>
                  <a:srgbClr val="6B6862"/>
                </a:solidFill>
                <a:latin typeface="Calibri"/>
              </a:rPr>
              <a:t>–  Build an Interactive Recruitment Dashboard with Rules and Skills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8</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Skill, Refresh &amp; Share</a:t>
            </a:r>
          </a:p>
          <a:p>
            <a:pPr>
              <a:spcAft>
                <a:spcPts val="900"/>
              </a:spcAft>
            </a:pPr>
            <a:r>
              <a:rPr sz="1200" b="0">
                <a:solidFill>
                  <a:srgbClr val="6B6862"/>
                </a:solidFill>
                <a:latin typeface="Calibri"/>
              </a:rPr>
              <a:t>–  Turn the Dashboard into a Reusable Skill, Refresh It and Share It Safely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Skill?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recipe Copilot runs from one @mention in any workbook. A custom skill must be installed in OneDrive.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Write the steps once; every workbook and every month gets the same result.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Type @ in the prompt box: an installed, enabled skill appears in the list.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Copilot — What Is a Skill?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INSTALL A SKILL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Settings (...) &gt; Manage plugins &amp; skills &gt; Custom skills &gt; Add in OneDrive.</a:t>
            </a:r>
          </a:p>
          <a:p>
            <a:pPr>
              <a:spcAft>
                <a:spcPts val="1000"/>
              </a:spcAft>
            </a:pPr>
            <a:r>
              <a:rPr sz="1600" b="0">
                <a:solidFill>
                  <a:srgbClr val="21201C"/>
                </a:solidFill>
                <a:latin typeface="Calibri"/>
              </a:rPr>
              <a:t>•  OneDrive: skills &gt; hr-workforce-dashboard &gt; SKILL.md</a:t>
            </a:r>
          </a:p>
          <a:p>
            <a:pPr>
              <a:spcAft>
                <a:spcPts val="1000"/>
              </a:spcAft>
            </a:pPr>
            <a:r>
              <a:rPr sz="1600" b="0">
                <a:solidFill>
                  <a:srgbClr val="21201C"/>
                </a:solidFill>
                <a:latin typeface="Calibri"/>
              </a:rPr>
              <a:t>•  Refresh, turn the skill on, then type @hr in the prompt box.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Folder name = the name: line.</a:t>
            </a:r>
          </a:p>
          <a:p>
            <a:pPr>
              <a:spcAft>
                <a:spcPts val="1000"/>
              </a:spcAft>
            </a:pPr>
            <a:r>
              <a:rPr sz="1600" b="0">
                <a:solidFill>
                  <a:srgbClr val="21201C"/>
                </a:solidFill>
                <a:latin typeface="Calibri"/>
              </a:rPr>
              <a:t>•  Workbook local; skill in OneDrive.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Where Custom Skills Live</a:t>
            </a:r>
          </a:p>
        </p:txBody>
      </p:sp>
      <p:sp>
        <p:nvSpPr>
          <p:cNvPr id="5" name="Rectangle 4"/>
          <p:cNvSpPr/>
          <p:nvPr/>
        </p:nvSpPr>
        <p:spPr>
          <a:xfrm>
            <a:off x="1380961" y="1792224"/>
            <a:ext cx="9429773" cy="422452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1435825" y="1847088"/>
            <a:ext cx="9320045" cy="4114800"/>
          </a:xfrm>
          <a:prstGeom prst="rect">
            <a:avLst/>
          </a:prstGeom>
        </p:spPr>
      </p:pic>
      <p:sp>
        <p:nvSpPr>
          <p:cNvPr id="7" name="TextBox 6"/>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6B6862"/>
                </a:solidFill>
                <a:latin typeface="Calibri"/>
              </a:rPr>
              <a:t>Excel reads custom skills only from OneDrive &gt; Documents &gt; Copilot &gt; Microsoft Excel &gt; skills - one folder per skill. The workbook itself can stay on your computer.</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Designing a Highly Visual Dashboard</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page: KPI cards on top, charts in a grid, slicers at the side, colour that signals status.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Leaders read it in seconds - if every KPI has one agreed definition.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KPI has a formula, a period, a target and an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Designing a Highly Visual Dashboard</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Suggest 5 KPIs for a recruitment dashboard using the columns in tblApps.</a:t>
            </a:r>
          </a:p>
          <a:p>
            <a:pPr>
              <a:spcAft>
                <a:spcPts val="1000"/>
              </a:spcAft>
            </a:pPr>
            <a:r>
              <a:rPr sz="1600" b="0">
                <a:solidFill>
                  <a:srgbClr val="21201C"/>
                </a:solidFill>
                <a:latin typeface="Calibri"/>
              </a:rPr>
              <a:t>•  Write Offer acceptance rate = accepted / (accepted + declined), excluding Pending.</a:t>
            </a:r>
          </a:p>
          <a:p>
            <a:pPr>
              <a:spcAft>
                <a:spcPts val="1000"/>
              </a:spcAft>
            </a:pPr>
            <a:r>
              <a:rPr sz="1600" b="0">
                <a:solidFill>
                  <a:srgbClr val="21201C"/>
                </a:solidFill>
                <a:latin typeface="Calibri"/>
              </a:rPr>
              <a:t>•  Suggest a layout and a 3-colour palette for a one-page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4-6 headline KPIs, not 20.</a:t>
            </a:r>
          </a:p>
          <a:p>
            <a:pPr>
              <a:spcAft>
                <a:spcPts val="1000"/>
              </a:spcAft>
            </a:pPr>
            <a:r>
              <a:rPr sz="1600" b="0">
                <a:solidFill>
                  <a:srgbClr val="21201C"/>
                </a:solidFill>
                <a:latin typeface="Calibri"/>
              </a:rPr>
              <a:t>•  Definitions and colours go into .Rules.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Plan and Build with Rules and Skills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Rules hold the definitions and style; Plan mode shows the build; skills polish the result.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Fix a wrong KPI in the plan before it is copied into five charts.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Click each KPI card: it should hold a formula, not a typed number.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Plan and Build with Rules and Skills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Plan mode: Build a one-page H1 2026 recruitment dashboard following the workbook rules.</a:t>
            </a:r>
          </a:p>
          <a:p>
            <a:pPr>
              <a:spcAft>
                <a:spcPts val="1000"/>
              </a:spcAft>
            </a:pPr>
            <a:r>
              <a:rPr sz="1600" b="0">
                <a:solidFill>
                  <a:srgbClr val="21201C"/>
                </a:solidFill>
                <a:latin typeface="Calibri"/>
              </a:rPr>
              <a:t>•  @chart-design Review every chart: finding-style titles and the rule colours.</a:t>
            </a:r>
          </a:p>
          <a:p>
            <a:pPr>
              <a:spcAft>
                <a:spcPts val="1000"/>
              </a:spcAft>
            </a:pPr>
            <a:r>
              <a:rPr sz="1600" b="0">
                <a:solidFill>
                  <a:srgbClr val="21201C"/>
                </a:solidFill>
                <a:latin typeface="Calibri"/>
              </a:rPr>
              <a:t>•  @theme-design Apply a modern theme that keeps the rule colours.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plan uses the rules' definitions.</a:t>
            </a:r>
          </a:p>
          <a:p>
            <a:pPr>
              <a:spcAft>
                <a:spcPts val="1000"/>
              </a:spcAft>
            </a:pPr>
            <a:r>
              <a:rPr sz="1600" b="0">
                <a:solidFill>
                  <a:srgbClr val="21201C"/>
                </a:solidFill>
                <a:latin typeface="Calibri"/>
              </a:rPr>
              <a:t>•  Each card matches the Checks sheet.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Interactivity: Slicers, Timelines and KPI Cards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Slicers and a timeline filter every PivotTable, PivotChart and KPI card on the page at once.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Leaders answer their own 'what about...?' questions - if the page is wired correctly.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one slicer value and one date range against COUNTIFS, then clear them.</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Interactivity: Slicers, Timelines and KPI Cards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Add slicers for Sector, Source and Recruiter and a timeline on Hire_Date, connected to every PivotTable.</a:t>
            </a:r>
          </a:p>
          <a:p>
            <a:pPr>
              <a:spcAft>
                <a:spcPts val="1000"/>
              </a:spcAft>
            </a:pPr>
            <a:r>
              <a:rPr sz="1600" b="0">
                <a:solidFill>
                  <a:srgbClr val="21201C"/>
                </a:solidFill>
                <a:latin typeface="Calibri"/>
              </a:rPr>
              <a:t>•  Link the KPI cards to the PivotTables with GETPIVOTDATA.</a:t>
            </a:r>
          </a:p>
          <a:p>
            <a:pPr>
              <a:spcAft>
                <a:spcPts val="1000"/>
              </a:spcAft>
            </a:pPr>
            <a:r>
              <a:rPr sz="1600" b="0">
                <a:solidFill>
                  <a:srgbClr val="21201C"/>
                </a:solidFill>
                <a:latin typeface="Calibri"/>
              </a:rPr>
              <a:t>•  Which objects did not change when I selected Technology?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Technology: cards = COUNTIFS checks.</a:t>
            </a:r>
          </a:p>
          <a:p>
            <a:pPr>
              <a:spcAft>
                <a:spcPts val="1000"/>
              </a:spcAft>
            </a:pPr>
            <a:r>
              <a:rPr sz="1600" b="0">
                <a:solidFill>
                  <a:srgbClr val="21201C"/>
                </a:solidFill>
                <a:latin typeface="Calibri"/>
              </a:rPr>
              <a:t>•  Apr-Jun 2026 hires = COUNTIFS on Hire_Date.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INTERACTIVE DASHBOARD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an Interactive Recruitment Dashboard with Rules and Skills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Head of Recruitment wants one page that shows H1 2026 applications, hires, offer acceptance, time to hire, cost per hire and hires against target, and can be filtered by sector, source, recruiter and date. You will put the KPI definitions, layout and colours in a .Rules sheet, so the build prompt stays short. Copilot plans the dashboard in Plan mode, builds it, then @chart-design and @theme-design make it look professional. Finally you prove that every KPI, slicer and the timeline give the right numbers.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BrightPath_Recruitment_Dashboard_Data.xlsx with a .Rules sheet, a Checks sheet, PivotTables on Dash_Data and a Dashboard sheet with six formula-driven KPI cards (one with traffic-light colours), four PivotCharts, Sector, Source and Recruiter slicers and a Hire_Date timeline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.Rules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Build checks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Plan mode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Skills make it visual</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Slice &amp; verify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 Copilot (Plan, Allow editing, Chat only) · .Rules · @chart-design · @theme-design · PivotCharts, slicers, timeline</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Plan:  </a:t>
            </a:r>
            <a:r>
              <a:rPr sz="1200" b="0">
                <a:solidFill>
                  <a:srgbClr val="21201C"/>
                </a:solidFill>
                <a:latin typeface="Calibri"/>
              </a:rPr>
              <a:t>Plan a recruitment dashboard following the workbook rules. Show me the plan first.</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Plan mode: Copilot proposes the dashboard - KPI cards, charts, slicers - using the definitions in .Rules, and waits for your approval.</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KPI card:  </a:t>
            </a:r>
            <a:r>
              <a:rPr sz="1200" b="0">
                <a:solidFill>
                  <a:srgbClr val="21201C"/>
                </a:solidFill>
                <a:latin typeface="Calibri"/>
              </a:rPr>
              <a:t>Create a KPI card for Cost per hire linked to the PivotTable with GETPIVOTDATA, formatted as 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Reads the totals from the PivotTable with GETPIVOTDATA (sourcing cost / hires), so the card follows the slicers instead of showing a fixed number.</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Chart skill:  </a:t>
            </a:r>
            <a:r>
              <a:rPr sz="1200" b="0">
                <a:solidFill>
                  <a:srgbClr val="21201C"/>
                </a:solidFill>
                <a:latin typeface="Calibri"/>
              </a:rPr>
              <a:t>@chart-design Turn the hires-by-month chart into columns for hires and a line for Hire_Target.</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Calls chart-design for a combo chart: hires as columns and the monthly target as a line, so each month is seen against target.</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Timeline:  </a:t>
            </a:r>
            <a:r>
              <a:rPr sz="1200" b="0">
                <a:solidFill>
                  <a:srgbClr val="21201C"/>
                </a:solidFill>
                <a:latin typeface="Calibri"/>
              </a:rPr>
              <a:t>Add a timeline on Hire_Date and connect it to every PivotTable on Dash_Data.</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Adds a date slider for Hire_Date; connected to every PivotTable, it filters all charts and cards together.</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Visual cue:  </a:t>
            </a:r>
            <a:r>
              <a:rPr sz="1200" b="0">
                <a:solidFill>
                  <a:srgbClr val="21201C"/>
                </a:solidFill>
                <a:latin typeface="Calibri"/>
              </a:rPr>
              <a:t>Add data bars to the hires-by-recruiter table and traffic-light colours to the target card.</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Data bars draw a bar inside each cell; traffic-light colours turn the target card green, amber or red by the % reached.</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Applications and hires</a:t>
            </a:r>
          </a:p>
          <a:p>
            <a:pPr algn="l">
              <a:spcAft>
                <a:spcPts val="300"/>
              </a:spcAft>
            </a:pPr>
            <a:r>
              <a:rPr sz="1300" b="0">
                <a:solidFill>
                  <a:srgbClr val="6B6862"/>
                </a:solidFill>
                <a:latin typeface="Calibri"/>
              </a:rPr>
              <a:t>600 applications, 41 hires (no slicer selected)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Offer acceptance rate</a:t>
            </a:r>
          </a:p>
          <a:p>
            <a:pPr algn="l">
              <a:spcAft>
                <a:spcPts val="300"/>
              </a:spcAft>
            </a:pPr>
            <a:r>
              <a:rPr sz="1300" b="0">
                <a:solidFill>
                  <a:srgbClr val="6B6862"/>
                </a:solidFill>
                <a:latin typeface="Calibri"/>
              </a:rPr>
              <a:t>78.8% = 41 of 52; 10 pending excluded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Time to hire, cost per hire</a:t>
            </a:r>
          </a:p>
          <a:p>
            <a:pPr algn="l">
              <a:spcAft>
                <a:spcPts val="300"/>
              </a:spcAft>
            </a:pPr>
            <a:r>
              <a:rPr sz="1300" b="0">
                <a:solidFill>
                  <a:srgbClr val="6B6862"/>
                </a:solidFill>
                <a:latin typeface="Calibri"/>
              </a:rPr>
              <a:t>27.8 days; S$348.20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vs target (amber)</a:t>
            </a:r>
          </a:p>
          <a:p>
            <a:pPr algn="l">
              <a:spcAft>
                <a:spcPts val="300"/>
              </a:spcAft>
            </a:pPr>
            <a:r>
              <a:rPr sz="1300" b="0">
                <a:solidFill>
                  <a:srgbClr val="6B6862"/>
                </a:solidFill>
                <a:latin typeface="Calibri"/>
              </a:rPr>
              <a:t>93.2% = 41 of 44</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Slicer: Sector = Technology</a:t>
            </a:r>
          </a:p>
          <a:p>
            <a:pPr algn="l">
              <a:spcAft>
                <a:spcPts val="300"/>
              </a:spcAft>
            </a:pPr>
            <a:r>
              <a:rPr sz="1300" b="0">
                <a:solidFill>
                  <a:srgbClr val="6B6862"/>
                </a:solidFill>
                <a:latin typeface="Calibri"/>
              </a:rPr>
              <a:t>124 applications, 5 hires, 42.0 days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Timeline: Apr-Jun 2026</a:t>
            </a:r>
          </a:p>
          <a:p>
            <a:pPr algn="l">
              <a:spcAft>
                <a:spcPts val="300"/>
              </a:spcAft>
            </a:pPr>
            <a:r>
              <a:rPr sz="1300" b="0">
                <a:solidFill>
                  <a:srgbClr val="6B6862"/>
                </a:solidFill>
                <a:latin typeface="Calibri"/>
              </a:rPr>
              <a:t>22 hires; no KPI card holds a typed number</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Workforce Measures: Headcount, Attrition and Tenure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Headcount = active staff on a date. Attrition = exits / average headcount. Tenure = years since hire.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Small definition changes move the rate. Written in .Rules, every rebuild uses the same ones.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Average headcount = (opening + closing) / 2 - not closing only.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The Formulas — Workforce Measures: Headcount, Attrition and Tenure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THE FORMULAS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Headcount: =COUNTIFS(tblEmployees[Status],"Active")</a:t>
            </a:r>
          </a:p>
          <a:p>
            <a:pPr>
              <a:spcAft>
                <a:spcPts val="1000"/>
              </a:spcAft>
            </a:pPr>
            <a:r>
              <a:rPr sz="1600" b="0">
                <a:solidFill>
                  <a:srgbClr val="21201C"/>
                </a:solidFill>
                <a:latin typeface="Calibri"/>
              </a:rPr>
              <a:t>•  Average headcount = (opening + closing) / 2</a:t>
            </a:r>
          </a:p>
          <a:p>
            <a:pPr>
              <a:spcAft>
                <a:spcPts val="1000"/>
              </a:spcAft>
            </a:pPr>
            <a:r>
              <a:rPr sz="1600" b="0">
                <a:solidFill>
                  <a:srgbClr val="21201C"/>
                </a:solidFill>
                <a:latin typeface="Calibri"/>
              </a:rPr>
              <a:t>•  Attrition = exits in period / average headcount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29 / 223.5 = 13.0% attrition.</a:t>
            </a:r>
          </a:p>
          <a:p>
            <a:pPr>
              <a:spcAft>
                <a:spcPts val="1000"/>
              </a:spcAft>
            </a:pPr>
            <a:r>
              <a:rPr sz="1600" b="0">
                <a:solidFill>
                  <a:srgbClr val="21201C"/>
                </a:solidFill>
                <a:latin typeface="Calibri"/>
              </a:rPr>
              <a:t>•  No group under 5 people shown alone.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 Reusable Dashboard Skill and the Refresh Test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Draft the dashboard SKILL.md at copilot.cloud.microsoft, install it in Excel, then prove the page refreshes.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Next month's dashboard takes one line - and a refresh test catches static pictures and typed numbers.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Add test rows, refresh all, and confirm each KPI moves by the expected amount.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Copilot — A Reusable Dashboard Skill and the Refresh Test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Microsoft 365 Copilot web: Write a SKILL.md named hr-workforce-dashboard using the full Lab 8 brief.</a:t>
            </a:r>
          </a:p>
          <a:p>
            <a:pPr>
              <a:spcAft>
                <a:spcPts val="1000"/>
              </a:spcAft>
            </a:pPr>
            <a:r>
              <a:rPr sz="1600" b="0">
                <a:solidFill>
                  <a:srgbClr val="21201C"/>
                </a:solidFill>
                <a:latin typeface="Calibri"/>
              </a:rPr>
              <a:t>•  @hr-workforce-dashboard Build the dashboard for the 12 months ending 2026-06-30.</a:t>
            </a:r>
          </a:p>
          <a:p>
            <a:pPr>
              <a:spcAft>
                <a:spcPts val="1000"/>
              </a:spcAft>
            </a:pPr>
            <a:r>
              <a:rPr sz="1600" b="0">
                <a:solidFill>
                  <a:srgbClr val="21201C"/>
                </a:solidFill>
                <a:latin typeface="Calibri"/>
              </a:rPr>
              <a:t>•  Append the 8 new joiners to tblEmployees and refresh all PivotTables.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Active headcount 237 -&gt; 245.</a:t>
            </a:r>
          </a:p>
          <a:p>
            <a:pPr>
              <a:spcAft>
                <a:spcPts val="1000"/>
              </a:spcAft>
            </a:pPr>
            <a:r>
              <a:rPr sz="1600" b="0">
                <a:solidFill>
                  <a:srgbClr val="21201C"/>
                </a:solidFill>
                <a:latin typeface="Calibri"/>
              </a:rPr>
              <a:t>•  Every chart updated.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People Dashboards Responsibly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 dashboards hold sensitive data. Share totals and averages, never individual records.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Anyone who can open the file sees everything in it, including hidden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slicer combination shows a group of fewer than 5 people.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Copilot — Sharing People Dashboards Responsibly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THIS IN COPILOT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Which slicer combinations show fewer than 5 employees?</a:t>
            </a:r>
          </a:p>
          <a:p>
            <a:pPr>
              <a:spcAft>
                <a:spcPts val="1000"/>
              </a:spcAft>
            </a:pPr>
            <a:r>
              <a:rPr sz="1600" b="0">
                <a:solidFill>
                  <a:srgbClr val="21201C"/>
                </a:solidFill>
                <a:latin typeface="Calibri"/>
              </a:rPr>
              <a:t>•  List every element on this sheet that could identify a person.</a:t>
            </a:r>
          </a:p>
          <a:p>
            <a:pPr>
              <a:spcAft>
                <a:spcPts val="1000"/>
              </a:spcAft>
            </a:pPr>
            <a:r>
              <a:rPr sz="1600" b="0">
                <a:solidFill>
                  <a:srgbClr val="21201C"/>
                </a:solidFill>
                <a:latin typeface="Calibri"/>
              </a:rPr>
              <a:t>•  Write a 5-line leadership summary using only numbers on the dashboard.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Privacy rule written in .Rules.</a:t>
            </a:r>
          </a:p>
          <a:p>
            <a:pPr>
              <a:spcAft>
                <a:spcPts val="1000"/>
              </a:spcAft>
            </a:pPr>
            <a:r>
              <a:rPr sz="1600" b="0">
                <a:solidFill>
                  <a:srgbClr val="21201C"/>
                </a:solidFill>
                <a:latin typeface="Calibri"/>
              </a:rPr>
              <a:t>•  Every number in the summary checked.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DASHBOARD SKILL, REFRESH &amp; SHARE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Turn the Dashboard into a Reusable Skill, Refresh It and Share It Safely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BrightPath's HR Director needs the same kind of dashboard every month. Instead of repeating a long brief, you will ask Microsoft 365 Copilot at https://copilot.cloud.microsoft/ to write an hr-workforce-dashboard skill, save it to OneDrive and return to Excel to run it on the workforce workbook, whose .Rules sheet holds the period, the attrition definition and the privacy rule. Then you will append eight July joiners and refresh to prove the dashboard is live, check that no slicer combination exposes fewer than 5 people, and ask Copilot for a short leadership summary.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An hr-workforce-dashboard skill in OneDrive, and BrightPath_Workforce_Headcount.xlsx with a .Rules sheet, helper columns, a Checks sheet and an HR_Dashboard with six KPI cards, four charts and Location and Job_Level slicers - refresh-tested and privacy-checked</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.Rules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Draft skill on the web</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Run skill in Excel</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Refresh test</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Privacy &amp; summary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web (https://copilot.cloud.microsoft/) to draft the skill · Excel Copilot to run it · .Rules · PivotTables, slicers, refresh</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Write a skill · Microsoft 365 Copilot web:  </a:t>
            </a:r>
            <a:r>
              <a:rPr sz="1200" b="0">
                <a:solidFill>
                  <a:srgbClr val="21201C"/>
                </a:solidFill>
                <a:latin typeface="Calibri"/>
              </a:rPr>
              <a:t>In the web chat at https://copilot.cloud.microsoft/, use the complete Step 3 prompt below to draft hr-workforce-dashboard. It includes the workbook schema and rules that this chat cannot see.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Copilot writes the dashboard recipe as a SKILL.md; its first step reads .Rules, so every run uses the same definitions.</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Run a skill:  </a:t>
            </a:r>
            <a:r>
              <a:rPr sz="1200" b="0">
                <a:solidFill>
                  <a:srgbClr val="21201C"/>
                </a:solidFill>
                <a:latin typeface="Calibri"/>
              </a:rPr>
              <a:t>@hr-workforce-dashboard Build the workforce dashboard for the 12 months ending 2026-06-30.</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Runs the skill: helper columns, Checks sheet, PivotTables, KPI cards, charts and slicers - all from one line.</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Refresh:  </a:t>
            </a:r>
            <a:r>
              <a:rPr sz="1200" b="0">
                <a:solidFill>
                  <a:srgbClr val="21201C"/>
                </a:solidFill>
                <a:latin typeface="Calibri"/>
              </a:rPr>
              <a:t>I added rows to tblEmployees. Refresh all PivotTables and tell me which KPI values changed.</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Refreshes every PivotTable after new rows were added and reports which KPIs moved, e.g. headcount 237 to 245.</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Privacy:  </a:t>
            </a:r>
            <a:r>
              <a:rPr sz="1200" b="0">
                <a:solidFill>
                  <a:srgbClr val="21201C"/>
                </a:solidFill>
                <a:latin typeface="Calibri"/>
              </a:rPr>
              <a:t>Which slicer combinations show a group of fewer than 5 employees? Suggest how to suppress them.</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Finds filter combinations that would show fewer than 5 people, so you can hide or group them before sharing.</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Explain:  </a:t>
            </a:r>
            <a:r>
              <a:rPr sz="1200" b="0">
                <a:solidFill>
                  <a:srgbClr val="21201C"/>
                </a:solidFill>
                <a:latin typeface="Calibri"/>
              </a:rPr>
              <a:t>Explain how the Attrition rate card is calculated, step by step.</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Explains the card's formula: exits in the period / ((opening + closing headcount) / 2) = 29 / 223.5 = 13.0%.</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Active headcount</a:t>
            </a:r>
          </a:p>
          <a:p>
            <a:pPr algn="l">
              <a:spcAft>
                <a:spcPts val="300"/>
              </a:spcAft>
            </a:pPr>
            <a:r>
              <a:rPr sz="1300" b="0">
                <a:solidFill>
                  <a:srgbClr val="6B6862"/>
                </a:solidFill>
                <a:latin typeface="Calibri"/>
              </a:rPr>
              <a:t>237 before the refresh</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Exits and attrition</a:t>
            </a:r>
          </a:p>
          <a:p>
            <a:pPr algn="l">
              <a:spcAft>
                <a:spcPts val="300"/>
              </a:spcAft>
            </a:pPr>
            <a:r>
              <a:rPr sz="1300" b="0">
                <a:solidFill>
                  <a:srgbClr val="6B6862"/>
                </a:solidFill>
                <a:latin typeface="Calibri"/>
              </a:rPr>
              <a:t>29 exits (25 voluntary); 13.0% attrition</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Hires and tenure</a:t>
            </a:r>
          </a:p>
          <a:p>
            <a:pPr algn="l">
              <a:spcAft>
                <a:spcPts val="300"/>
              </a:spcAft>
            </a:pPr>
            <a:r>
              <a:rPr sz="1300" b="0">
                <a:solidFill>
                  <a:srgbClr val="6B6862"/>
                </a:solidFill>
                <a:latin typeface="Calibri"/>
              </a:rPr>
              <a:t>56 hires; average tenure about 3.1 years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Highest-attrition department</a:t>
            </a:r>
          </a:p>
          <a:p>
            <a:pPr algn="l">
              <a:spcAft>
                <a:spcPts val="300"/>
              </a:spcAft>
            </a:pPr>
            <a:r>
              <a:rPr sz="1300" b="0">
                <a:solidFill>
                  <a:srgbClr val="6B6862"/>
                </a:solidFill>
                <a:latin typeface="Calibri"/>
              </a:rPr>
              <a:t>Recruitment: 21.8% (12 exits)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test</a:t>
            </a:r>
          </a:p>
          <a:p>
            <a:pPr algn="l">
              <a:spcAft>
                <a:spcPts val="300"/>
              </a:spcAft>
            </a:pPr>
            <a:r>
              <a:rPr sz="1300" b="0">
                <a:solidFill>
                  <a:srgbClr val="6B6862"/>
                </a:solidFill>
                <a:latin typeface="Calibri"/>
              </a:rPr>
              <a:t>After adding the July joiners: headcount 245, 428 rows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Privacy</a:t>
            </a:r>
          </a:p>
          <a:p>
            <a:pPr algn="l">
              <a:spcAft>
                <a:spcPts val="300"/>
              </a:spcAft>
            </a:pPr>
            <a:r>
              <a:rPr sz="1300" b="0">
                <a:solidFill>
                  <a:srgbClr val="6B6862"/>
                </a:solidFill>
                <a:latin typeface="Calibri"/>
              </a:rPr>
              <a:t>No Employee_ID, salary, individual record or group under 5 on the dashboard</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Interactive Dashboards with Copilot, Skills and Rules</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Design: KPI definitions, layout and colours written in .Rules before anything is built.</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Build: Plan mode, then @chart-design and @theme-design; every KPI card matches the Checks sheet.</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Interact: Slicers, a timeline and GETPIVOTDATA cards tested against COUNTIFS.</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Reuse and share: A dashboard skill, a passing refresh test, and no group under 5 people on 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Excel Fundamentals</a:t>
            </a:r>
          </a:p>
          <a:p>
            <a:pPr algn="l">
              <a:spcAft>
                <a:spcPts val="300"/>
              </a:spcAft>
            </a:pPr>
            <a:r>
              <a:rPr sz="1300" b="0">
                <a:solidFill>
                  <a:srgbClr val="6B6862"/>
                </a:solidFill>
                <a:latin typeface="Calibri"/>
              </a:rPr>
              <a:t>Use Copilot in Excel's Chat only, Plan and Allow editing modes to prepare and clean data, write formulas and XLOOKUPs, and build PivotTables, PivotCharts and charts, verifying every result.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Skills &amp; Rules</a:t>
            </a:r>
          </a:p>
          <a:p>
            <a:pPr algn="l">
              <a:spcAft>
                <a:spcPts val="300"/>
              </a:spcAft>
            </a:pPr>
            <a:r>
              <a:rPr sz="1300" b="0">
                <a:solidFill>
                  <a:srgbClr val="6B6862"/>
                </a:solidFill>
                <a:latin typeface="Calibri"/>
              </a:rPr>
              <a:t>Make Copilot's work consistent and repeatable with personalisation, workbook rules (.Rules), built-in skills and custom skills that you create with Copilot.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Combine Copilot, rules and skills to build a highly visual, interactive and refreshable dashboard, and verify and share it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Continue the Verified Workflow</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Add your three most common corrections to Personalization.</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Write a .Rules sheet for one workbook you use every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Turn one repeated report into a custom skill - let Copilot write the first draft.</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people decisions with accountable people: Copilot informs, it does not decide.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C34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Microsoft 365 Copilot for Excel  ·  C34</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MICROSOFT 365 COPILOT FOR EXCEL · C34</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You can now use Copilot in Excel for the fundamentals, make its work repeatable with rules and skills, and build interactive dashboards - while keeping evidence, privacy and human judgement in control.</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Microsoft 365 Copilot for Excel  ·  C34</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120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