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a:spAutoFit/>
          </a:bodyPr>
          <a:lstStyle/>
          <a:p>
            <a:pPr algn="l">
              <a:spcAft>
                <a:spcPts val="400"/>
              </a:spcAft>
            </a:pPr>
            <a:r>
              <a:rPr sz="1400" b="1">
                <a:solidFill>
                  <a:srgbClr val="D97757"/>
                </a:solidFill>
                <a:latin typeface="Calibri"/>
              </a:rPr>
              <a:t>NON-WSQ COURSE  •  C34</a:t>
            </a:r>
          </a:p>
        </p:txBody>
      </p:sp>
      <p:sp>
        <p:nvSpPr>
          <p:cNvPr id="6" name="TextBox 5"/>
          <p:cNvSpPr txBox="1"/>
          <p:nvPr/>
        </p:nvSpPr>
        <p:spPr>
          <a:xfrm>
            <a:off x="822960" y="4343400"/>
            <a:ext cx="7772400" cy="365760"/>
          </a:xfrm>
          <a:prstGeom prst="rect">
            <a:avLst/>
          </a:prstGeom>
          <a:noFill/>
        </p:spPr>
        <p:txBody>
          <a:bodyPr wrap="square" anchor="t">
            <a:spAutoFit/>
          </a:bodyPr>
          <a:lstStyle/>
          <a:p>
            <a:pPr algn="l">
              <a:spcAft>
                <a:spcPts val="400"/>
              </a:spcAft>
            </a:pPr>
            <a:r>
              <a:rPr sz="1300" b="0">
                <a:solidFill>
                  <a:srgbClr val="B9B4A9"/>
                </a:solidFill>
                <a:latin typeface="Calibri"/>
              </a:rPr>
              <a:t>Version v3.0  ·  11 October 2026</a:t>
            </a:r>
          </a:p>
        </p:txBody>
      </p:sp>
      <p:sp>
        <p:nvSpPr>
          <p:cNvPr id="7" name="TextBox 6"/>
          <p:cNvSpPr txBox="1"/>
          <p:nvPr/>
        </p:nvSpPr>
        <p:spPr>
          <a:xfrm>
            <a:off x="777240" y="1828800"/>
            <a:ext cx="10241280" cy="2377440"/>
          </a:xfrm>
          <a:prstGeom prst="rect">
            <a:avLst/>
          </a:prstGeom>
          <a:noFill/>
        </p:spPr>
        <p:txBody>
          <a:bodyPr wrap="square" anchor="t">
            <a:spAutoFit/>
          </a:bodyPr>
          <a:lstStyle/>
          <a:p>
            <a:pPr algn="l">
              <a:spcAft>
                <a:spcPts val="400"/>
              </a:spcAft>
            </a:pPr>
            <a:r>
              <a:rPr sz="5200" b="1">
                <a:solidFill>
                  <a:srgbClr val="FFFFFF"/>
                </a:solidFill>
                <a:latin typeface="Cambria"/>
              </a:rPr>
              <a:t>Microsoft 365 Copilot for Excel</a:t>
            </a:r>
          </a:p>
        </p:txBody>
      </p:sp>
      <p:sp>
        <p:nvSpPr>
          <p:cNvPr id="8" name="TextBox 7"/>
          <p:cNvSpPr txBox="1"/>
          <p:nvPr/>
        </p:nvSpPr>
        <p:spPr>
          <a:xfrm>
            <a:off x="822960" y="5212080"/>
            <a:ext cx="10058400" cy="731520"/>
          </a:xfrm>
          <a:prstGeom prst="rect">
            <a:avLst/>
          </a:prstGeom>
          <a:noFill/>
        </p:spPr>
        <p:txBody>
          <a:bodyPr wrap="square" anchor="t">
            <a:spAutoFit/>
          </a:bodyPr>
          <a:lstStyle/>
          <a:p>
            <a:pPr algn="l">
              <a:spcAft>
                <a:spcPts val="200"/>
              </a:spcAft>
            </a:pPr>
            <a:r>
              <a:rPr sz="1500" b="1">
                <a:solidFill>
                  <a:srgbClr val="FFFFFF"/>
                </a:solidFill>
                <a:latin typeface="Calibri"/>
              </a:rPr>
              <a:t>Tertiary Infotech Academy Pte Ltd</a:t>
            </a:r>
          </a:p>
          <a:p>
            <a:pPr algn="l">
              <a:spcAft>
                <a:spcPts val="200"/>
              </a:spcAft>
            </a:pPr>
            <a:r>
              <a:rPr sz="1300" b="0">
                <a:solidFill>
                  <a:srgbClr val="B9B4A9"/>
                </a:solidFill>
                <a:latin typeface="Calibri"/>
              </a:rPr>
              <a:t>UEN: 201200696W</a:t>
            </a:r>
          </a:p>
        </p:txBody>
      </p:sp>
      <p:sp>
        <p:nvSpPr>
          <p:cNvPr id="9" name="TextBox 8"/>
          <p:cNvSpPr txBox="1"/>
          <p:nvPr/>
        </p:nvSpPr>
        <p:spPr>
          <a:xfrm>
            <a:off x="822960" y="6172200"/>
            <a:ext cx="10515600" cy="320040"/>
          </a:xfrm>
          <a:prstGeom prst="rect">
            <a:avLst/>
          </a:prstGeom>
          <a:noFill/>
        </p:spPr>
        <p:txBody>
          <a:bodyPr wrap="square" anchor="t">
            <a:spAutoFit/>
          </a:bodyPr>
          <a:lstStyle/>
          <a:p>
            <a:pPr algn="l">
              <a:spcAft>
                <a:spcPts val="400"/>
              </a:spcAft>
            </a:pPr>
            <a:r>
              <a:rPr sz="1200" b="0">
                <a:solidFill>
                  <a:srgbClr val="B9B4A9"/>
                </a:solidFill>
                <a:latin typeface="Calibri"/>
              </a:rPr>
              <a:t>www.tertiarycourses.com.sg   |   enquiry@tertiaryinfotech.com   |   +65 6100 0613</a:t>
            </a:r>
          </a:p>
        </p:txBody>
      </p:sp>
      <p:sp>
        <p:nvSpPr>
          <p:cNvPr id="10" name="TextBox 9"/>
          <p:cNvSpPr txBox="1"/>
          <p:nvPr/>
        </p:nvSpPr>
        <p:spPr>
          <a:xfrm>
            <a:off x="7159752" y="6355080"/>
            <a:ext cx="4572000" cy="274320"/>
          </a:xfrm>
          <a:prstGeom prst="rect">
            <a:avLst/>
          </a:prstGeom>
          <a:noFill/>
        </p:spPr>
        <p:txBody>
          <a:bodyPr wrap="square" anchor="t">
            <a:spAutoFit/>
          </a:bodyPr>
          <a:lstStyle/>
          <a:p>
            <a:pPr algn="r">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COURSE ADMINISTRATION</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Welcome &amp; Housekeeping</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About the Trainer</a:t>
            </a:r>
          </a:p>
        </p:txBody>
      </p:sp>
      <p:sp>
        <p:nvSpPr>
          <p:cNvPr id="5" name="Rounded Rectangle 4"/>
          <p:cNvSpPr/>
          <p:nvPr/>
        </p:nvSpPr>
        <p:spPr>
          <a:xfrm>
            <a:off x="777240" y="1737360"/>
            <a:ext cx="3291840" cy="3291840"/>
          </a:xfrm>
          <a:prstGeom prst="roundRect">
            <a:avLst>
              <a:gd name="adj" fmla="val 6000"/>
            </a:avLst>
          </a:prstGeom>
          <a:solidFill>
            <a:srgbClr val="21201C"/>
          </a:solidFill>
          <a:ln>
            <a:noFill/>
          </a:ln>
        </p:spPr>
        <p:txBody>
          <a:bodyPr rtlCol="0" anchor="ctr"/>
          <a:lstStyle/>
          <a:p>
            <a:pPr algn="ctr"/>
          </a:p>
        </p:txBody>
      </p:sp>
      <p:sp>
        <p:nvSpPr>
          <p:cNvPr id="6" name="Oval 5"/>
          <p:cNvSpPr/>
          <p:nvPr/>
        </p:nvSpPr>
        <p:spPr>
          <a:xfrm>
            <a:off x="2103120" y="2103120"/>
            <a:ext cx="640080" cy="640080"/>
          </a:xfrm>
          <a:prstGeom prst="ellipse">
            <a:avLst/>
          </a:prstGeom>
          <a:solidFill>
            <a:srgbClr val="D97757"/>
          </a:solidFill>
          <a:ln>
            <a:noFill/>
          </a:ln>
          <a:effectLst/>
        </p:spPr>
        <p:txBody>
          <a:bodyPr rtlCol="0" anchor="ctr"/>
          <a:lstStyle/>
          <a:p>
            <a:pPr algn="ctr"/>
          </a:p>
        </p:txBody>
      </p:sp>
      <p:pic>
        <p:nvPicPr>
          <p:cNvPr id="7" name="Picture 6" descr="person.png"/>
          <p:cNvPicPr>
            <a:picLocks noChangeAspect="1"/>
          </p:cNvPicPr>
          <p:nvPr/>
        </p:nvPicPr>
        <p:blipFill>
          <a:blip r:embed="rId2"/>
          <a:stretch>
            <a:fillRect/>
          </a:stretch>
        </p:blipFill>
        <p:spPr>
          <a:xfrm>
            <a:off x="2256739" y="2256739"/>
            <a:ext cx="332841" cy="332841"/>
          </a:xfrm>
          <a:prstGeom prst="rect">
            <a:avLst/>
          </a:prstGeom>
        </p:spPr>
      </p:pic>
      <p:sp>
        <p:nvSpPr>
          <p:cNvPr id="8" name="TextBox 7"/>
          <p:cNvSpPr txBox="1"/>
          <p:nvPr/>
        </p:nvSpPr>
        <p:spPr>
          <a:xfrm>
            <a:off x="777240" y="2926080"/>
            <a:ext cx="3291840" cy="548640"/>
          </a:xfrm>
          <a:prstGeom prst="rect">
            <a:avLst/>
          </a:prstGeom>
          <a:noFill/>
        </p:spPr>
        <p:txBody>
          <a:bodyPr wrap="square" anchor="t">
            <a:spAutoFit/>
          </a:bodyPr>
          <a:lstStyle/>
          <a:p>
            <a:pPr algn="ctr">
              <a:spcAft>
                <a:spcPts val="400"/>
              </a:spcAft>
            </a:pPr>
            <a:r>
              <a:rPr sz="2200" b="1">
                <a:solidFill>
                  <a:srgbClr val="FFFFFF"/>
                </a:solidFill>
                <a:latin typeface="Cambria"/>
              </a:rPr>
              <a:t>Dr. Alfred Ang</a:t>
            </a:r>
          </a:p>
        </p:txBody>
      </p:sp>
      <p:sp>
        <p:nvSpPr>
          <p:cNvPr id="9" name="TextBox 8"/>
          <p:cNvSpPr txBox="1"/>
          <p:nvPr/>
        </p:nvSpPr>
        <p:spPr>
          <a:xfrm>
            <a:off x="777240" y="3429000"/>
            <a:ext cx="3291840" cy="365760"/>
          </a:xfrm>
          <a:prstGeom prst="rect">
            <a:avLst/>
          </a:prstGeom>
          <a:noFill/>
        </p:spPr>
        <p:txBody>
          <a:bodyPr wrap="square" anchor="t">
            <a:spAutoFit/>
          </a:bodyPr>
          <a:lstStyle/>
          <a:p>
            <a:pPr algn="ctr">
              <a:spcAft>
                <a:spcPts val="400"/>
              </a:spcAft>
            </a:pPr>
            <a:r>
              <a:rPr sz="1300" b="0">
                <a:solidFill>
                  <a:srgbClr val="D97757"/>
                </a:solidFill>
                <a:latin typeface="Calibri"/>
              </a:rPr>
              <a:t>AI Trainer &amp; Engineer</a:t>
            </a:r>
          </a:p>
        </p:txBody>
      </p:sp>
      <p:sp>
        <p:nvSpPr>
          <p:cNvPr id="10" name="Oval 9"/>
          <p:cNvSpPr/>
          <p:nvPr/>
        </p:nvSpPr>
        <p:spPr>
          <a:xfrm>
            <a:off x="4434840" y="1828800"/>
            <a:ext cx="502920" cy="502920"/>
          </a:xfrm>
          <a:prstGeom prst="ellipse">
            <a:avLst/>
          </a:prstGeom>
          <a:solidFill>
            <a:srgbClr val="3A7D7B"/>
          </a:solidFill>
          <a:ln>
            <a:noFill/>
          </a:ln>
          <a:effectLst/>
        </p:spPr>
        <p:txBody>
          <a:bodyPr rtlCol="0" anchor="ctr"/>
          <a:lstStyle/>
          <a:p>
            <a:pPr algn="ctr"/>
          </a:p>
        </p:txBody>
      </p:sp>
      <p:pic>
        <p:nvPicPr>
          <p:cNvPr id="11" name="Picture 10" descr="graduate.png"/>
          <p:cNvPicPr>
            <a:picLocks noChangeAspect="1"/>
          </p:cNvPicPr>
          <p:nvPr/>
        </p:nvPicPr>
        <p:blipFill>
          <a:blip r:embed="rId3"/>
          <a:stretch>
            <a:fillRect/>
          </a:stretch>
        </p:blipFill>
        <p:spPr>
          <a:xfrm>
            <a:off x="4555541" y="1949501"/>
            <a:ext cx="261518" cy="261518"/>
          </a:xfrm>
          <a:prstGeom prst="rect">
            <a:avLst/>
          </a:prstGeom>
        </p:spPr>
      </p:pic>
      <p:sp>
        <p:nvSpPr>
          <p:cNvPr id="12" name="TextBox 11"/>
          <p:cNvSpPr txBox="1"/>
          <p:nvPr/>
        </p:nvSpPr>
        <p:spPr>
          <a:xfrm>
            <a:off x="5120640" y="1673352"/>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PhD-qualified trainer specialising in AI, software engineering and developer tooling.</a:t>
            </a:r>
          </a:p>
        </p:txBody>
      </p:sp>
      <p:sp>
        <p:nvSpPr>
          <p:cNvPr id="13" name="Oval 12"/>
          <p:cNvSpPr/>
          <p:nvPr/>
        </p:nvSpPr>
        <p:spPr>
          <a:xfrm>
            <a:off x="4434840" y="2633472"/>
            <a:ext cx="502920" cy="502920"/>
          </a:xfrm>
          <a:prstGeom prst="ellipse">
            <a:avLst/>
          </a:prstGeom>
          <a:solidFill>
            <a:srgbClr val="3A7D7B"/>
          </a:solidFill>
          <a:ln>
            <a:noFill/>
          </a:ln>
          <a:effectLst/>
        </p:spPr>
        <p:txBody>
          <a:bodyPr rtlCol="0" anchor="ctr"/>
          <a:lstStyle/>
          <a:p>
            <a:pPr algn="ctr"/>
          </a:p>
        </p:txBody>
      </p:sp>
      <p:pic>
        <p:nvPicPr>
          <p:cNvPr id="14" name="Picture 13" descr="laptop.png"/>
          <p:cNvPicPr>
            <a:picLocks noChangeAspect="1"/>
          </p:cNvPicPr>
          <p:nvPr/>
        </p:nvPicPr>
        <p:blipFill>
          <a:blip r:embed="rId4"/>
          <a:stretch>
            <a:fillRect/>
          </a:stretch>
        </p:blipFill>
        <p:spPr>
          <a:xfrm>
            <a:off x="4555541" y="2754173"/>
            <a:ext cx="261518" cy="261518"/>
          </a:xfrm>
          <a:prstGeom prst="rect">
            <a:avLst/>
          </a:prstGeom>
        </p:spPr>
      </p:pic>
      <p:sp>
        <p:nvSpPr>
          <p:cNvPr id="15" name="TextBox 14"/>
          <p:cNvSpPr txBox="1"/>
          <p:nvPr/>
        </p:nvSpPr>
        <p:spPr>
          <a:xfrm>
            <a:off x="5120640" y="2478024"/>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Builds AI agents and Microsoft 365 Copilot workflows for business teams.</a:t>
            </a:r>
          </a:p>
        </p:txBody>
      </p:sp>
      <p:sp>
        <p:nvSpPr>
          <p:cNvPr id="16" name="Oval 15"/>
          <p:cNvSpPr/>
          <p:nvPr/>
        </p:nvSpPr>
        <p:spPr>
          <a:xfrm>
            <a:off x="4434840" y="3438144"/>
            <a:ext cx="502920" cy="502920"/>
          </a:xfrm>
          <a:prstGeom prst="ellipse">
            <a:avLst/>
          </a:prstGeom>
          <a:solidFill>
            <a:srgbClr val="3A7D7B"/>
          </a:solidFill>
          <a:ln>
            <a:noFill/>
          </a:ln>
          <a:effectLst/>
        </p:spPr>
        <p:txBody>
          <a:bodyPr rtlCol="0" anchor="ctr"/>
          <a:lstStyle/>
          <a:p>
            <a:pPr algn="ctr"/>
          </a:p>
        </p:txBody>
      </p:sp>
      <p:pic>
        <p:nvPicPr>
          <p:cNvPr id="17" name="Picture 16" descr="teach.png"/>
          <p:cNvPicPr>
            <a:picLocks noChangeAspect="1"/>
          </p:cNvPicPr>
          <p:nvPr/>
        </p:nvPicPr>
        <p:blipFill>
          <a:blip r:embed="rId5"/>
          <a:stretch>
            <a:fillRect/>
          </a:stretch>
        </p:blipFill>
        <p:spPr>
          <a:xfrm>
            <a:off x="4555541" y="3558845"/>
            <a:ext cx="261518" cy="261518"/>
          </a:xfrm>
          <a:prstGeom prst="rect">
            <a:avLst/>
          </a:prstGeom>
        </p:spPr>
      </p:pic>
      <p:sp>
        <p:nvSpPr>
          <p:cNvPr id="18" name="TextBox 17"/>
          <p:cNvSpPr txBox="1"/>
          <p:nvPr/>
        </p:nvSpPr>
        <p:spPr>
          <a:xfrm>
            <a:off x="5120640" y="3282696"/>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Trains professionals across Singapore on practical, project-based AI skills.</a:t>
            </a:r>
          </a:p>
        </p:txBody>
      </p:sp>
      <p:sp>
        <p:nvSpPr>
          <p:cNvPr id="19" name="Oval 18"/>
          <p:cNvSpPr/>
          <p:nvPr/>
        </p:nvSpPr>
        <p:spPr>
          <a:xfrm>
            <a:off x="4434840" y="4242816"/>
            <a:ext cx="502920" cy="502920"/>
          </a:xfrm>
          <a:prstGeom prst="ellipse">
            <a:avLst/>
          </a:prstGeom>
          <a:solidFill>
            <a:srgbClr val="3A7D7B"/>
          </a:solidFill>
          <a:ln>
            <a:noFill/>
          </a:ln>
          <a:effectLst/>
        </p:spPr>
        <p:txBody>
          <a:bodyPr rtlCol="0" anchor="ctr"/>
          <a:lstStyle/>
          <a:p>
            <a:pPr algn="ctr"/>
          </a:p>
        </p:txBody>
      </p:sp>
      <p:pic>
        <p:nvPicPr>
          <p:cNvPr id="20" name="Picture 19" descr="badge.png"/>
          <p:cNvPicPr>
            <a:picLocks noChangeAspect="1"/>
          </p:cNvPicPr>
          <p:nvPr/>
        </p:nvPicPr>
        <p:blipFill>
          <a:blip r:embed="rId6"/>
          <a:stretch>
            <a:fillRect/>
          </a:stretch>
        </p:blipFill>
        <p:spPr>
          <a:xfrm>
            <a:off x="4555541" y="4363517"/>
            <a:ext cx="261518" cy="261518"/>
          </a:xfrm>
          <a:prstGeom prst="rect">
            <a:avLst/>
          </a:prstGeom>
        </p:spPr>
      </p:pic>
      <p:sp>
        <p:nvSpPr>
          <p:cNvPr id="21" name="TextBox 20"/>
          <p:cNvSpPr txBox="1"/>
          <p:nvPr/>
        </p:nvSpPr>
        <p:spPr>
          <a:xfrm>
            <a:off x="5120640" y="4087368"/>
            <a:ext cx="6400800" cy="822960"/>
          </a:xfrm>
          <a:prstGeom prst="rect">
            <a:avLst/>
          </a:prstGeom>
          <a:noFill/>
        </p:spPr>
        <p:txBody>
          <a:bodyPr wrap="square" anchor="ctr">
            <a:spAutoFit/>
          </a:bodyPr>
          <a:lstStyle/>
          <a:p>
            <a:pPr algn="l">
              <a:spcAft>
                <a:spcPts val="400"/>
              </a:spcAft>
            </a:pPr>
            <a:r>
              <a:rPr sz="1500" b="0">
                <a:solidFill>
                  <a:srgbClr val="21201C"/>
                </a:solidFill>
                <a:latin typeface="Calibri"/>
              </a:rPr>
              <a:t>Certifications: PMP, AWS, Microsoft, CompTIA, CKA, CKAD.</a:t>
            </a:r>
          </a:p>
        </p:txBody>
      </p:sp>
      <p:sp>
        <p:nvSpPr>
          <p:cNvPr id="22" name="Oval 21"/>
          <p:cNvSpPr/>
          <p:nvPr/>
        </p:nvSpPr>
        <p:spPr>
          <a:xfrm>
            <a:off x="4434840" y="5093208"/>
            <a:ext cx="502920" cy="502920"/>
          </a:xfrm>
          <a:prstGeom prst="ellipse">
            <a:avLst/>
          </a:prstGeom>
          <a:solidFill>
            <a:srgbClr val="D97757"/>
          </a:solidFill>
          <a:ln>
            <a:noFill/>
          </a:ln>
          <a:effectLst/>
        </p:spPr>
        <p:txBody>
          <a:bodyPr rtlCol="0" anchor="ctr"/>
          <a:lstStyle/>
          <a:p>
            <a:pPr algn="ctr"/>
          </a:p>
        </p:txBody>
      </p:sp>
      <p:pic>
        <p:nvPicPr>
          <p:cNvPr id="23" name="Picture 22" descr="linkedin.png"/>
          <p:cNvPicPr>
            <a:picLocks noChangeAspect="1"/>
          </p:cNvPicPr>
          <p:nvPr/>
        </p:nvPicPr>
        <p:blipFill>
          <a:blip r:embed="rId7"/>
          <a:stretch>
            <a:fillRect/>
          </a:stretch>
        </p:blipFill>
        <p:spPr>
          <a:xfrm>
            <a:off x="4555541" y="5213909"/>
            <a:ext cx="261518" cy="261518"/>
          </a:xfrm>
          <a:prstGeom prst="rect">
            <a:avLst/>
          </a:prstGeom>
        </p:spPr>
      </p:pic>
      <p:sp>
        <p:nvSpPr>
          <p:cNvPr id="24" name="TextBox 23"/>
          <p:cNvSpPr txBox="1"/>
          <p:nvPr/>
        </p:nvSpPr>
        <p:spPr>
          <a:xfrm>
            <a:off x="512064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linkedin.com/in/angchewhoe</a:t>
            </a:r>
          </a:p>
        </p:txBody>
      </p:sp>
      <p:sp>
        <p:nvSpPr>
          <p:cNvPr id="25" name="Oval 24"/>
          <p:cNvSpPr/>
          <p:nvPr/>
        </p:nvSpPr>
        <p:spPr>
          <a:xfrm>
            <a:off x="8458200" y="5093208"/>
            <a:ext cx="502920" cy="502920"/>
          </a:xfrm>
          <a:prstGeom prst="ellipse">
            <a:avLst/>
          </a:prstGeom>
          <a:solidFill>
            <a:srgbClr val="D97757"/>
          </a:solidFill>
          <a:ln>
            <a:noFill/>
          </a:ln>
          <a:effectLst/>
        </p:spPr>
        <p:txBody>
          <a:bodyPr rtlCol="0" anchor="ctr"/>
          <a:lstStyle/>
          <a:p>
            <a:pPr algn="ctr"/>
          </a:p>
        </p:txBody>
      </p:sp>
      <p:pic>
        <p:nvPicPr>
          <p:cNvPr id="26" name="Picture 25" descr="github.png"/>
          <p:cNvPicPr>
            <a:picLocks noChangeAspect="1"/>
          </p:cNvPicPr>
          <p:nvPr/>
        </p:nvPicPr>
        <p:blipFill>
          <a:blip r:embed="rId8"/>
          <a:stretch>
            <a:fillRect/>
          </a:stretch>
        </p:blipFill>
        <p:spPr>
          <a:xfrm>
            <a:off x="8578901" y="5213909"/>
            <a:ext cx="261518" cy="261518"/>
          </a:xfrm>
          <a:prstGeom prst="rect">
            <a:avLst/>
          </a:prstGeom>
        </p:spPr>
      </p:pic>
      <p:sp>
        <p:nvSpPr>
          <p:cNvPr id="27" name="TextBox 26"/>
          <p:cNvSpPr txBox="1"/>
          <p:nvPr/>
        </p:nvSpPr>
        <p:spPr>
          <a:xfrm>
            <a:off x="9144000" y="5065776"/>
            <a:ext cx="3108960" cy="548640"/>
          </a:xfrm>
          <a:prstGeom prst="rect">
            <a:avLst/>
          </a:prstGeom>
          <a:noFill/>
        </p:spPr>
        <p:txBody>
          <a:bodyPr wrap="square" anchor="ctr">
            <a:spAutoFit/>
          </a:bodyPr>
          <a:lstStyle/>
          <a:p>
            <a:pPr algn="l">
              <a:spcAft>
                <a:spcPts val="400"/>
              </a:spcAft>
            </a:pPr>
            <a:r>
              <a:rPr sz="1500" b="0">
                <a:solidFill>
                  <a:srgbClr val="21201C"/>
                </a:solidFill>
                <a:latin typeface="Calibri"/>
              </a:rPr>
              <a:t>github.com/alfredang</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Let's Know Each Other</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Your name, organisation and role.</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One HR, recruitment or finance report you rebuild in Excel every week or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The correction you find yourself giving Copilot (or a colleague) again and again.</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Whether you can see the Copilot button in Excel, and on which app (Windows, Mac or web).</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Set your mobile phone to silent mode.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Participate actively — no question is too small.</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Mutual respect: agree to disagree.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One conversation at a 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Be punctual; return from breaks on time.</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Learn by doing — try every hands-on lab.</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MATERIALS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Access Course Materials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C34 course page or the trainer-supplied Drive folder</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courseware links for this course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Download the Slides, Learner Guide and Lesson Plan</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labs folder for all 8 lab folders</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Keep the files together as you work</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a:t>
            </a:r>
          </a:p>
        </p:txBody>
      </p:sp>
      <p:sp>
        <p:nvSpPr>
          <p:cNvPr id="37" name="TextBox 36"/>
          <p:cNvSpPr txBox="1"/>
          <p:nvPr/>
        </p:nvSpPr>
        <p:spPr>
          <a:xfrm>
            <a:off x="777240" y="5943600"/>
            <a:ext cx="10607040" cy="365760"/>
          </a:xfrm>
          <a:prstGeom prst="rect">
            <a:avLst/>
          </a:prstGeom>
          <a:noFill/>
        </p:spPr>
        <p:txBody>
          <a:bodyPr wrap="square" anchor="t">
            <a:spAutoFit/>
          </a:bodyPr>
          <a:lstStyle/>
          <a:p>
            <a:pPr algn="ctr">
              <a:spcAft>
                <a:spcPts val="400"/>
              </a:spcAft>
            </a:pPr>
            <a:r>
              <a:rPr sz="1500" b="1">
                <a:solidFill>
                  <a:srgbClr val="D97757"/>
                </a:solidFill>
                <a:latin typeface="Calibri"/>
              </a:rPr>
              <a:t>Course page:  tertiarycourses.com.sg/microsoft-365-copilot-for-excel.html</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Lesson Plan — 1 Day, 7.5 instructional hours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Course sequence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Day format</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Topic 1: Excel Fundamentals with Copilot (Labs 1–3)</a:t>
            </a:r>
          </a:p>
          <a:p>
            <a:pPr>
              <a:spcAft>
                <a:spcPts val="1000"/>
              </a:spcAft>
            </a:pPr>
            <a:r>
              <a:rPr sz="1600" b="0">
                <a:solidFill>
                  <a:srgbClr val="21201C"/>
                </a:solidFill>
                <a:latin typeface="Calibri"/>
              </a:rPr>
              <a:t>•  Topic 2: Skills and Rules (Labs 4–6)</a:t>
            </a:r>
          </a:p>
          <a:p>
            <a:pPr>
              <a:spcAft>
                <a:spcPts val="1000"/>
              </a:spcAft>
            </a:pPr>
            <a:r>
              <a:rPr sz="1600" b="0">
                <a:solidFill>
                  <a:srgbClr val="21201C"/>
                </a:solidFill>
                <a:latin typeface="Calibri"/>
              </a:rPr>
              <a:t>•  Topic 3: Interactive Dashboards with Copilot, Skills and Rules (Labs 7–8)</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Daily timing</a:t>
            </a:r>
          </a:p>
          <a:p>
            <a:pPr>
              <a:spcAft>
                <a:spcPts val="1000"/>
              </a:spcAft>
            </a:pPr>
            <a:r>
              <a:rPr sz="1400" b="0">
                <a:solidFill>
                  <a:srgbClr val="6B6862"/>
                </a:solidFill>
                <a:latin typeface="Calibri"/>
              </a:rPr>
              <a:t>–  9:30 am - 6:30 pm (1-hour lunch; two 15-minute tea breaks; 7.5 instructional hours)</a:t>
            </a:r>
          </a:p>
          <a:p>
            <a:pPr>
              <a:spcAft>
                <a:spcPts val="1000"/>
              </a:spcAft>
            </a:pPr>
            <a:r>
              <a:rPr sz="1600" b="0">
                <a:solidFill>
                  <a:srgbClr val="21201C"/>
                </a:solidFill>
                <a:latin typeface="Calibri"/>
              </a:rPr>
              <a:t>•  Instructional time</a:t>
            </a:r>
          </a:p>
          <a:p>
            <a:pPr>
              <a:spcAft>
                <a:spcPts val="1000"/>
              </a:spcAft>
            </a:pPr>
            <a:r>
              <a:rPr sz="1400" b="0">
                <a:solidFill>
                  <a:srgbClr val="6B6862"/>
                </a:solidFill>
                <a:latin typeface="Calibri"/>
              </a:rPr>
              <a:t>–  7.5 hours · 8 connected labs</a:t>
            </a:r>
          </a:p>
          <a:p>
            <a:pPr>
              <a:spcAft>
                <a:spcPts val="1000"/>
              </a:spcAft>
            </a:pPr>
            <a:r>
              <a:rPr sz="1600" b="0">
                <a:solidFill>
                  <a:srgbClr val="21201C"/>
                </a:solidFill>
                <a:latin typeface="Calibri"/>
              </a:rPr>
              <a:t>•  Learning arc</a:t>
            </a:r>
          </a:p>
          <a:p>
            <a:pPr>
              <a:spcAft>
                <a:spcPts val="1000"/>
              </a:spcAft>
            </a:pPr>
            <a:r>
              <a:rPr sz="1400" b="0">
                <a:solidFill>
                  <a:srgbClr val="6B6862"/>
                </a:solidFill>
                <a:latin typeface="Calibri"/>
              </a:rPr>
              <a:t>–  Concept → demonstrate → build → verify → discuss → recap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ROADMAP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Eight Labs in Three Topics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Excel Fundamentals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1: Data Prep &amp; Data Quality</a:t>
            </a:r>
          </a:p>
          <a:p>
            <a:pPr>
              <a:spcAft>
                <a:spcPts val="900"/>
              </a:spcAft>
            </a:pPr>
            <a:r>
              <a:rPr sz="1400" b="0">
                <a:solidFill>
                  <a:srgbClr val="21201C"/>
                </a:solidFill>
                <a:latin typeface="Calibri"/>
              </a:rPr>
              <a:t>•  Lab 2: Formulas &amp; XLOOKUP</a:t>
            </a:r>
          </a:p>
          <a:p>
            <a:pPr>
              <a:spcAft>
                <a:spcPts val="900"/>
              </a:spcAft>
            </a:pPr>
            <a:r>
              <a:rPr sz="1400" b="0">
                <a:solidFill>
                  <a:srgbClr val="21201C"/>
                </a:solidFill>
                <a:latin typeface="Calibri"/>
              </a:rPr>
              <a:t>•  Lab 3: PivotTables, PivotCharts &amp; Visuals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Skills &amp; Rules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4: Workbook Rules &amp; Personalisation</a:t>
            </a:r>
          </a:p>
          <a:p>
            <a:pPr>
              <a:spcAft>
                <a:spcPts val="900"/>
              </a:spcAft>
            </a:pPr>
            <a:r>
              <a:rPr sz="1400" b="0">
                <a:solidFill>
                  <a:srgbClr val="21201C"/>
                </a:solidFill>
                <a:latin typeface="Calibri"/>
              </a:rPr>
              <a:t>•  Lab 5: Built-in Skills: Visual &amp; Finance</a:t>
            </a:r>
          </a:p>
          <a:p>
            <a:pPr>
              <a:spcAft>
                <a:spcPts val="900"/>
              </a:spcAft>
            </a:pPr>
            <a:r>
              <a:rPr sz="1400" b="0">
                <a:solidFill>
                  <a:srgbClr val="21201C"/>
                </a:solidFill>
                <a:latin typeface="Calibri"/>
              </a:rPr>
              <a:t>•  Lab 6: Custom Skills: Calendar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Interactive Dashboard</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0">
                <a:solidFill>
                  <a:srgbClr val="21201C"/>
                </a:solidFill>
                <a:latin typeface="Calibri"/>
              </a:rPr>
              <a:t>•  Lab 7: Interactive Dashboard</a:t>
            </a:r>
          </a:p>
          <a:p>
            <a:pPr>
              <a:spcAft>
                <a:spcPts val="900"/>
              </a:spcAft>
            </a:pPr>
            <a:r>
              <a:rPr sz="1400" b="0">
                <a:solidFill>
                  <a:srgbClr val="21201C"/>
                </a:solidFill>
                <a:latin typeface="Calibri"/>
              </a:rPr>
              <a:t>•  Lab 8: Dashboard Skill, Refresh &amp; Share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Learning Outcomes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You'll Learn</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Trainer demonstrates the concept</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 build it yourself in the hands-on lab</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Verify with the lab's 'Test it' step</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Discuss and troubleshoot together</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Recap against the learning outcomes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CORE CONCEPTS</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Copilot in Excel for HR and Recruitment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OVERVIEW</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BrightPath Scenario</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BrightPath Talent Solutions</a:t>
            </a:r>
          </a:p>
          <a:p>
            <a:pPr algn="l">
              <a:spcAft>
                <a:spcPts val="300"/>
              </a:spcAft>
            </a:pPr>
            <a:r>
              <a:rPr sz="1300" b="0">
                <a:solidFill>
                  <a:srgbClr val="6B6862"/>
                </a:solidFill>
                <a:latin typeface="Calibri"/>
              </a:rPr>
              <a:t>A fictional Singapore recruitment, flexible-staffing and HR-outsourcing firm.</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Recruitment data</a:t>
            </a:r>
          </a:p>
          <a:p>
            <a:pPr algn="l">
              <a:spcAft>
                <a:spcPts val="300"/>
              </a:spcAft>
            </a:pPr>
            <a:r>
              <a:rPr sz="1300" b="0">
                <a:solidFill>
                  <a:srgbClr val="6B6862"/>
                </a:solidFill>
                <a:latin typeface="Calibri"/>
              </a:rPr>
              <a:t>Candidate pipeline, job requisitions, monthly funnel metrics, interviews and client orders.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Business and workforce data</a:t>
            </a:r>
          </a:p>
          <a:p>
            <a:pPr algn="l">
              <a:spcAft>
                <a:spcPts val="300"/>
              </a:spcAft>
            </a:pPr>
            <a:r>
              <a:rPr sz="1300" b="0">
                <a:solidFill>
                  <a:srgbClr val="6B6862"/>
                </a:solidFill>
                <a:latin typeface="Calibri"/>
              </a:rPr>
              <a:t>HR-outsourcing client finances, a headcount budget and internal workforce data.</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Your role</a:t>
            </a:r>
          </a:p>
          <a:p>
            <a:pPr algn="l">
              <a:spcAft>
                <a:spcPts val="300"/>
              </a:spcAft>
            </a:pPr>
            <a:r>
              <a:rPr sz="1300" b="0">
                <a:solidFill>
                  <a:srgbClr val="6B6862"/>
                </a:solidFill>
                <a:latin typeface="Calibri"/>
              </a:rPr>
              <a:t>HR / talent analyst who uses Copilot, rules and skills to turn these workbooks into verified dashboards.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01</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Excel Fundamentals with Copilot</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Chat only, Plan and Allow editing · setup, data sources and the model picker · data prep and automated cleanup · formulas and XLOOKUP · PivotTables, PivotCharts and charts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C34 OPERATING PRINCIPLE</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Copilot does the work. Rules and skills make it repeatable. Your checks make it trustworthy.</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Describe the task precisely, write the standards down once, and reconcile every number before it reaches a people decision.</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Allow editing, Plan, Chat only</a:t>
            </a:r>
          </a:p>
          <a:p>
            <a:pPr algn="l">
              <a:spcAft>
                <a:spcPts val="300"/>
              </a:spcAft>
            </a:pPr>
            <a:r>
              <a:rPr sz="1200" b="0">
                <a:solidFill>
                  <a:srgbClr val="6B6862"/>
                </a:solidFill>
                <a:latin typeface="Calibri"/>
              </a:rPr>
              <a:t>Three ways to work with Copilot - Lab 1.</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Analyse the data</a:t>
            </a:r>
          </a:p>
          <a:p>
            <a:pPr algn="l">
              <a:spcAft>
                <a:spcPts val="300"/>
              </a:spcAft>
            </a:pPr>
            <a:r>
              <a:rPr sz="1200" b="0">
                <a:solidFill>
                  <a:srgbClr val="6B6862"/>
                </a:solidFill>
                <a:latin typeface="Calibri"/>
              </a:rPr>
              <a:t>Find patterns and answer questions - Labs 1, 7.</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Bring in other data</a:t>
            </a:r>
          </a:p>
          <a:p>
            <a:pPr algn="l">
              <a:spcAft>
                <a:spcPts val="300"/>
              </a:spcAft>
            </a:pPr>
            <a:r>
              <a:rPr sz="1200" b="0">
                <a:solidFill>
                  <a:srgbClr val="6B6862"/>
                </a:solidFill>
                <a:latin typeface="Calibri"/>
              </a:rPr>
              <a:t>Attach another workbook as context - Lab 2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Model selector</a:t>
            </a:r>
          </a:p>
          <a:p>
            <a:pPr algn="l">
              <a:spcAft>
                <a:spcPts val="300"/>
              </a:spcAft>
            </a:pPr>
            <a:r>
              <a:rPr sz="1200" b="0">
                <a:solidFill>
                  <a:srgbClr val="6B6862"/>
                </a:solidFill>
                <a:latin typeface="Calibri"/>
              </a:rPr>
              <a:t>Compare models on a hard question - Lab 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Automated cleanup</a:t>
            </a:r>
          </a:p>
          <a:p>
            <a:pPr algn="l">
              <a:spcAft>
                <a:spcPts val="300"/>
              </a:spcAft>
            </a:pPr>
            <a:r>
              <a:rPr sz="1200" b="0">
                <a:solidFill>
                  <a:srgbClr val="6B6862"/>
                </a:solidFill>
                <a:latin typeface="Calibri"/>
              </a:rPr>
              <a:t>Tidy messy data with Clean Data - Lab 4.</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Personalisation</a:t>
            </a:r>
          </a:p>
          <a:p>
            <a:pPr algn="l">
              <a:spcAft>
                <a:spcPts val="300"/>
              </a:spcAft>
            </a:pPr>
            <a:r>
              <a:rPr sz="1200" b="0">
                <a:solidFill>
                  <a:srgbClr val="6B6862"/>
                </a:solidFill>
                <a:latin typeface="Calibri"/>
              </a:rPr>
              <a:t>Preferences that follow you - Lab 4.</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WHAT'S NEW · WHERE YOU PRACTISE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Ten Things Copilot in Excel Does Now (cont.)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5B4B8A"/>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7</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Workbook rules</a:t>
            </a:r>
          </a:p>
          <a:p>
            <a:pPr algn="l">
              <a:spcAft>
                <a:spcPts val="300"/>
              </a:spcAft>
            </a:pPr>
            <a:r>
              <a:rPr sz="1200" b="0">
                <a:solidFill>
                  <a:srgbClr val="6B6862"/>
                </a:solidFill>
                <a:latin typeface="Calibri"/>
              </a:rPr>
              <a:t>Standards stored in the file (.Rules) - Labs 4, 7, 8.</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C2603F"/>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C2603F"/>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8</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Write formulas</a:t>
            </a:r>
          </a:p>
          <a:p>
            <a:pPr algn="l">
              <a:spcAft>
                <a:spcPts val="300"/>
              </a:spcAft>
            </a:pPr>
            <a:r>
              <a:rPr sz="1200" b="0">
                <a:solidFill>
                  <a:srgbClr val="6B6862"/>
                </a:solidFill>
                <a:latin typeface="Calibri"/>
              </a:rPr>
              <a:t>Describe the calculation you need - Lab 2.</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D97757"/>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9</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Create new spreadsheets</a:t>
            </a:r>
          </a:p>
          <a:p>
            <a:pPr algn="l">
              <a:spcAft>
                <a:spcPts val="300"/>
              </a:spcAft>
            </a:pPr>
            <a:r>
              <a:rPr sz="1200" b="0">
                <a:solidFill>
                  <a:srgbClr val="6B6862"/>
                </a:solidFill>
                <a:latin typeface="Calibri"/>
              </a:rPr>
              <a:t>Start from research or a blank workbook - Lab 3 challenge.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3A7D7B"/>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3A7D7B"/>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10</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Skills</a:t>
            </a:r>
          </a:p>
          <a:p>
            <a:pPr algn="l">
              <a:spcAft>
                <a:spcPts val="300"/>
              </a:spcAft>
            </a:pPr>
            <a:r>
              <a:rPr sz="1200" b="0">
                <a:solidFill>
                  <a:srgbClr val="6B6862"/>
                </a:solidFill>
                <a:latin typeface="Calibri"/>
              </a:rPr>
              <a:t>Make the work repeatable - Labs 5, 6, 8.</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1-3</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Excel Fundamentals with Copilot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Pick the right mode</a:t>
            </a:r>
          </a:p>
          <a:p>
            <a:pPr algn="l">
              <a:spcAft>
                <a:spcPts val="300"/>
              </a:spcAft>
            </a:pPr>
            <a:r>
              <a:rPr sz="1400" b="0">
                <a:solidFill>
                  <a:srgbClr val="6B6862"/>
                </a:solidFill>
                <a:latin typeface="Calibri"/>
              </a:rPr>
              <a:t>Chat only answers without touching the sheet. Plan shows its steps first. Allow editing makes the change.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Keep or undo every change</a:t>
            </a:r>
          </a:p>
          <a:p>
            <a:pPr algn="l">
              <a:spcAft>
                <a:spcPts val="300"/>
              </a:spcAft>
            </a:pPr>
            <a:r>
              <a:rPr sz="1400" b="0">
                <a:solidFill>
                  <a:srgbClr val="6B6862"/>
                </a:solidFill>
                <a:latin typeface="Calibri"/>
              </a:rPr>
              <a:t>After Copilot edits, select Done to keep it or Undo to reverse it. Version history is your safety net.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Turn your data into a table</a:t>
            </a:r>
          </a:p>
          <a:p>
            <a:pPr algn="l">
              <a:spcAft>
                <a:spcPts val="300"/>
              </a:spcAft>
            </a:pPr>
            <a:r>
              <a:rPr sz="1400" b="0">
                <a:solidFill>
                  <a:srgbClr val="6B6862"/>
                </a:solidFill>
                <a:latin typeface="Calibri"/>
              </a:rPr>
              <a:t>Ask Copilot to format the range as a named table, e.g. tblApplications. Copilot gives better answers on tables.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Name the columns in your prompt</a:t>
            </a:r>
          </a:p>
          <a:p>
            <a:pPr algn="l">
              <a:spcAft>
                <a:spcPts val="300"/>
              </a:spcAft>
            </a:pPr>
            <a:r>
              <a:rPr sz="1400" b="0">
                <a:solidFill>
                  <a:srgbClr val="6B6862"/>
                </a:solidFill>
                <a:latin typeface="Calibri"/>
              </a:rPr>
              <a:t>'Count hires by Source in tblApplications for 2026' beats 'analyse my data'.</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Describe the formula in plain English</a:t>
            </a:r>
          </a:p>
          <a:p>
            <a:pPr algn="l">
              <a:spcAft>
                <a:spcPts val="300"/>
              </a:spcAft>
            </a:pPr>
            <a:r>
              <a:rPr sz="1400" b="0">
                <a:solidFill>
                  <a:srgbClr val="6B6862"/>
                </a:solidFill>
                <a:latin typeface="Calibri"/>
              </a:rPr>
              <a:t>'Look up Recruiter_Name from tblRecruiters' - Copilot writes the XLOOKUP and explains it.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Check every number</a:t>
            </a:r>
          </a:p>
          <a:p>
            <a:pPr algn="l">
              <a:spcAft>
                <a:spcPts val="300"/>
              </a:spcAft>
            </a:pPr>
            <a:r>
              <a:rPr sz="1400" b="0">
                <a:solidFill>
                  <a:srgbClr val="6B6862"/>
                </a:solidFill>
                <a:latin typeface="Calibri"/>
              </a:rPr>
              <a:t>Compare Copilot's answer with your own COUNTIFS, SUMIFS or PivotTable total.</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Excel Fundamentals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1</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Data Prep &amp; Data Quality</a:t>
            </a:r>
          </a:p>
          <a:p>
            <a:pPr>
              <a:spcAft>
                <a:spcPts val="900"/>
              </a:spcAft>
            </a:pPr>
            <a:r>
              <a:rPr sz="1200" b="0">
                <a:solidFill>
                  <a:srgbClr val="6B6862"/>
                </a:solidFill>
                <a:latin typeface="Calibri"/>
              </a:rPr>
              <a:t>–  Explore and Question Recruitment Pipeline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2</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Formulas &amp; XLOOKUP</a:t>
            </a:r>
          </a:p>
          <a:p>
            <a:pPr>
              <a:spcAft>
                <a:spcPts val="900"/>
              </a:spcAft>
            </a:pPr>
            <a:r>
              <a:rPr sz="1200" b="0">
                <a:solidFill>
                  <a:srgbClr val="6B6862"/>
                </a:solidFill>
                <a:latin typeface="Calibri"/>
              </a:rPr>
              <a:t>–  Generate and Verify Formula Columns and XLOOKUPs for Job Requisitions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3</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PivotTables, PivotCharts &amp; Visuals</a:t>
            </a:r>
          </a:p>
          <a:p>
            <a:pPr>
              <a:spcAft>
                <a:spcPts val="900"/>
              </a:spcAft>
            </a:pPr>
            <a:r>
              <a:rPr sz="1200" b="0">
                <a:solidFill>
                  <a:srgbClr val="6B6862"/>
                </a:solidFill>
                <a:latin typeface="Calibri"/>
              </a:rPr>
              <a:t>–  Build PivotTables, PivotCharts and Recruitment Charts with Copilot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Data Prep?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Turning a raw export into a clean table: one header row, one record per row, one kind of value per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PivotTables, charts and Copilot only stay correct on a tidy table.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Can you say in one sentence what one row means?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Data Prep?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the data and press Ctrl+T (Format as Table).</a:t>
            </a:r>
          </a:p>
          <a:p>
            <a:pPr>
              <a:spcAft>
                <a:spcPts val="1000"/>
              </a:spcAft>
            </a:pPr>
            <a:r>
              <a:rPr sz="1600" b="0">
                <a:solidFill>
                  <a:srgbClr val="21201C"/>
                </a:solidFill>
                <a:latin typeface="Calibri"/>
              </a:rPr>
              <a:t>•  Table Design &gt; Table Name: tblApplications.</a:t>
            </a:r>
          </a:p>
          <a:p>
            <a:pPr>
              <a:spcAft>
                <a:spcPts val="1000"/>
              </a:spcAft>
            </a:pPr>
            <a:r>
              <a:rPr sz="1600" b="0">
                <a:solidFill>
                  <a:srgbClr val="21201C"/>
                </a:solidFill>
                <a:latin typeface="Calibri"/>
              </a:rPr>
              <a:t>•  One header row, no blank rows, no merged cells.</a:t>
            </a:r>
          </a:p>
          <a:p>
            <a:pPr>
              <a:spcAft>
                <a:spcPts val="1000"/>
              </a:spcAft>
            </a:pPr>
            <a:r>
              <a:rPr sz="1600" b="0">
                <a:solidFill>
                  <a:srgbClr val="21201C"/>
                </a:solidFill>
                <a:latin typeface="Calibri"/>
              </a:rPr>
              <a:t>•  Grain: one row = one application.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New rows join the table automatically.</a:t>
            </a:r>
          </a:p>
          <a:p>
            <a:pPr>
              <a:spcAft>
                <a:spcPts val="1000"/>
              </a:spcAft>
            </a:pPr>
            <a:r>
              <a:rPr sz="1600" b="0">
                <a:solidFill>
                  <a:srgbClr val="21201C"/>
                </a:solidFill>
                <a:latin typeface="Calibri"/>
              </a:rPr>
              <a:t>•  Every column holds one kind of value.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Why Data Quality Matters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Good data is complete, consistent, unique and valid. Common problems: duplicates, spelling variants, text numbers.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count and chart inherits the errors: 'Linked In' and 'LinkedIn' become two sources.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Profile before you analyse: rows vs unique IDs, distinct values, data types.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Why Data Quality Matters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CHECK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=ROWS(tblApplications) vs =COUNTA(UNIQUE(tblApplications[Application_ID]))</a:t>
            </a:r>
          </a:p>
          <a:p>
            <a:pPr>
              <a:spcAft>
                <a:spcPts val="1000"/>
              </a:spcAft>
            </a:pPr>
            <a:r>
              <a:rPr sz="1600" b="0">
                <a:solidFill>
                  <a:srgbClr val="21201C"/>
                </a:solidFill>
                <a:latin typeface="Calibri"/>
              </a:rPr>
              <a:t>•  =UNIQUE(tblApplications[Source]) lists every spelling.</a:t>
            </a:r>
          </a:p>
          <a:p>
            <a:pPr>
              <a:spcAft>
                <a:spcPts val="1000"/>
              </a:spcAft>
            </a:pPr>
            <a:r>
              <a:rPr sz="1600" b="0">
                <a:solidFill>
                  <a:srgbClr val="21201C"/>
                </a:solidFill>
                <a:latin typeface="Calibri"/>
              </a:rPr>
              <a:t>•  Or open the Source filter drop-down to see the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vs 240 unique IDs = 2 duplicates.</a:t>
            </a:r>
          </a:p>
          <a:p>
            <a:pPr>
              <a:spcAft>
                <a:spcPts val="1000"/>
              </a:spcAft>
            </a:pPr>
            <a:r>
              <a:rPr sz="1600" b="0">
                <a:solidFill>
                  <a:srgbClr val="21201C"/>
                </a:solidFill>
                <a:latin typeface="Calibri"/>
              </a:rPr>
              <a:t>•  Fix in a helper column; keep the original.</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Chat Only, Plan and Allow Editing</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Three modes: Chat only answers, Plan shows its steps first, Allow editing makes the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edit your workbook. Picking the mode first keeps you in control.</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After every edit, look at the highlighted changes, then select Done or Undo.</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Chat Only, Plan and Allow Editing</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Chat only: What does one row in tblApplications represent?</a:t>
            </a:r>
          </a:p>
          <a:p>
            <a:pPr>
              <a:spcAft>
                <a:spcPts val="1000"/>
              </a:spcAft>
            </a:pPr>
            <a:r>
              <a:rPr sz="1600" b="0">
                <a:solidFill>
                  <a:srgbClr val="21201C"/>
                </a:solidFill>
                <a:latin typeface="Calibri"/>
              </a:rPr>
              <a:t>•  Plan: Flag duplicate Application_IDs and standardise Source. Show me the steps first.</a:t>
            </a:r>
          </a:p>
          <a:p>
            <a:pPr>
              <a:spcAft>
                <a:spcPts val="1000"/>
              </a:spcAft>
            </a:pPr>
            <a:r>
              <a:rPr sz="1600" b="0">
                <a:solidFill>
                  <a:srgbClr val="21201C"/>
                </a:solidFill>
                <a:latin typeface="Calibri"/>
              </a:rPr>
              <a:t>•  Allow editing: Format this range as a table named tblApplications.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Chat only left the sheet unchanged.</a:t>
            </a:r>
          </a:p>
          <a:p>
            <a:pPr>
              <a:spcAft>
                <a:spcPts val="1000"/>
              </a:spcAft>
            </a:pPr>
            <a:r>
              <a:rPr sz="1600" b="0">
                <a:solidFill>
                  <a:srgbClr val="21201C"/>
                </a:solidFill>
                <a:latin typeface="Calibri"/>
              </a:rPr>
              <a:t>•  Plan waited for your approval.</a:t>
            </a:r>
          </a:p>
          <a:p>
            <a:pPr>
              <a:spcAft>
                <a:spcPts val="1000"/>
              </a:spcAft>
            </a:pPr>
            <a:r>
              <a:rPr sz="1600" b="0">
                <a:solidFill>
                  <a:srgbClr val="21201C"/>
                </a:solidFill>
                <a:latin typeface="Calibri"/>
              </a:rPr>
              <a:t>•  Done keeps a change; Undo removes it.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Copilot Pane — What Each Control Does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Copilot button or floating icon</a:t>
            </a:r>
          </a:p>
          <a:p>
            <a:pPr algn="l">
              <a:spcAft>
                <a:spcPts val="300"/>
              </a:spcAft>
            </a:pPr>
            <a:r>
              <a:rPr sz="1300" b="0">
                <a:solidFill>
                  <a:srgbClr val="6B6862"/>
                </a:solidFill>
                <a:latin typeface="Calibri"/>
              </a:rPr>
              <a:t>Home &gt; Copilot, or the floating icon at the bottom right. Right-click the icon to dock it or move it to the ribbon.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Model picker (top)</a:t>
            </a:r>
          </a:p>
          <a:p>
            <a:pPr algn="l">
              <a:spcAft>
                <a:spcPts val="300"/>
              </a:spcAft>
            </a:pPr>
            <a:r>
              <a:rPr sz="1300" b="0">
                <a:solidFill>
                  <a:srgbClr val="6B6862"/>
                </a:solidFill>
                <a:latin typeface="Calibri"/>
              </a:rPr>
              <a:t>Auto picks the model for each task. Or choose a Claude (Anthropic) or GPT (OpenAI) model for this session.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Mode (above the prompt box)</a:t>
            </a:r>
          </a:p>
          <a:p>
            <a:pPr algn="l">
              <a:spcAft>
                <a:spcPts val="300"/>
              </a:spcAft>
            </a:pPr>
            <a:r>
              <a:rPr sz="1300" b="0">
                <a:solidFill>
                  <a:srgbClr val="6B6862"/>
                </a:solidFill>
                <a:latin typeface="Calibri"/>
              </a:rPr>
              <a:t>Chat only answers. Plan shows its steps and waits. Allow editing (the default) makes the change.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 Add work content</a:t>
            </a:r>
          </a:p>
          <a:p>
            <a:pPr algn="l">
              <a:spcAft>
                <a:spcPts val="300"/>
              </a:spcAft>
            </a:pPr>
            <a:r>
              <a:rPr sz="1300" b="0">
                <a:solidFill>
                  <a:srgbClr val="6B6862"/>
                </a:solidFill>
                <a:latin typeface="Calibri"/>
              </a:rPr>
              <a:t>Attach a file, choose plugins &amp; skills, create workbook rules, or switch web and work sources.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Settings (...)</a:t>
            </a:r>
          </a:p>
          <a:p>
            <a:pPr algn="l">
              <a:spcAft>
                <a:spcPts val="300"/>
              </a:spcAft>
            </a:pPr>
            <a:r>
              <a:rPr sz="1300" b="0">
                <a:solidFill>
                  <a:srgbClr val="6B6862"/>
                </a:solidFill>
                <a:latin typeface="Calibri"/>
              </a:rPr>
              <a:t>Personalization for your preferences; Manage plugins &amp; skills to turn skills on or off.</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chat and history</a:t>
            </a:r>
          </a:p>
          <a:p>
            <a:pPr algn="l">
              <a:spcAft>
                <a:spcPts val="300"/>
              </a:spcAft>
            </a:pPr>
            <a:r>
              <a:rPr sz="1300" b="0">
                <a:solidFill>
                  <a:srgbClr val="6B6862"/>
                </a:solidFill>
                <a:latin typeface="Calibri"/>
              </a:rPr>
              <a:t>Start a new chat when you switch task or change a setting; reopen earlier chats from history.</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INTERFACE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 Model</a:t>
            </a:r>
          </a:p>
        </p:txBody>
      </p:sp>
      <p:sp>
        <p:nvSpPr>
          <p:cNvPr id="5" name="Rectangle 4"/>
          <p:cNvSpPr/>
          <p:nvPr/>
        </p:nvSpPr>
        <p:spPr>
          <a:xfrm>
            <a:off x="731520" y="1764792"/>
            <a:ext cx="2539789" cy="4434840"/>
          </a:xfrm>
          <a:prstGeom prst="rect">
            <a:avLst/>
          </a:prstGeom>
          <a:solidFill>
            <a:srgbClr val="DCD8CF"/>
          </a:solidFill>
          <a:ln>
            <a:noFill/>
          </a:ln>
          <a:effectLst/>
        </p:spPr>
        <p:txBody>
          <a:bodyPr rtlCol="0" anchor="ctr"/>
          <a:lstStyle/>
          <a:p>
            <a:pPr algn="ctr"/>
          </a:p>
        </p:txBody>
      </p:sp>
      <p:pic>
        <p:nvPicPr>
          <p:cNvPr id="6" name="Picture 5" descr="model-picker.png"/>
          <p:cNvPicPr>
            <a:picLocks noChangeAspect="1"/>
          </p:cNvPicPr>
          <p:nvPr/>
        </p:nvPicPr>
        <p:blipFill>
          <a:blip r:embed="rId2"/>
          <a:stretch>
            <a:fillRect/>
          </a:stretch>
        </p:blipFill>
        <p:spPr>
          <a:xfrm>
            <a:off x="777240" y="1810512"/>
            <a:ext cx="2448350" cy="4343400"/>
          </a:xfrm>
          <a:prstGeom prst="rect">
            <a:avLst/>
          </a:prstGeom>
        </p:spPr>
      </p:pic>
      <p:sp>
        <p:nvSpPr>
          <p:cNvPr id="7" name="Rounded Rectangle 6"/>
          <p:cNvSpPr/>
          <p:nvPr/>
        </p:nvSpPr>
        <p:spPr>
          <a:xfrm>
            <a:off x="3591349" y="1810512"/>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3591349" y="1810512"/>
            <a:ext cx="7820363" cy="64008"/>
          </a:xfrm>
          <a:prstGeom prst="rect">
            <a:avLst/>
          </a:prstGeom>
          <a:solidFill>
            <a:srgbClr val="D97757"/>
          </a:solidFill>
          <a:ln>
            <a:noFill/>
          </a:ln>
          <a:effectLst/>
        </p:spPr>
        <p:txBody>
          <a:bodyPr rtlCol="0" anchor="ctr"/>
          <a:lstStyle/>
          <a:p>
            <a:pPr algn="ctr"/>
          </a:p>
        </p:txBody>
      </p:sp>
      <p:sp>
        <p:nvSpPr>
          <p:cNvPr id="9" name="Oval 8"/>
          <p:cNvSpPr/>
          <p:nvPr/>
        </p:nvSpPr>
        <p:spPr>
          <a:xfrm>
            <a:off x="3774229" y="2120265"/>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3774229" y="2120265"/>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4322869" y="1810512"/>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Auto (recommended)</a:t>
            </a:r>
          </a:p>
          <a:p>
            <a:pPr algn="l">
              <a:spcAft>
                <a:spcPts val="200"/>
              </a:spcAft>
            </a:pPr>
            <a:r>
              <a:rPr sz="1200" b="0">
                <a:solidFill>
                  <a:srgbClr val="6B6862"/>
                </a:solidFill>
                <a:latin typeface="Calibri"/>
              </a:rPr>
              <a:t>Copilot chooses the model for each task. Start here.</a:t>
            </a:r>
          </a:p>
        </p:txBody>
      </p:sp>
      <p:sp>
        <p:nvSpPr>
          <p:cNvPr id="12" name="Rounded Rectangle 11"/>
          <p:cNvSpPr/>
          <p:nvPr/>
        </p:nvSpPr>
        <p:spPr>
          <a:xfrm>
            <a:off x="3591349" y="2923794"/>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3591349" y="2923794"/>
            <a:ext cx="7820363" cy="64008"/>
          </a:xfrm>
          <a:prstGeom prst="rect">
            <a:avLst/>
          </a:prstGeom>
          <a:solidFill>
            <a:srgbClr val="3A7D7B"/>
          </a:solidFill>
          <a:ln>
            <a:noFill/>
          </a:ln>
          <a:effectLst/>
        </p:spPr>
        <p:txBody>
          <a:bodyPr rtlCol="0" anchor="ctr"/>
          <a:lstStyle/>
          <a:p>
            <a:pPr algn="ctr"/>
          </a:p>
        </p:txBody>
      </p:sp>
      <p:sp>
        <p:nvSpPr>
          <p:cNvPr id="14" name="Oval 13"/>
          <p:cNvSpPr/>
          <p:nvPr/>
        </p:nvSpPr>
        <p:spPr>
          <a:xfrm>
            <a:off x="3774229" y="3233547"/>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3774229" y="3233547"/>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4322869" y="2923794"/>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Claude - Anthropic</a:t>
            </a:r>
          </a:p>
          <a:p>
            <a:pPr algn="l">
              <a:spcAft>
                <a:spcPts val="200"/>
              </a:spcAft>
            </a:pPr>
            <a:r>
              <a:rPr sz="1200" b="0">
                <a:solidFill>
                  <a:srgbClr val="6B6862"/>
                </a:solidFill>
                <a:latin typeface="Calibri"/>
              </a:rPr>
              <a:t>e.g. Claude Opus and Sonnet models. Deep reasoning models suit complex analysis.</a:t>
            </a:r>
          </a:p>
        </p:txBody>
      </p:sp>
      <p:sp>
        <p:nvSpPr>
          <p:cNvPr id="17" name="Rounded Rectangle 16"/>
          <p:cNvSpPr/>
          <p:nvPr/>
        </p:nvSpPr>
        <p:spPr>
          <a:xfrm>
            <a:off x="3591349" y="4037076"/>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3591349" y="4037076"/>
            <a:ext cx="7820363" cy="64008"/>
          </a:xfrm>
          <a:prstGeom prst="rect">
            <a:avLst/>
          </a:prstGeom>
          <a:solidFill>
            <a:srgbClr val="5B4B8A"/>
          </a:solidFill>
          <a:ln>
            <a:noFill/>
          </a:ln>
          <a:effectLst/>
        </p:spPr>
        <p:txBody>
          <a:bodyPr rtlCol="0" anchor="ctr"/>
          <a:lstStyle/>
          <a:p>
            <a:pPr algn="ctr"/>
          </a:p>
        </p:txBody>
      </p:sp>
      <p:sp>
        <p:nvSpPr>
          <p:cNvPr id="19" name="Oval 18"/>
          <p:cNvSpPr/>
          <p:nvPr/>
        </p:nvSpPr>
        <p:spPr>
          <a:xfrm>
            <a:off x="3774229" y="4346829"/>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3774229" y="4346829"/>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4322869" y="4037076"/>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GPT - OpenAI</a:t>
            </a:r>
          </a:p>
          <a:p>
            <a:pPr algn="l">
              <a:spcAft>
                <a:spcPts val="200"/>
              </a:spcAft>
            </a:pPr>
            <a:r>
              <a:rPr sz="1200" b="0">
                <a:solidFill>
                  <a:srgbClr val="6B6862"/>
                </a:solidFill>
                <a:latin typeface="Calibri"/>
              </a:rPr>
              <a:t>OpenAI's GPT models.</a:t>
            </a:r>
          </a:p>
        </p:txBody>
      </p:sp>
      <p:sp>
        <p:nvSpPr>
          <p:cNvPr id="22" name="Rounded Rectangle 21"/>
          <p:cNvSpPr/>
          <p:nvPr/>
        </p:nvSpPr>
        <p:spPr>
          <a:xfrm>
            <a:off x="3591349" y="5150358"/>
            <a:ext cx="7820363"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3591349" y="5150358"/>
            <a:ext cx="7820363" cy="64008"/>
          </a:xfrm>
          <a:prstGeom prst="rect">
            <a:avLst/>
          </a:prstGeom>
          <a:solidFill>
            <a:srgbClr val="C2603F"/>
          </a:solidFill>
          <a:ln>
            <a:noFill/>
          </a:ln>
          <a:effectLst/>
        </p:spPr>
        <p:txBody>
          <a:bodyPr rtlCol="0" anchor="ctr"/>
          <a:lstStyle/>
          <a:p>
            <a:pPr algn="ctr"/>
          </a:p>
        </p:txBody>
      </p:sp>
      <p:sp>
        <p:nvSpPr>
          <p:cNvPr id="24" name="Oval 23"/>
          <p:cNvSpPr/>
          <p:nvPr/>
        </p:nvSpPr>
        <p:spPr>
          <a:xfrm>
            <a:off x="3774229" y="5460111"/>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3774229" y="546011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4322869" y="5150358"/>
            <a:ext cx="6905963" cy="1003554"/>
          </a:xfrm>
          <a:prstGeom prst="rect">
            <a:avLst/>
          </a:prstGeom>
          <a:noFill/>
        </p:spPr>
        <p:txBody>
          <a:bodyPr wrap="square" anchor="ctr">
            <a:spAutoFit/>
          </a:bodyPr>
          <a:lstStyle/>
          <a:p>
            <a:pPr algn="l">
              <a:spcAft>
                <a:spcPts val="200"/>
              </a:spcAft>
            </a:pPr>
            <a:r>
              <a:rPr sz="1400" b="1">
                <a:solidFill>
                  <a:srgbClr val="21201C"/>
                </a:solidFill>
                <a:latin typeface="Calibri"/>
              </a:rPr>
              <a:t>Which one?</a:t>
            </a:r>
          </a:p>
          <a:p>
            <a:pPr algn="l">
              <a:spcAft>
                <a:spcPts val="200"/>
              </a:spcAft>
            </a:pPr>
            <a:r>
              <a:rPr sz="1200" b="0">
                <a:solidFill>
                  <a:srgbClr val="6B6862"/>
                </a:solidFill>
                <a:latin typeface="Calibri"/>
              </a:rPr>
              <a:t>Try another model if an answer is weak. Premium models have fair-use limits. Always check the result.</a:t>
            </a:r>
          </a:p>
        </p:txBody>
      </p:sp>
      <p:sp>
        <p:nvSpPr>
          <p:cNvPr id="27" name="TextBox 2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9" name="TextBox 2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Setup, Data Sources and the Model Picker</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needs an eligible licence and a current Excel. The + menu adds files and sources; the top menu picks the model.</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Most 'Copilot is missing' problems are setup. Naming the right file beats letting Copilot guess.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Leave the model on Auto. When you compare models, check both against the same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Setup, Data Sources and the Model Picker</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Save as .xlsx locally; Calculation Options = Automatic.</a:t>
            </a:r>
          </a:p>
          <a:p>
            <a:pPr>
              <a:spcAft>
                <a:spcPts val="1000"/>
              </a:spcAft>
            </a:pPr>
            <a:r>
              <a:rPr sz="1600" b="0">
                <a:solidFill>
                  <a:srgbClr val="21201C"/>
                </a:solidFill>
                <a:latin typeface="Calibri"/>
              </a:rPr>
              <a:t>•  + &gt; attach a file, or type / and the file name.</a:t>
            </a:r>
          </a:p>
          <a:p>
            <a:pPr>
              <a:spcAft>
                <a:spcPts val="1000"/>
              </a:spcAft>
            </a:pPr>
            <a:r>
              <a:rPr sz="1600" b="0">
                <a:solidFill>
                  <a:srgbClr val="21201C"/>
                </a:solidFill>
                <a:latin typeface="Calibri"/>
              </a:rPr>
              <a:t>•  Model picker (top): Auto, or a Claude or GPT model.</a:t>
            </a:r>
          </a:p>
          <a:p>
            <a:pPr>
              <a:spcAft>
                <a:spcPts val="1000"/>
              </a:spcAft>
            </a:pPr>
            <a:r>
              <a:rPr sz="1600" b="0">
                <a:solidFill>
                  <a:srgbClr val="21201C"/>
                </a:solidFill>
                <a:latin typeface="Calibri"/>
              </a:rPr>
              <a:t>•  New chat, then ask the same question to compare.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Copilot button is active, not grey.</a:t>
            </a:r>
          </a:p>
          <a:p>
            <a:pPr>
              <a:spcAft>
                <a:spcPts val="1000"/>
              </a:spcAft>
            </a:pPr>
            <a:r>
              <a:rPr sz="1600" b="0">
                <a:solidFill>
                  <a:srgbClr val="21201C"/>
                </a:solidFill>
                <a:latin typeface="Calibri"/>
              </a:rPr>
              <a:t>•  Both models agree with your COUNTIFS.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Cleaning Data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Ask Copilot to make the table, list the problems and fix them in a helper column. Data &gt; Clean Data fixes spaces and capitals.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finds problems in seconds - but cleanup fixes typing, not meaning.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rows and unique IDs before and after. Flag problems before you fix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Copilot — Cleaning Data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Format this range as a table with headers and name it tblApplications.</a:t>
            </a:r>
          </a:p>
          <a:p>
            <a:pPr>
              <a:spcAft>
                <a:spcPts val="1000"/>
              </a:spcAft>
            </a:pPr>
            <a:r>
              <a:rPr sz="1600" b="0">
                <a:solidFill>
                  <a:srgbClr val="21201C"/>
                </a:solidFill>
                <a:latin typeface="Calibri"/>
              </a:rPr>
              <a:t>•  How many rows and how many unique Application_IDs are there?</a:t>
            </a:r>
          </a:p>
          <a:p>
            <a:pPr>
              <a:spcAft>
                <a:spcPts val="1000"/>
              </a:spcAft>
            </a:pPr>
            <a:r>
              <a:rPr sz="1600" b="0">
                <a:solidFill>
                  <a:srgbClr val="21201C"/>
                </a:solidFill>
                <a:latin typeface="Calibri"/>
              </a:rPr>
              <a:t>•  List the distinct values in Source and flag any spelling variants.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242 rows but 240 unique IDs = 2 duplicates found.</a:t>
            </a:r>
          </a:p>
          <a:p>
            <a:pPr>
              <a:spcAft>
                <a:spcPts val="1000"/>
              </a:spcAft>
            </a:pPr>
            <a:r>
              <a:rPr sz="1600" b="0">
                <a:solidFill>
                  <a:srgbClr val="21201C"/>
                </a:solidFill>
                <a:latin typeface="Calibri"/>
              </a:rPr>
              <a:t>•  No row deleted after the clean-up.</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THEME · DATA PREP &amp; DATA QUALITY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Explore and Question Recruitment Pipeline Data</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You are a talent analyst at BrightPath Talent Solutions, a fictional Singapore recruitment and staffing firm. You will meet Copilot's three modes on a real task: Allow editing turns the H1 2026 pipeline export into a named table, Chat only describes it without touching the sheet, and Plan shows you its steps before it fixes duplicate IDs and inconsistent Source labels. You will then answer pipeline questions, compare two AI models on the same question, and build a highlighted, sorted and filtered review view. Every number is checked with a formula.</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BrightPath_Candidate_Pipeline.xlsx in your work-c34 folder with table tblApplications, a Source_Clean column, duplicate IDs highlighted, Hired rows highlighted, a verified source-by-hires answer and a filled Prompt_Log</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Open locally</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Create the table</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Chat only: describe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Plan: fix quality</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Ask, compare, filter</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for Microsoft 365 (desktop) · Copilot (Chat only, Plan, Allow editing, model picker) · BrightPath_Candidate_Pipeline.xlsx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Describe: Describe tblApplications: what one row represents, each column's data type, the row count and the Applied_Date range. Do not change the workbook.</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Data quality: List any Application_ID that appears more than once in tblApplications and any Source value that is not in the canonical list on About_This_Data.</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Plan first: Plan how you would flag duplicate Application_IDs and standardise Source. Show me the steps before you change anything.</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Clean helper column: Add a column Source_Clean that trims spaces from Source and replaces 'Linked In' with 'LinkedIn'. Do not change the original Source column.</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Question: Using tblApplications, count applications and hires by Source_Clean and show the hire rate. Sort by hires, highest first.</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Rows in tblApplications</a:t>
            </a:r>
          </a:p>
          <a:p>
            <a:pPr algn="l">
              <a:spcAft>
                <a:spcPts val="300"/>
              </a:spcAft>
            </a:pPr>
            <a:r>
              <a:rPr sz="1300" b="0">
                <a:solidFill>
                  <a:srgbClr val="6B6862"/>
                </a:solidFill>
                <a:latin typeface="Calibri"/>
              </a:rPr>
              <a:t>242 rows, 240 unique Application_IDs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Duplicate IDs (orange)</a:t>
            </a:r>
          </a:p>
          <a:p>
            <a:pPr algn="l">
              <a:spcAft>
                <a:spcPts val="300"/>
              </a:spcAft>
            </a:pPr>
            <a:r>
              <a:rPr sz="1300" b="0">
                <a:solidFill>
                  <a:srgbClr val="6B6862"/>
                </a:solidFill>
                <a:latin typeface="Calibri"/>
              </a:rPr>
              <a:t>APP-0018 and APP-0020 - 4 orange cells: 2 near the top, 2 in the last rows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Fixed Source cells (yellow)</a:t>
            </a:r>
          </a:p>
          <a:p>
            <a:pPr algn="l">
              <a:spcAft>
                <a:spcPts val="300"/>
              </a:spcAft>
            </a:pPr>
            <a:r>
              <a:rPr sz="1300" b="0">
                <a:solidFill>
                  <a:srgbClr val="6B6862"/>
                </a:solidFill>
                <a:latin typeface="Calibri"/>
              </a:rPr>
              <a:t>5 cells: 3 'Linked In' + 2 'JobStreet '</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LinkedIn count in Source_Clean</a:t>
            </a:r>
          </a:p>
          <a:p>
            <a:pPr algn="l">
              <a:spcAft>
                <a:spcPts val="300"/>
              </a:spcAft>
            </a:pPr>
            <a:r>
              <a:rPr sz="1300" b="0">
                <a:solidFill>
                  <a:srgbClr val="6B6862"/>
                </a:solidFill>
                <a:latin typeface="Calibri"/>
              </a:rPr>
              <a:t>69</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a:t>
            </a:r>
          </a:p>
          <a:p>
            <a:pPr algn="l">
              <a:spcAft>
                <a:spcPts val="300"/>
              </a:spcAft>
            </a:pPr>
            <a:r>
              <a:rPr sz="1300" b="0">
                <a:solidFill>
                  <a:srgbClr val="6B6862"/>
                </a:solidFill>
                <a:latin typeface="Calibri"/>
              </a:rPr>
              <a:t>22 in total; LinkedIn has the most (8)</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Technology + Interview filter</a:t>
            </a:r>
          </a:p>
          <a:p>
            <a:pPr algn="l">
              <a:spcAft>
                <a:spcPts val="300"/>
              </a:spcAft>
            </a:pPr>
            <a:r>
              <a:rPr sz="1300" b="0">
                <a:solidFill>
                  <a:srgbClr val="6B6862"/>
                </a:solidFill>
                <a:latin typeface="Calibri"/>
              </a:rPr>
              <a:t>9 rows; all 242 back after clearing it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 Formula in Excel?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starts with = and calculates from cells and functions. In a table, use names: =[@Filled]/[@Openings].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Formulas are auditable and recalculate when the data changes. A typed number does neither.</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any result and read its formula in the formula bar.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a Formula in Excel?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TRY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 rate: =[@Filled]/[@Openings]</a:t>
            </a:r>
          </a:p>
          <a:p>
            <a:pPr>
              <a:spcAft>
                <a:spcPts val="1000"/>
              </a:spcAft>
            </a:pPr>
            <a:r>
              <a:rPr sz="1600" b="0">
                <a:solidFill>
                  <a:srgbClr val="21201C"/>
                </a:solidFill>
                <a:latin typeface="Calibri"/>
              </a:rPr>
              <a:t>•  Open or closed: =IF([@Close_Date]="","Open","Closed")</a:t>
            </a:r>
          </a:p>
          <a:p>
            <a:pPr>
              <a:spcAft>
                <a:spcPts val="1000"/>
              </a:spcAft>
            </a:pPr>
            <a:r>
              <a:rPr sz="1600" b="0">
                <a:solidFill>
                  <a:srgbClr val="21201C"/>
                </a:solidFill>
                <a:latin typeface="Calibri"/>
              </a:rPr>
              <a:t>•  Count: =COUNTIFS(tblRequisitions[Status],"Open")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Typed once, it fills the whole column.</a:t>
            </a:r>
          </a:p>
          <a:p>
            <a:pPr>
              <a:spcAft>
                <a:spcPts val="1000"/>
              </a:spcAft>
            </a:pPr>
            <a:r>
              <a:rPr sz="1600" b="0">
                <a:solidFill>
                  <a:srgbClr val="21201C"/>
                </a:solidFill>
                <a:latin typeface="Calibri"/>
              </a:rPr>
              <a:t>•  No typed numbers in calculated columns.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Table References: What Does @ Mean?</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In a table, @ means 'this row'. [@Filled] is the Filled value in the same row as the formula.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formula fills every row, reads like the rule, and keeps working when rows are added or sorted.</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this row. No @ = the whole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Table References: What Does @ Mean?</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=[@Filled]/[@Openings] - this row's Filled / this row's Openings</a:t>
            </a:r>
          </a:p>
          <a:p>
            <a:pPr>
              <a:spcAft>
                <a:spcPts val="1000"/>
              </a:spcAft>
            </a:pPr>
            <a:r>
              <a:rPr sz="1600" b="0">
                <a:solidFill>
                  <a:srgbClr val="21201C"/>
                </a:solidFill>
                <a:latin typeface="Calibri"/>
              </a:rPr>
              <a:t>•  Same as =G3/F3 on row 3, but readable and safe to sort</a:t>
            </a:r>
          </a:p>
          <a:p>
            <a:pPr>
              <a:spcAft>
                <a:spcPts val="1000"/>
              </a:spcAft>
            </a:pPr>
            <a:r>
              <a:rPr sz="1600" b="0">
                <a:solidFill>
                  <a:srgbClr val="21201C"/>
                </a:solidFill>
                <a:latin typeface="Calibri"/>
              </a:rPr>
              <a:t>•  =SUM(tblRequisitions[Filled]) - the whole Filled column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You only see @ inside an Excel table.</a:t>
            </a:r>
          </a:p>
          <a:p>
            <a:pPr>
              <a:spcAft>
                <a:spcPts val="1000"/>
              </a:spcAft>
            </a:pPr>
            <a:r>
              <a:rPr sz="1600" b="0">
                <a:solidFill>
                  <a:srgbClr val="21201C"/>
                </a:solidFill>
                <a:latin typeface="Calibri"/>
              </a:rPr>
              <a:t>•  =SUM([@Filled]) adds just one row - drop the @ for totals.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Excel References: !, :, $ and [@[...]]</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 = on that sheet. : = a range. $ = locked when copied. [@[Column]] = this row's value, same as [@Column].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Copilot's replies and formulas use them all - reading them shows which cells changed and where a formula looks.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Does the reference point at the right sheet, the right range and the right fixed input?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Excel — Reading Excel References: !, :, $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READ IT LIKE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Requisitions!P2:P61 - cells P2 to P61 on the Requisitions sheet</a:t>
            </a:r>
          </a:p>
          <a:p>
            <a:pPr>
              <a:spcAft>
                <a:spcPts val="1000"/>
              </a:spcAft>
            </a:pPr>
            <a:r>
              <a:rPr sz="1600" b="0">
                <a:solidFill>
                  <a:srgbClr val="21201C"/>
                </a:solidFill>
                <a:latin typeface="Calibri"/>
              </a:rPr>
              <a:t>•  Control!$B$1 - cell B1 on the Control sheet, locked with $</a:t>
            </a:r>
          </a:p>
          <a:p>
            <a:pPr>
              <a:spcAft>
                <a:spcPts val="1000"/>
              </a:spcAft>
            </a:pPr>
            <a:r>
              <a:rPr sz="1600" b="0">
                <a:solidFill>
                  <a:srgbClr val="21201C"/>
                </a:solidFill>
                <a:latin typeface="Calibri"/>
              </a:rPr>
              <a:t>•  [@[Fee_Rate]] - this row's Fee_Rate, same as [@Fee_Rate]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Press F4 while editing a reference to add or remove $.</a:t>
            </a:r>
          </a:p>
          <a:p>
            <a:pPr>
              <a:spcAft>
                <a:spcPts val="1000"/>
              </a:spcAft>
            </a:pPr>
            <a:r>
              <a:rPr sz="1600" b="0">
                <a:solidFill>
                  <a:srgbClr val="21201C"/>
                </a:solidFill>
                <a:latin typeface="Calibri"/>
              </a:rPr>
              <a:t>•  Sheet names with spaces need quotes: 'Dash Data'!B2.</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READ THE FORMULA</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Reading a Formula: IF, AND and @</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 PIECE BY PIECE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WHY THE @?</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=IF(AND([@Status]="Open", [@[Days_Open]]&gt;45), "Overdue", "")</a:t>
            </a:r>
          </a:p>
          <a:p>
            <a:pPr>
              <a:spcAft>
                <a:spcPts val="1000"/>
              </a:spcAft>
            </a:pPr>
            <a:r>
              <a:rPr sz="1600" b="0">
                <a:solidFill>
                  <a:srgbClr val="21201C"/>
                </a:solidFill>
                <a:latin typeface="Calibri"/>
              </a:rPr>
              <a:t>•  [@Status]="Open" - is this row's Status Open?</a:t>
            </a:r>
          </a:p>
          <a:p>
            <a:pPr>
              <a:spcAft>
                <a:spcPts val="1000"/>
              </a:spcAft>
            </a:pPr>
            <a:r>
              <a:rPr sz="1600" b="0">
                <a:solidFill>
                  <a:srgbClr val="21201C"/>
                </a:solidFill>
                <a:latin typeface="Calibri"/>
              </a:rPr>
              <a:t>•  [@[Days_Open]]&gt;45 - has this row been open more than 45 days?</a:t>
            </a:r>
          </a:p>
          <a:p>
            <a:pPr>
              <a:spcAft>
                <a:spcPts val="1000"/>
              </a:spcAft>
            </a:pPr>
            <a:r>
              <a:rPr sz="1600" b="0">
                <a:solidFill>
                  <a:srgbClr val="21201C"/>
                </a:solidFill>
                <a:latin typeface="Calibri"/>
              </a:rPr>
              <a:t>•  AND(test1, test2) - TRUE only if both are TRUE</a:t>
            </a:r>
          </a:p>
          <a:p>
            <a:pPr>
              <a:spcAft>
                <a:spcPts val="1000"/>
              </a:spcAft>
            </a:pPr>
            <a:r>
              <a:rPr sz="1600" b="0">
                <a:solidFill>
                  <a:srgbClr val="21201C"/>
                </a:solidFill>
                <a:latin typeface="Calibri"/>
              </a:rPr>
              <a:t>•  IF(test, "Overdue", "") - show Overdue, otherwise leave blank</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 = this row: each requisition is checked on its own row.</a:t>
            </a:r>
          </a:p>
          <a:p>
            <a:pPr>
              <a:spcAft>
                <a:spcPts val="1000"/>
              </a:spcAft>
            </a:pPr>
            <a:r>
              <a:rPr sz="1600" b="0">
                <a:solidFill>
                  <a:srgbClr val="21201C"/>
                </a:solidFill>
                <a:latin typeface="Calibri"/>
              </a:rPr>
              <a:t>•  Without @, [Status] means all 60 values at once - error or wrong result.</a:t>
            </a:r>
          </a:p>
          <a:p>
            <a:pPr>
              <a:spcAft>
                <a:spcPts val="1000"/>
              </a:spcAft>
            </a:pPr>
            <a:r>
              <a:rPr sz="1600" b="0">
                <a:solidFill>
                  <a:srgbClr val="21201C"/>
                </a:solidFill>
                <a:latin typeface="Calibri"/>
              </a:rPr>
              <a:t>•  [@Status] and [@[Days_Open]] mean the same kind of thing.</a:t>
            </a:r>
          </a:p>
          <a:p>
            <a:pPr>
              <a:spcAft>
                <a:spcPts val="1000"/>
              </a:spcAft>
            </a:pPr>
            <a:r>
              <a:rPr sz="1600" b="0">
                <a:solidFill>
                  <a:srgbClr val="21201C"/>
                </a:solidFill>
                <a:latin typeface="Calibri"/>
              </a:rPr>
              <a:t>•  Check: 13 rows show Overdue.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XLOOKUP?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XLOOKUP finds a key in one table and returns the matching value from another table.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Joins data by a shared ID instead of copy-paste - and updates when either table changes. Simpler and safer than VLOOKUP.</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Count 'Not found' results: each one is a missing or mistyped key.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Excel — What Is XLOOKUP?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SYNTAX</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=XLOOKUP(lookup_value, lookup_array, return_array, [if_not_found])</a:t>
            </a:r>
          </a:p>
          <a:p>
            <a:pPr>
              <a:spcAft>
                <a:spcPts val="1000"/>
              </a:spcAft>
            </a:pPr>
            <a:r>
              <a:rPr sz="1600" b="0">
                <a:solidFill>
                  <a:srgbClr val="21201C"/>
                </a:solidFill>
                <a:latin typeface="Calibri"/>
              </a:rPr>
              <a:t>•  =XLOOKUP([@Recruiter_ID], tblRecruiters[Recruiter_ID], tblRecruiters[Recruiter_Name], "Not found")</a:t>
            </a:r>
          </a:p>
          <a:p>
            <a:pPr>
              <a:spcAft>
                <a:spcPts val="1000"/>
              </a:spcAft>
            </a:pPr>
            <a:r>
              <a:rPr sz="1600" b="0">
                <a:solidFill>
                  <a:srgbClr val="21201C"/>
                </a:solidFill>
                <a:latin typeface="Calibri"/>
              </a:rPr>
              <a:t>•  =COUNTIF(tblRequisitions[Recruiter_Name], "Not found")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R05 returns Siti Hamid.</a:t>
            </a:r>
          </a:p>
          <a:p>
            <a:pPr>
              <a:spcAft>
                <a:spcPts val="1000"/>
              </a:spcAft>
            </a:pPr>
            <a:r>
              <a:rPr sz="1600" b="0">
                <a:solidFill>
                  <a:srgbClr val="21201C"/>
                </a:solidFill>
                <a:latin typeface="Calibri"/>
              </a:rPr>
              <a:t>•  Keys must match exactly - watch extra spaces.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Writing Formulas and XLOOKUPs with Copilot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calculation in plain English and Copilot writes the formula or XLOOKUP, and explains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formula can run without errors and still be wrong, e.g. a monthly instead of an annual salary.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Work out one row by hand and compare the column total with your own formula.</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Writing Formulas and XLOOKUPs with Copilot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Recruiter_Name by looking it up from tblRecruiters using Recruiter_ID.</a:t>
            </a:r>
          </a:p>
          <a:p>
            <a:pPr>
              <a:spcAft>
                <a:spcPts val="1000"/>
              </a:spcAft>
            </a:pPr>
            <a:r>
              <a:rPr sz="1600" b="0">
                <a:solidFill>
                  <a:srgbClr val="21201C"/>
                </a:solidFill>
                <a:latin typeface="Calibri"/>
              </a:rPr>
              <a:t>•  Add Est_Fee = Filled x Monthly_Salary_Budget x 12 x Fee_Rate, then a total row.</a:t>
            </a:r>
          </a:p>
          <a:p>
            <a:pPr>
              <a:spcAft>
                <a:spcPts val="1000"/>
              </a:spcAft>
            </a:pPr>
            <a:r>
              <a:rPr sz="1600" b="0">
                <a:solidFill>
                  <a:srgbClr val="21201C"/>
                </a:solidFill>
                <a:latin typeface="Calibri"/>
              </a:rPr>
              <a:t>•  Explain the formula in the selected cell.</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JOB-2002: 4 x S$4,900 x 12 x 25% = S$58,800.</a:t>
            </a:r>
          </a:p>
          <a:p>
            <a:pPr>
              <a:spcAft>
                <a:spcPts val="1000"/>
              </a:spcAft>
            </a:pPr>
            <a:r>
              <a:rPr sz="1600" b="0">
                <a:solidFill>
                  <a:srgbClr val="21201C"/>
                </a:solidFill>
                <a:latin typeface="Calibri"/>
              </a:rPr>
              <a:t>•  No 'Not found' in the lookup column.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THEME · FORMULAS &amp; XLOOKUP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Generate and Verify Formula Columns and XLOOKUPs for Job Requisitions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permanent-recruitment desk tracks 60 client job orders. You will ask Copilot to add an XLOOKUP for the recruiter's name and four calculated columns written from business rules, ask it to explain each formula, hand-check one requisition and reconcile column totals to independent formulas on the Control sheet. You will then ask Copilot which recruiter generated the most estimated fees and verify the answer.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BrightPath_Job_Requisitions.xlsx with Recruiter_Name, Days_Open, Fill_Rate, Est_Fee and Ageing_Flag columns in tblRequisitions, overdue requisitions highlighted, and a Control sheet that reconciles the totals</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Lookup</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Days open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Fill rate &amp; fee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Ageing flag</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Reconcile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XLOOKUP · structured references · BrightPath_Job_Requisitions.xlsx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2</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Lookup: Add a column Recruiter_Name that looks up Recruiter_Name from tblRecruiters using Recruiter_ID with XLOOKUP. Return "Not found" if missing.</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Duration: Add a column Days_Open: if Close_Date is blank use Control!B1 minus Open_Date, otherwise Close_Date minus Open_Date.</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Ratio: Add a column Fill_Rate = Filled / Openings formatted as a percentage.</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Business rule: Add a column Est_Fee = Filled x Monthly_Salary_Budget x 12 x Fee_Rate, formatted as S$ with no decimals.</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Flag: Add a column Ageing_Flag that shows "Overdue" when Status is Open and Days_Open &gt; 45, otherwise blank.</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2</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estimated fees (Control B3 and B4)</a:t>
            </a:r>
          </a:p>
          <a:p>
            <a:pPr algn="l">
              <a:spcAft>
                <a:spcPts val="300"/>
              </a:spcAft>
            </a:pPr>
            <a:r>
              <a:rPr sz="1300" b="0">
                <a:solidFill>
                  <a:srgbClr val="6B6862"/>
                </a:solidFill>
                <a:latin typeface="Calibri"/>
              </a:rPr>
              <a:t>Both S$1,030,512</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Average days to fill (B5)</a:t>
            </a:r>
          </a:p>
          <a:p>
            <a:pPr algn="l">
              <a:spcAft>
                <a:spcPts val="300"/>
              </a:spcAft>
            </a:pPr>
            <a:r>
              <a:rPr sz="1300" b="0">
                <a:solidFill>
                  <a:srgbClr val="6B6862"/>
                </a:solidFill>
                <a:latin typeface="Calibri"/>
              </a:rPr>
              <a:t>34.6 days (29 filled requisitions)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Overdue requisitions (B6 and B7)</a:t>
            </a:r>
          </a:p>
          <a:p>
            <a:pPr algn="l">
              <a:spcAft>
                <a:spcPts val="300"/>
              </a:spcAft>
            </a:pPr>
            <a:r>
              <a:rPr sz="1300" b="0">
                <a:solidFill>
                  <a:srgbClr val="6B6862"/>
                </a:solidFill>
                <a:latin typeface="Calibri"/>
              </a:rPr>
              <a:t>Both 13</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row JOB-2002</a:t>
            </a:r>
          </a:p>
          <a:p>
            <a:pPr algn="l">
              <a:spcAft>
                <a:spcPts val="300"/>
              </a:spcAft>
            </a:pPr>
            <a:r>
              <a:rPr sz="1300" b="0">
                <a:solidFill>
                  <a:srgbClr val="6B6862"/>
                </a:solidFill>
                <a:latin typeface="Calibri"/>
              </a:rPr>
              <a:t>Est_Fee S$58,800, Days_Open 36</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Recruiter_Name lookup</a:t>
            </a:r>
          </a:p>
          <a:p>
            <a:pPr algn="l">
              <a:spcAft>
                <a:spcPts val="300"/>
              </a:spcAft>
            </a:pPr>
            <a:r>
              <a:rPr sz="1300" b="0">
                <a:solidFill>
                  <a:srgbClr val="6B6862"/>
                </a:solidFill>
                <a:latin typeface="Calibri"/>
              </a:rPr>
              <a:t>Every row has a name - no "Not found"</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Top recruiter by fees</a:t>
            </a:r>
          </a:p>
          <a:p>
            <a:pPr algn="l">
              <a:spcAft>
                <a:spcPts val="300"/>
              </a:spcAft>
            </a:pPr>
            <a:r>
              <a:rPr sz="1300" b="0">
                <a:solidFill>
                  <a:srgbClr val="6B6862"/>
                </a:solidFill>
                <a:latin typeface="Calibri"/>
              </a:rPr>
              <a:t>Aisha Rahman - S$221,760</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Are PivotTables and PivotCharts?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PivotTable summarises a table by dragging fields into Rows, Columns, Values and Filters. A PivotChart charts 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Answers 'how many by X' in seconds, without formulas - and you can reshape it any time.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Is the value Sum, Count or Average? Did you Refresh after the data changed?</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Excel — What Are PivotTables and PivotCharts?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DO IT IN EXCEL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Click in tblMonthly &gt; Insert &gt; PivotTable &gt; New Worksheet.</a:t>
            </a:r>
          </a:p>
          <a:p>
            <a:pPr>
              <a:spcAft>
                <a:spcPts val="1000"/>
              </a:spcAft>
            </a:pPr>
            <a:r>
              <a:rPr sz="1600" b="0">
                <a:solidFill>
                  <a:srgbClr val="21201C"/>
                </a:solidFill>
                <a:latin typeface="Calibri"/>
              </a:rPr>
              <a:t>•  Rows: Month_Label · Values: Sum of Hires.</a:t>
            </a:r>
          </a:p>
          <a:p>
            <a:pPr>
              <a:spcAft>
                <a:spcPts val="1000"/>
              </a:spcAft>
            </a:pPr>
            <a:r>
              <a:rPr sz="1600" b="0">
                <a:solidFill>
                  <a:srgbClr val="21201C"/>
                </a:solidFill>
                <a:latin typeface="Calibri"/>
              </a:rPr>
              <a:t>•  PivotTable Analyze &gt; PivotChart &gt; Line.</a:t>
            </a:r>
          </a:p>
          <a:p>
            <a:pPr>
              <a:spcAft>
                <a:spcPts val="1000"/>
              </a:spcAft>
            </a:pPr>
            <a:r>
              <a:rPr sz="1600" b="0">
                <a:solidFill>
                  <a:srgbClr val="21201C"/>
                </a:solidFill>
                <a:latin typeface="Calibri"/>
              </a:rPr>
              <a:t>•  Data &gt; Refresh All after the data changes.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follows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PivotTables and PivotCharts from a Prompt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PivotTable and the PivotChart you want, and Copilot builds both, linked to your data.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total lets you check the chart, and both update when the data grows.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PivotTable grand total equals a SUM or SUMIFS of the source column.</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PivotTables and PivotCharts from a Prompt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PivotTable from tblMonthly with Month_Label in rows and Sum of Hires.</a:t>
            </a:r>
          </a:p>
          <a:p>
            <a:pPr>
              <a:spcAft>
                <a:spcPts val="1000"/>
              </a:spcAft>
            </a:pPr>
            <a:r>
              <a:rPr sz="1600" b="0">
                <a:solidFill>
                  <a:srgbClr val="21201C"/>
                </a:solidFill>
                <a:latin typeface="Calibri"/>
              </a:rPr>
              <a:t>•  Create a line PivotChart of total hires by month from it, with data labels.</a:t>
            </a:r>
          </a:p>
          <a:p>
            <a:pPr>
              <a:spcAft>
                <a:spcPts val="1000"/>
              </a:spcAft>
            </a:pPr>
            <a:r>
              <a:rPr sz="1600" b="0">
                <a:solidFill>
                  <a:srgbClr val="21201C"/>
                </a:solidFill>
                <a:latin typeface="Calibri"/>
              </a:rPr>
              <a:t>•  Put both on a new sheet named Pivot_Trend.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Grand total = SUM(tblMonthly[Hires]).</a:t>
            </a:r>
          </a:p>
          <a:p>
            <a:pPr>
              <a:spcAft>
                <a:spcPts val="1000"/>
              </a:spcAft>
            </a:pPr>
            <a:r>
              <a:rPr sz="1600" b="0">
                <a:solidFill>
                  <a:srgbClr val="21201C"/>
                </a:solidFill>
                <a:latin typeface="Calibri"/>
              </a:rPr>
              <a:t>•  The chart is a PivotChart, not a pasted picture.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Choosing and Refining Charts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Pick the chart from the question, then refine it with one follow-up prompt per change.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wrong chart type misleads. A finding-style title tells leaders what to see.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Could someone get the main message from the title in 5 seconds?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Choosing and Refining Charts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Create a bar chart of 2026 hires by Sector, sorted high to low.</a:t>
            </a:r>
          </a:p>
          <a:p>
            <a:pPr>
              <a:spcAft>
                <a:spcPts val="1000"/>
              </a:spcAft>
            </a:pPr>
            <a:r>
              <a:rPr sz="1600" b="0">
                <a:solidFill>
                  <a:srgbClr val="21201C"/>
                </a:solidFill>
                <a:latin typeface="Calibri"/>
              </a:rPr>
              <a:t>•  Change the title to: Technology led hiring in H1 2026.</a:t>
            </a:r>
          </a:p>
          <a:p>
            <a:pPr>
              <a:spcAft>
                <a:spcPts val="1000"/>
              </a:spcAft>
            </a:pPr>
            <a:r>
              <a:rPr sz="1600" b="0">
                <a:solidFill>
                  <a:srgbClr val="21201C"/>
                </a:solidFill>
                <a:latin typeface="Calibri"/>
              </a:rPr>
              <a:t>•  Put Cost_per_Hire on a secondary axis as a line, formatted as 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Axes labelled with units.</a:t>
            </a:r>
          </a:p>
          <a:p>
            <a:pPr>
              <a:spcAft>
                <a:spcPts val="1000"/>
              </a:spcAft>
            </a:pPr>
            <a:r>
              <a:rPr sz="1600" b="0">
                <a:solidFill>
                  <a:srgbClr val="21201C"/>
                </a:solidFill>
                <a:latin typeface="Calibri"/>
              </a:rPr>
              <a:t>•  Values still match the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THEME · PIVOTTABLES, PIVOTCHARTS &amp; VISUALS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PivotTables, PivotCharts and Recruitment Charts with Copilot</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3</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leadership wants to see how hiring is moving and which sectors and sourcing channels perform best. You will ask Copilot to build PivotTables and PivotCharts from 18 months of funnel metrics and a sourcing summary, choose each chart from the question it answers, refine titles, labels, sort order and axes with follow-up prompts, and reconcile every chart to an independent SUMIFS check.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BrightPath_Recruitment_Metrics.xlsx with PivotTables and four refined charts on the Charts sheet: a monthly hires line PivotChart, a sorted 2026 hires-by-sector bar PivotChart, a 2026 recruitment funnel and a hire-rate vs cost-per-hire combo chart</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Pivot + line PivotChart</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Sector PivotChart</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Funnel</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Source combo</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Refine &amp; check</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 PivotTables, PivotCharts · line, bar, funnel and combo charts · BrightPath_Recruitment_Metrics.xlsx</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3</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PivotTable: Create a PivotTable from tblMonthly with Month_Label in rows, Sector in columns and Sum of Hires as values.</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PivotChart: Create a line PivotChart from the Pivot_Trend PivotTable showing total hires by month. Show data labels and gridlines.</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Bar chart: Create a bar chart of 2026 hires by Sector, sorted from highest to lowest.</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Funnel: Create a funnel chart of 2026 Applications, Screened, Interviews, Offers and Hires with data labels.</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Combo chart: Create a combo chart of Hire_Rate as columns and Cost_per_Hire as a line on a secondary axis.</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3</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hires (Pivot_Trend)</a:t>
            </a:r>
          </a:p>
          <a:p>
            <a:pPr algn="l">
              <a:spcAft>
                <a:spcPts val="300"/>
              </a:spcAft>
            </a:pPr>
            <a:r>
              <a:rPr sz="1300" b="0">
                <a:solidFill>
                  <a:srgbClr val="6B6862"/>
                </a:solidFill>
                <a:latin typeface="Calibri"/>
              </a:rPr>
              <a:t>1,065 = SUM(tblMonthly[Hires])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Peak month</a:t>
            </a:r>
          </a:p>
          <a:p>
            <a:pPr algn="l">
              <a:spcAft>
                <a:spcPts val="300"/>
              </a:spcAft>
            </a:pPr>
            <a:r>
              <a:rPr sz="1300" b="0">
                <a:solidFill>
                  <a:srgbClr val="6B6862"/>
                </a:solidFill>
                <a:latin typeface="Calibri"/>
              </a:rPr>
              <a:t>2025-11 with 68 hires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2026 hires by sector</a:t>
            </a:r>
          </a:p>
          <a:p>
            <a:pPr algn="l">
              <a:spcAft>
                <a:spcPts val="300"/>
              </a:spcAft>
            </a:pPr>
            <a:r>
              <a:rPr sz="1300" b="0">
                <a:solidFill>
                  <a:srgbClr val="6B6862"/>
                </a:solidFill>
                <a:latin typeface="Calibri"/>
              </a:rPr>
              <a:t>Technology first (84); Pivot total 361</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Funnel</a:t>
            </a:r>
          </a:p>
          <a:p>
            <a:pPr algn="l">
              <a:spcAft>
                <a:spcPts val="300"/>
              </a:spcAft>
            </a:pPr>
            <a:r>
              <a:rPr sz="1300" b="0">
                <a:solidFill>
                  <a:srgbClr val="6B6862"/>
                </a:solidFill>
                <a:latin typeface="Calibri"/>
              </a:rPr>
              <a:t>6,616 &gt; 3,229 &gt; 1,385 &gt; 495 &gt; 361</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Best source</a:t>
            </a:r>
          </a:p>
          <a:p>
            <a:pPr algn="l">
              <a:spcAft>
                <a:spcPts val="300"/>
              </a:spcAft>
            </a:pPr>
            <a:r>
              <a:rPr sz="1300" b="0">
                <a:solidFill>
                  <a:srgbClr val="6B6862"/>
                </a:solidFill>
                <a:latin typeface="Calibri"/>
              </a:rPr>
              <a:t>Referral: highest hire rate (8.7%); MyCareersFuture: lowest cost per hire (S$126)</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Charts sheet</a:t>
            </a:r>
          </a:p>
          <a:p>
            <a:pPr algn="l">
              <a:spcAft>
                <a:spcPts val="300"/>
              </a:spcAft>
            </a:pPr>
            <a:r>
              <a:rPr sz="1300" b="0">
                <a:solidFill>
                  <a:srgbClr val="6B6862"/>
                </a:solidFill>
                <a:latin typeface="Calibri"/>
              </a:rPr>
              <a:t>2 PivotCharts + funnel + combo in a 2 x 2 grid (A1:Q37), clean style, finding-style titles, labelled axes and alt text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Excel Fundamentals with Copilot</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Modes: Chat only to ask, Plan to review the steps, Allow editing to change - then Done or Undo.</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Data prep: Named tables, duplicates and spelling variants flagged and fixed, row counts unchanged.</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Formulas: Formulas and XLOOKUPs described in plain English, explained, and hand-checked on one row.</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LO1 · PivotTables and charts: PivotTables, PivotCharts and refined charts, each tied to a SUM or SUMIFS total.</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02</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Skills and Rules</a:t>
            </a:r>
          </a:p>
        </p:txBody>
      </p:sp>
      <p:sp>
        <p:nvSpPr>
          <p:cNvPr id="7" name="Rectangle 6"/>
          <p:cNvSpPr/>
          <p:nvPr/>
        </p:nvSpPr>
        <p:spPr>
          <a:xfrm>
            <a:off x="841248" y="4206240"/>
            <a:ext cx="1143000" cy="64008"/>
          </a:xfrm>
          <a:prstGeom prst="rect">
            <a:avLst/>
          </a:prstGeom>
          <a:solidFill>
            <a:srgbClr val="3A7D7B"/>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Personalisation · workbook rules on a .Rules sheet · built-in formatting, visualisation and finance skills · custom skills in SKILL.md · using Copilot to write a skill</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4-6</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Key Concepts —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Personalisation = you</a:t>
            </a:r>
          </a:p>
          <a:p>
            <a:pPr algn="l">
              <a:spcAft>
                <a:spcPts val="300"/>
              </a:spcAft>
            </a:pPr>
            <a:r>
              <a:rPr sz="1400" b="0">
                <a:solidFill>
                  <a:srgbClr val="6B6862"/>
                </a:solidFill>
                <a:latin typeface="Calibri"/>
              </a:rPr>
              <a:t>Preferences that follow you to every workbook, e.g. 'Never merge cells'. Settings (...) &gt; Personalization.</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Rules = this workbook</a:t>
            </a:r>
          </a:p>
          <a:p>
            <a:pPr algn="l">
              <a:spcAft>
                <a:spcPts val="300"/>
              </a:spcAft>
            </a:pPr>
            <a:r>
              <a:rPr sz="1400" b="0">
                <a:solidFill>
                  <a:srgbClr val="6B6862"/>
                </a:solidFill>
                <a:latin typeface="Calibri"/>
              </a:rPr>
              <a:t>A visible sheet named .Rules with one rule per cell in column A. The rules travel with the file.</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Skills = a repeatable recipe</a:t>
            </a:r>
          </a:p>
          <a:p>
            <a:pPr algn="l">
              <a:spcAft>
                <a:spcPts val="300"/>
              </a:spcAft>
            </a:pPr>
            <a:r>
              <a:rPr sz="1400" b="0">
                <a:solidFill>
                  <a:srgbClr val="6B6862"/>
                </a:solidFill>
                <a:latin typeface="Calibri"/>
              </a:rPr>
              <a:t>Saved step-by-step instructions you call by name with @, in any workbook.</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Start with built-in skills</a:t>
            </a:r>
          </a:p>
          <a:p>
            <a:pPr algn="l">
              <a:spcAft>
                <a:spcPts val="300"/>
              </a:spcAft>
            </a:pPr>
            <a:r>
              <a:rPr sz="1400" b="0">
                <a:solidFill>
                  <a:srgbClr val="6B6862"/>
                </a:solidFill>
                <a:latin typeface="Calibri"/>
              </a:rPr>
              <a:t>@chart-design for charts, @theme-design for styling, and finance skills such as @unit-economics and @check-model.</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Let Copilot write your skill</a:t>
            </a:r>
          </a:p>
          <a:p>
            <a:pPr algn="l">
              <a:spcAft>
                <a:spcPts val="300"/>
              </a:spcAft>
            </a:pPr>
            <a:r>
              <a:rPr sz="1400" b="0">
                <a:solidFill>
                  <a:srgbClr val="6B6862"/>
                </a:solidFill>
                <a:latin typeface="Calibri"/>
              </a:rPr>
              <a:t>Describe the task; Copilot writes the SKILL.md. Save it in its own OneDrive folder and select Refresh.</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Still check the result</a:t>
            </a:r>
          </a:p>
          <a:p>
            <a:pPr algn="l">
              <a:spcAft>
                <a:spcPts val="300"/>
              </a:spcAft>
            </a:pPr>
            <a:r>
              <a:rPr sz="1400" b="0">
                <a:solidFill>
                  <a:srgbClr val="6B6862"/>
                </a:solidFill>
                <a:latin typeface="Calibri"/>
              </a:rPr>
              <a:t>Rules and skills guide Copilot. They do not guarantee the numbers are right.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Hands-On Labs — Skills and Rules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Lab 4</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Workbook Rules &amp; Personalisation</a:t>
            </a:r>
          </a:p>
          <a:p>
            <a:pPr>
              <a:spcAft>
                <a:spcPts val="900"/>
              </a:spcAft>
            </a:pPr>
            <a:r>
              <a:rPr sz="1200" b="0">
                <a:solidFill>
                  <a:srgbClr val="6B6862"/>
                </a:solidFill>
                <a:latin typeface="Calibri"/>
              </a:rPr>
              <a:t>–  Clean Messy Client Orders with Cleanup, Personalisation and Rules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Lab 5</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Built-in Skills: Visual &amp; Finance</a:t>
            </a:r>
          </a:p>
          <a:p>
            <a:pPr>
              <a:spcAft>
                <a:spcPts val="900"/>
              </a:spcAft>
            </a:pPr>
            <a:r>
              <a:rPr sz="1200" b="0">
                <a:solidFill>
                  <a:srgbClr val="6B6862"/>
                </a:solidFill>
                <a:latin typeface="Calibri"/>
              </a:rPr>
              <a:t>–  Analyse HR-Outsourcing Finances with Built-in Skills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Lab 6</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400" b="1">
                <a:solidFill>
                  <a:srgbClr val="21201C"/>
                </a:solidFill>
                <a:latin typeface="Calibri"/>
              </a:rPr>
              <a:t>•  Custom Skills: Calendar</a:t>
            </a:r>
          </a:p>
          <a:p>
            <a:pPr>
              <a:spcAft>
                <a:spcPts val="900"/>
              </a:spcAft>
            </a:pPr>
            <a:r>
              <a:rPr sz="1200" b="0">
                <a:solidFill>
                  <a:srgbClr val="6B6862"/>
                </a:solidFill>
                <a:latin typeface="Calibri"/>
              </a:rPr>
              <a:t>–  Use Copilot to Build a Custom Interview-Calendar Skill</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Personalisation: Preferences That Follow You</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Your own preferences for Copilot, applied in every workbook. Settings (...) &gt; Personalization.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Say a correction once instead of in every prompt. A prompt that asks for something else still wins.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Start a New chat, then check a new chart or table follows your preferences.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Personalisation: Preferences That Follow You</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ADD THESE PREFERENCES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Use column charts rather than bar charts unless labels are long.</a:t>
            </a:r>
          </a:p>
          <a:p>
            <a:pPr>
              <a:spcAft>
                <a:spcPts val="1000"/>
              </a:spcAft>
            </a:pPr>
            <a:r>
              <a:rPr sz="1600" b="0">
                <a:solidFill>
                  <a:srgbClr val="21201C"/>
                </a:solidFill>
                <a:latin typeface="Calibri"/>
              </a:rPr>
              <a:t>•  Use navy #1F4E79 and teal #2A9D8F as the main chart colours.</a:t>
            </a:r>
          </a:p>
          <a:p>
            <a:pPr>
              <a:spcAft>
                <a:spcPts val="1000"/>
              </a:spcAft>
            </a:pPr>
            <a:r>
              <a:rPr sz="1600" b="0">
                <a:solidFill>
                  <a:srgbClr val="21201C"/>
                </a:solidFill>
                <a:latin typeface="Calibri"/>
              </a:rPr>
              <a:t>•  Never merge cells.</a:t>
            </a:r>
          </a:p>
          <a:p>
            <a:pPr>
              <a:spcAft>
                <a:spcPts val="1000"/>
              </a:spcAft>
            </a:pPr>
            <a:r>
              <a:rPr sz="1600" b="0">
                <a:solidFill>
                  <a:srgbClr val="21201C"/>
                </a:solidFill>
                <a:latin typeface="Calibri"/>
              </a:rPr>
              <a:t>•  Give PivotTable fields readable names, e.g. Hires.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Saved to your account, not the file.</a:t>
            </a:r>
          </a:p>
          <a:p>
            <a:pPr>
              <a:spcAft>
                <a:spcPts val="1000"/>
              </a:spcAft>
            </a:pPr>
            <a:r>
              <a:rPr sz="1600" b="0">
                <a:solidFill>
                  <a:srgbClr val="21201C"/>
                </a:solidFill>
                <a:latin typeface="Calibri"/>
              </a:rPr>
              <a:t>•  New chats follow them.</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Personalization in Copilot</a:t>
            </a:r>
          </a:p>
        </p:txBody>
      </p:sp>
      <p:sp>
        <p:nvSpPr>
          <p:cNvPr id="5" name="Rectangle 4"/>
          <p:cNvSpPr/>
          <p:nvPr/>
        </p:nvSpPr>
        <p:spPr>
          <a:xfrm>
            <a:off x="731520" y="1764792"/>
            <a:ext cx="2338498" cy="4434840"/>
          </a:xfrm>
          <a:prstGeom prst="rect">
            <a:avLst/>
          </a:prstGeom>
          <a:solidFill>
            <a:srgbClr val="DCD8CF"/>
          </a:solidFill>
          <a:ln>
            <a:noFill/>
          </a:ln>
          <a:effectLst/>
        </p:spPr>
        <p:txBody>
          <a:bodyPr rtlCol="0" anchor="ctr"/>
          <a:lstStyle/>
          <a:p>
            <a:pPr algn="ctr"/>
          </a:p>
        </p:txBody>
      </p:sp>
      <p:pic>
        <p:nvPicPr>
          <p:cNvPr id="6" name="Picture 5" descr="personalization.png"/>
          <p:cNvPicPr>
            <a:picLocks noChangeAspect="1"/>
          </p:cNvPicPr>
          <p:nvPr/>
        </p:nvPicPr>
        <p:blipFill>
          <a:blip r:embed="rId2"/>
          <a:stretch>
            <a:fillRect/>
          </a:stretch>
        </p:blipFill>
        <p:spPr>
          <a:xfrm>
            <a:off x="777240" y="1810512"/>
            <a:ext cx="2247059" cy="4343400"/>
          </a:xfrm>
          <a:prstGeom prst="rect">
            <a:avLst/>
          </a:prstGeom>
        </p:spPr>
      </p:pic>
      <p:sp>
        <p:nvSpPr>
          <p:cNvPr id="7" name="Rounded Rectangle 6"/>
          <p:cNvSpPr/>
          <p:nvPr/>
        </p:nvSpPr>
        <p:spPr>
          <a:xfrm>
            <a:off x="3390058" y="1810512"/>
            <a:ext cx="8021654" cy="13746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3390058" y="1810512"/>
            <a:ext cx="8021654" cy="64008"/>
          </a:xfrm>
          <a:prstGeom prst="rect">
            <a:avLst/>
          </a:prstGeom>
          <a:solidFill>
            <a:srgbClr val="D97757"/>
          </a:solidFill>
          <a:ln>
            <a:noFill/>
          </a:ln>
          <a:effectLst/>
        </p:spPr>
        <p:txBody>
          <a:bodyPr rtlCol="0" anchor="ctr"/>
          <a:lstStyle/>
          <a:p>
            <a:pPr algn="ctr"/>
          </a:p>
        </p:txBody>
      </p:sp>
      <p:sp>
        <p:nvSpPr>
          <p:cNvPr id="9" name="Oval 8"/>
          <p:cNvSpPr/>
          <p:nvPr/>
        </p:nvSpPr>
        <p:spPr>
          <a:xfrm>
            <a:off x="3572938" y="2305812"/>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3572938" y="2305812"/>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4121578" y="1810512"/>
            <a:ext cx="7107254" cy="1374648"/>
          </a:xfrm>
          <a:prstGeom prst="rect">
            <a:avLst/>
          </a:prstGeom>
          <a:noFill/>
        </p:spPr>
        <p:txBody>
          <a:bodyPr wrap="square" anchor="ctr">
            <a:spAutoFit/>
          </a:bodyPr>
          <a:lstStyle/>
          <a:p>
            <a:pPr algn="l">
              <a:spcAft>
                <a:spcPts val="200"/>
              </a:spcAft>
            </a:pPr>
            <a:r>
              <a:rPr sz="1400" b="1">
                <a:solidFill>
                  <a:srgbClr val="21201C"/>
                </a:solidFill>
                <a:latin typeface="Calibri"/>
              </a:rPr>
              <a:t>Settings (...) &gt; Personalization</a:t>
            </a:r>
          </a:p>
          <a:p>
            <a:pPr algn="l">
              <a:spcAft>
                <a:spcPts val="200"/>
              </a:spcAft>
            </a:pPr>
            <a:r>
              <a:rPr sz="1200" b="0">
                <a:solidFill>
                  <a:srgbClr val="6B6862"/>
                </a:solidFill>
                <a:latin typeface="Calibri"/>
              </a:rPr>
              <a:t>Opens Customise Copilot.</a:t>
            </a:r>
          </a:p>
        </p:txBody>
      </p:sp>
      <p:sp>
        <p:nvSpPr>
          <p:cNvPr id="12" name="Rounded Rectangle 11"/>
          <p:cNvSpPr/>
          <p:nvPr/>
        </p:nvSpPr>
        <p:spPr>
          <a:xfrm>
            <a:off x="3390058" y="3294888"/>
            <a:ext cx="8021654" cy="13746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3390058" y="3294888"/>
            <a:ext cx="8021654" cy="64008"/>
          </a:xfrm>
          <a:prstGeom prst="rect">
            <a:avLst/>
          </a:prstGeom>
          <a:solidFill>
            <a:srgbClr val="3A7D7B"/>
          </a:solidFill>
          <a:ln>
            <a:noFill/>
          </a:ln>
          <a:effectLst/>
        </p:spPr>
        <p:txBody>
          <a:bodyPr rtlCol="0" anchor="ctr"/>
          <a:lstStyle/>
          <a:p>
            <a:pPr algn="ctr"/>
          </a:p>
        </p:txBody>
      </p:sp>
      <p:sp>
        <p:nvSpPr>
          <p:cNvPr id="14" name="Oval 13"/>
          <p:cNvSpPr/>
          <p:nvPr/>
        </p:nvSpPr>
        <p:spPr>
          <a:xfrm>
            <a:off x="3572938" y="3790188"/>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3572938" y="3790188"/>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4121578" y="3294888"/>
            <a:ext cx="7107254" cy="1374648"/>
          </a:xfrm>
          <a:prstGeom prst="rect">
            <a:avLst/>
          </a:prstGeom>
          <a:noFill/>
        </p:spPr>
        <p:txBody>
          <a:bodyPr wrap="square" anchor="ctr">
            <a:spAutoFit/>
          </a:bodyPr>
          <a:lstStyle/>
          <a:p>
            <a:pPr algn="l">
              <a:spcAft>
                <a:spcPts val="200"/>
              </a:spcAft>
            </a:pPr>
            <a:r>
              <a:rPr sz="1400" b="1">
                <a:solidFill>
                  <a:srgbClr val="21201C"/>
                </a:solidFill>
                <a:latin typeface="Calibri"/>
              </a:rPr>
              <a:t>One preference per line</a:t>
            </a:r>
          </a:p>
          <a:p>
            <a:pPr algn="l">
              <a:spcAft>
                <a:spcPts val="200"/>
              </a:spcAft>
            </a:pPr>
            <a:r>
              <a:rPr sz="1200" b="0">
                <a:solidFill>
                  <a:srgbClr val="6B6862"/>
                </a:solidFill>
                <a:latin typeface="Calibri"/>
              </a:rPr>
              <a:t>Charts, colours, layout and PivotTable field names.</a:t>
            </a:r>
          </a:p>
        </p:txBody>
      </p:sp>
      <p:sp>
        <p:nvSpPr>
          <p:cNvPr id="17" name="Rounded Rectangle 16"/>
          <p:cNvSpPr/>
          <p:nvPr/>
        </p:nvSpPr>
        <p:spPr>
          <a:xfrm>
            <a:off x="3390058" y="4779264"/>
            <a:ext cx="8021654" cy="13746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3390058" y="4779264"/>
            <a:ext cx="8021654" cy="64008"/>
          </a:xfrm>
          <a:prstGeom prst="rect">
            <a:avLst/>
          </a:prstGeom>
          <a:solidFill>
            <a:srgbClr val="5B4B8A"/>
          </a:solidFill>
          <a:ln>
            <a:noFill/>
          </a:ln>
          <a:effectLst/>
        </p:spPr>
        <p:txBody>
          <a:bodyPr rtlCol="0" anchor="ctr"/>
          <a:lstStyle/>
          <a:p>
            <a:pPr algn="ctr"/>
          </a:p>
        </p:txBody>
      </p:sp>
      <p:sp>
        <p:nvSpPr>
          <p:cNvPr id="19" name="Oval 18"/>
          <p:cNvSpPr/>
          <p:nvPr/>
        </p:nvSpPr>
        <p:spPr>
          <a:xfrm>
            <a:off x="3572938" y="5274564"/>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3572938" y="5274564"/>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4121578" y="4779264"/>
            <a:ext cx="7107254" cy="1374648"/>
          </a:xfrm>
          <a:prstGeom prst="rect">
            <a:avLst/>
          </a:prstGeom>
          <a:noFill/>
        </p:spPr>
        <p:txBody>
          <a:bodyPr wrap="square" anchor="ctr">
            <a:spAutoFit/>
          </a:bodyPr>
          <a:lstStyle/>
          <a:p>
            <a:pPr algn="l">
              <a:spcAft>
                <a:spcPts val="200"/>
              </a:spcAft>
            </a:pPr>
            <a:r>
              <a:rPr sz="1400" b="1">
                <a:solidFill>
                  <a:srgbClr val="21201C"/>
                </a:solidFill>
                <a:latin typeface="Calibri"/>
              </a:rPr>
              <a:t>Save, then New chat</a:t>
            </a:r>
          </a:p>
          <a:p>
            <a:pPr algn="l">
              <a:spcAft>
                <a:spcPts val="200"/>
              </a:spcAft>
            </a:pPr>
            <a:r>
              <a:rPr sz="1200" b="0">
                <a:solidFill>
                  <a:srgbClr val="6B6862"/>
                </a:solidFill>
                <a:latin typeface="Calibri"/>
              </a:rPr>
              <a:t>The preferences now apply in every workbook you open.</a:t>
            </a:r>
          </a:p>
        </p:txBody>
      </p:sp>
      <p:sp>
        <p:nvSpPr>
          <p:cNvPr id="22" name="TextBox 21"/>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4" name="TextBox 23"/>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Workbook Rules: The .Rules Sheet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visible sheet named .Rules, one rule per cell in column A. Copilot follows it in this workbook.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Short prompts, consistent results - and anyone who opens the file gets the same rules.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Give a one-line prompt and check the result follows every rule.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How .Rules Works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3A7D7B"/>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 &gt; Create workbook rules adds a sheet named .Rules with starter rules.</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3A7D7B"/>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Write one rule per cell in column A, under ## headings, with an example.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3A7D7B"/>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On every prompt in this file, Copilot reads the visible .Rules sheet first.</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3A7D7B"/>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Your short prompt + the rules = the same result every time.</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3A7D7B"/>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3A7D7B"/>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Share the file: the rules travel with it - no setup for colleagues.</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Workbook Rules: The .Rules Sheet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Create workbook rules (adds the .Rules sheet).</a:t>
            </a:r>
          </a:p>
          <a:p>
            <a:pPr>
              <a:spcAft>
                <a:spcPts val="1000"/>
              </a:spcAft>
            </a:pPr>
            <a:r>
              <a:rPr sz="1600" b="0">
                <a:solidFill>
                  <a:srgbClr val="21201C"/>
                </a:solidFill>
                <a:latin typeface="Calibri"/>
              </a:rPr>
              <a:t>•  Status must be one of: Open, In Progress, On Hold, Completed, Cancelled. WIP = In Progress.</a:t>
            </a:r>
          </a:p>
          <a:p>
            <a:pPr>
              <a:spcAft>
                <a:spcPts val="1000"/>
              </a:spcAft>
            </a:pPr>
            <a:r>
              <a:rPr sz="1600" b="0">
                <a:solidFill>
                  <a:srgbClr val="21201C"/>
                </a:solidFill>
                <a:latin typeface="Calibri"/>
              </a:rPr>
              <a:t>•  Create Orders_Clean with a clean copy of Orders_Raw, following the workbook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Exactly 5 statuses and 5 regions.</a:t>
            </a:r>
          </a:p>
          <a:p>
            <a:pPr>
              <a:spcAft>
                <a:spcPts val="1000"/>
              </a:spcAft>
            </a:pPr>
            <a:r>
              <a:rPr sz="1600" b="0">
                <a:solidFill>
                  <a:srgbClr val="21201C"/>
                </a:solidFill>
                <a:latin typeface="Calibri"/>
              </a:rPr>
              <a:t>•  A hidden .Rules sheet is ignored.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COMPARE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Personalization vs .Rules vs Skills</a:t>
            </a:r>
          </a:p>
        </p:txBody>
      </p:sp>
      <p:sp>
        <p:nvSpPr>
          <p:cNvPr id="5" name="Rectangle 4"/>
          <p:cNvSpPr/>
          <p:nvPr/>
        </p:nvSpPr>
        <p:spPr>
          <a:xfrm>
            <a:off x="2404872" y="1783080"/>
            <a:ext cx="295656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2404872" y="1783080"/>
            <a:ext cx="2956560" cy="457200"/>
          </a:xfrm>
          <a:prstGeom prst="rect">
            <a:avLst/>
          </a:prstGeom>
          <a:noFill/>
        </p:spPr>
        <p:txBody>
          <a:bodyPr wrap="square" anchor="ctr">
            <a:spAutoFit/>
          </a:bodyPr>
          <a:lstStyle/>
          <a:p>
            <a:pPr algn="ctr">
              <a:spcAft>
                <a:spcPts val="400"/>
              </a:spcAft>
            </a:pPr>
            <a:r>
              <a:rPr sz="1500" b="1">
                <a:solidFill>
                  <a:srgbClr val="FFFFFF"/>
                </a:solidFill>
                <a:latin typeface="Calibri"/>
              </a:rPr>
              <a:t>Personalization</a:t>
            </a:r>
          </a:p>
        </p:txBody>
      </p:sp>
      <p:sp>
        <p:nvSpPr>
          <p:cNvPr id="7" name="Rectangle 6"/>
          <p:cNvSpPr/>
          <p:nvPr/>
        </p:nvSpPr>
        <p:spPr>
          <a:xfrm>
            <a:off x="5416296" y="1783080"/>
            <a:ext cx="2956560" cy="457200"/>
          </a:xfrm>
          <a:prstGeom prst="rect">
            <a:avLst/>
          </a:prstGeom>
          <a:solidFill>
            <a:srgbClr val="3A7D7B"/>
          </a:solidFill>
          <a:ln>
            <a:noFill/>
          </a:ln>
          <a:effectLst/>
        </p:spPr>
        <p:txBody>
          <a:bodyPr rtlCol="0" anchor="ctr"/>
          <a:lstStyle/>
          <a:p>
            <a:pPr algn="ctr"/>
          </a:p>
        </p:txBody>
      </p:sp>
      <p:sp>
        <p:nvSpPr>
          <p:cNvPr id="8" name="TextBox 7"/>
          <p:cNvSpPr txBox="1"/>
          <p:nvPr/>
        </p:nvSpPr>
        <p:spPr>
          <a:xfrm>
            <a:off x="5416296" y="1783080"/>
            <a:ext cx="2956560" cy="457200"/>
          </a:xfrm>
          <a:prstGeom prst="rect">
            <a:avLst/>
          </a:prstGeom>
          <a:noFill/>
        </p:spPr>
        <p:txBody>
          <a:bodyPr wrap="square" anchor="ctr">
            <a:spAutoFit/>
          </a:bodyPr>
          <a:lstStyle/>
          <a:p>
            <a:pPr algn="ctr">
              <a:spcAft>
                <a:spcPts val="400"/>
              </a:spcAft>
            </a:pPr>
            <a:r>
              <a:rPr sz="1500" b="1">
                <a:solidFill>
                  <a:srgbClr val="FFFFFF"/>
                </a:solidFill>
                <a:latin typeface="Calibri"/>
              </a:rPr>
              <a:t>.Rules sheet</a:t>
            </a:r>
          </a:p>
        </p:txBody>
      </p:sp>
      <p:sp>
        <p:nvSpPr>
          <p:cNvPr id="9" name="Rectangle 8"/>
          <p:cNvSpPr/>
          <p:nvPr/>
        </p:nvSpPr>
        <p:spPr>
          <a:xfrm>
            <a:off x="8427720" y="1783080"/>
            <a:ext cx="2956560" cy="457200"/>
          </a:xfrm>
          <a:prstGeom prst="rect">
            <a:avLst/>
          </a:prstGeom>
          <a:solidFill>
            <a:srgbClr val="5B4B8A"/>
          </a:solidFill>
          <a:ln>
            <a:noFill/>
          </a:ln>
          <a:effectLst/>
        </p:spPr>
        <p:txBody>
          <a:bodyPr rtlCol="0" anchor="ctr"/>
          <a:lstStyle/>
          <a:p>
            <a:pPr algn="ctr"/>
          </a:p>
        </p:txBody>
      </p:sp>
      <p:sp>
        <p:nvSpPr>
          <p:cNvPr id="10" name="TextBox 9"/>
          <p:cNvSpPr txBox="1"/>
          <p:nvPr/>
        </p:nvSpPr>
        <p:spPr>
          <a:xfrm>
            <a:off x="8427720" y="1783080"/>
            <a:ext cx="2956560" cy="457200"/>
          </a:xfrm>
          <a:prstGeom prst="rect">
            <a:avLst/>
          </a:prstGeom>
          <a:noFill/>
        </p:spPr>
        <p:txBody>
          <a:bodyPr wrap="square" anchor="ctr">
            <a:spAutoFit/>
          </a:bodyPr>
          <a:lstStyle/>
          <a:p>
            <a:pPr algn="ctr">
              <a:spcAft>
                <a:spcPts val="400"/>
              </a:spcAft>
            </a:pPr>
            <a:r>
              <a:rPr sz="1500" b="1">
                <a:solidFill>
                  <a:srgbClr val="FFFFFF"/>
                </a:solidFill>
                <a:latin typeface="Calibri"/>
              </a:rPr>
              <a:t>Skill</a:t>
            </a:r>
          </a:p>
        </p:txBody>
      </p:sp>
      <p:sp>
        <p:nvSpPr>
          <p:cNvPr id="11" name="Rounded Rectangle 10"/>
          <p:cNvSpPr/>
          <p:nvPr/>
        </p:nvSpPr>
        <p:spPr>
          <a:xfrm>
            <a:off x="777240" y="2295144"/>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886968" y="2295144"/>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What it is</a:t>
            </a:r>
          </a:p>
        </p:txBody>
      </p:sp>
      <p:sp>
        <p:nvSpPr>
          <p:cNvPr id="13" name="TextBox 12"/>
          <p:cNvSpPr txBox="1"/>
          <p:nvPr/>
        </p:nvSpPr>
        <p:spPr>
          <a:xfrm>
            <a:off x="2487168" y="229514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Your preferences for how Copilot works</a:t>
            </a:r>
          </a:p>
        </p:txBody>
      </p:sp>
      <p:sp>
        <p:nvSpPr>
          <p:cNvPr id="14" name="TextBox 13"/>
          <p:cNvSpPr txBox="1"/>
          <p:nvPr/>
        </p:nvSpPr>
        <p:spPr>
          <a:xfrm>
            <a:off x="5498592" y="229514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Guidelines for one workbook</a:t>
            </a:r>
          </a:p>
        </p:txBody>
      </p:sp>
      <p:sp>
        <p:nvSpPr>
          <p:cNvPr id="15" name="TextBox 14"/>
          <p:cNvSpPr txBox="1"/>
          <p:nvPr/>
        </p:nvSpPr>
        <p:spPr>
          <a:xfrm>
            <a:off x="8510016" y="229514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 recipe for one repeatable task</a:t>
            </a:r>
          </a:p>
        </p:txBody>
      </p:sp>
      <p:sp>
        <p:nvSpPr>
          <p:cNvPr id="16" name="TextBox 15"/>
          <p:cNvSpPr txBox="1"/>
          <p:nvPr/>
        </p:nvSpPr>
        <p:spPr>
          <a:xfrm>
            <a:off x="886968" y="2856846"/>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Where it lives</a:t>
            </a:r>
          </a:p>
        </p:txBody>
      </p:sp>
      <p:sp>
        <p:nvSpPr>
          <p:cNvPr id="17" name="TextBox 16"/>
          <p:cNvSpPr txBox="1"/>
          <p:nvPr/>
        </p:nvSpPr>
        <p:spPr>
          <a:xfrm>
            <a:off x="2487168" y="285684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Your Microsoft 365 account</a:t>
            </a:r>
          </a:p>
        </p:txBody>
      </p:sp>
      <p:sp>
        <p:nvSpPr>
          <p:cNvPr id="18" name="TextBox 17"/>
          <p:cNvSpPr txBox="1"/>
          <p:nvPr/>
        </p:nvSpPr>
        <p:spPr>
          <a:xfrm>
            <a:off x="5498592" y="285684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 visible sheet named .Rules in the file</a:t>
            </a:r>
          </a:p>
        </p:txBody>
      </p:sp>
      <p:sp>
        <p:nvSpPr>
          <p:cNvPr id="19" name="TextBox 18"/>
          <p:cNvSpPr txBox="1"/>
          <p:nvPr/>
        </p:nvSpPr>
        <p:spPr>
          <a:xfrm>
            <a:off x="8510016" y="285684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Built in, or SKILL.md in your OneDrive skills folder</a:t>
            </a:r>
          </a:p>
        </p:txBody>
      </p:sp>
      <p:sp>
        <p:nvSpPr>
          <p:cNvPr id="20" name="Rounded Rectangle 19"/>
          <p:cNvSpPr/>
          <p:nvPr/>
        </p:nvSpPr>
        <p:spPr>
          <a:xfrm>
            <a:off x="777240" y="3418548"/>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TextBox 20"/>
          <p:cNvSpPr txBox="1"/>
          <p:nvPr/>
        </p:nvSpPr>
        <p:spPr>
          <a:xfrm>
            <a:off x="886968" y="3418548"/>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Applies to</a:t>
            </a:r>
          </a:p>
        </p:txBody>
      </p:sp>
      <p:sp>
        <p:nvSpPr>
          <p:cNvPr id="22" name="TextBox 21"/>
          <p:cNvSpPr txBox="1"/>
          <p:nvPr/>
        </p:nvSpPr>
        <p:spPr>
          <a:xfrm>
            <a:off x="2487168" y="3418548"/>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You, in every workbook, on any device</a:t>
            </a:r>
          </a:p>
        </p:txBody>
      </p:sp>
      <p:sp>
        <p:nvSpPr>
          <p:cNvPr id="23" name="TextBox 22"/>
          <p:cNvSpPr txBox="1"/>
          <p:nvPr/>
        </p:nvSpPr>
        <p:spPr>
          <a:xfrm>
            <a:off x="5498592" y="3418548"/>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Anyone using Copilot in this workbook</a:t>
            </a:r>
          </a:p>
        </p:txBody>
      </p:sp>
      <p:sp>
        <p:nvSpPr>
          <p:cNvPr id="24" name="TextBox 23"/>
          <p:cNvSpPr txBox="1"/>
          <p:nvPr/>
        </p:nvSpPr>
        <p:spPr>
          <a:xfrm>
            <a:off x="8510016" y="3418548"/>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Any workbook, when you call @name</a:t>
            </a:r>
          </a:p>
        </p:txBody>
      </p:sp>
      <p:sp>
        <p:nvSpPr>
          <p:cNvPr id="25" name="TextBox 24"/>
          <p:cNvSpPr txBox="1"/>
          <p:nvPr/>
        </p:nvSpPr>
        <p:spPr>
          <a:xfrm>
            <a:off x="886968" y="3980250"/>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Shared?</a:t>
            </a:r>
          </a:p>
        </p:txBody>
      </p:sp>
      <p:sp>
        <p:nvSpPr>
          <p:cNvPr id="26" name="TextBox 25"/>
          <p:cNvSpPr txBox="1"/>
          <p:nvPr/>
        </p:nvSpPr>
        <p:spPr>
          <a:xfrm>
            <a:off x="2487168" y="3980250"/>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No - only you</a:t>
            </a:r>
          </a:p>
        </p:txBody>
      </p:sp>
      <p:sp>
        <p:nvSpPr>
          <p:cNvPr id="27" name="TextBox 26"/>
          <p:cNvSpPr txBox="1"/>
          <p:nvPr/>
        </p:nvSpPr>
        <p:spPr>
          <a:xfrm>
            <a:off x="5498592" y="3980250"/>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Yes - it travels with the file</a:t>
            </a:r>
          </a:p>
        </p:txBody>
      </p:sp>
      <p:sp>
        <p:nvSpPr>
          <p:cNvPr id="28" name="TextBox 27"/>
          <p:cNvSpPr txBox="1"/>
          <p:nvPr/>
        </p:nvSpPr>
        <p:spPr>
          <a:xfrm>
            <a:off x="8510016" y="3980250"/>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Only with people who install the same skill</a:t>
            </a:r>
          </a:p>
        </p:txBody>
      </p:sp>
      <p:sp>
        <p:nvSpPr>
          <p:cNvPr id="29" name="Rounded Rectangle 28"/>
          <p:cNvSpPr/>
          <p:nvPr/>
        </p:nvSpPr>
        <p:spPr>
          <a:xfrm>
            <a:off x="777240" y="4541952"/>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TextBox 29"/>
          <p:cNvSpPr txBox="1"/>
          <p:nvPr/>
        </p:nvSpPr>
        <p:spPr>
          <a:xfrm>
            <a:off x="886968" y="4541952"/>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Set up</a:t>
            </a:r>
          </a:p>
        </p:txBody>
      </p:sp>
      <p:sp>
        <p:nvSpPr>
          <p:cNvPr id="31" name="TextBox 30"/>
          <p:cNvSpPr txBox="1"/>
          <p:nvPr/>
        </p:nvSpPr>
        <p:spPr>
          <a:xfrm>
            <a:off x="2487168" y="4541952"/>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Settings (...) &gt; Personalization</a:t>
            </a:r>
          </a:p>
        </p:txBody>
      </p:sp>
      <p:sp>
        <p:nvSpPr>
          <p:cNvPr id="32" name="TextBox 31"/>
          <p:cNvSpPr txBox="1"/>
          <p:nvPr/>
        </p:nvSpPr>
        <p:spPr>
          <a:xfrm>
            <a:off x="5498592" y="4541952"/>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 &gt; Create workbook rules</a:t>
            </a:r>
          </a:p>
        </p:txBody>
      </p:sp>
      <p:sp>
        <p:nvSpPr>
          <p:cNvPr id="33" name="TextBox 32"/>
          <p:cNvSpPr txBox="1"/>
          <p:nvPr/>
        </p:nvSpPr>
        <p:spPr>
          <a:xfrm>
            <a:off x="8510016" y="4541952"/>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Manage plugins &amp; skills; custom: OneDrive + Refresh</a:t>
            </a:r>
          </a:p>
        </p:txBody>
      </p:sp>
      <p:sp>
        <p:nvSpPr>
          <p:cNvPr id="34" name="TextBox 33"/>
          <p:cNvSpPr txBox="1"/>
          <p:nvPr/>
        </p:nvSpPr>
        <p:spPr>
          <a:xfrm>
            <a:off x="886968" y="5103654"/>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Best for</a:t>
            </a:r>
          </a:p>
        </p:txBody>
      </p:sp>
      <p:sp>
        <p:nvSpPr>
          <p:cNvPr id="35" name="TextBox 34"/>
          <p:cNvSpPr txBox="1"/>
          <p:nvPr/>
        </p:nvSpPr>
        <p:spPr>
          <a:xfrm>
            <a:off x="2487168" y="510365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Formats, colours, tone you always want</a:t>
            </a:r>
          </a:p>
        </p:txBody>
      </p:sp>
      <p:sp>
        <p:nvSpPr>
          <p:cNvPr id="36" name="TextBox 35"/>
          <p:cNvSpPr txBox="1"/>
          <p:nvPr/>
        </p:nvSpPr>
        <p:spPr>
          <a:xfrm>
            <a:off x="5498592" y="510365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Definitions, valid values, layout</a:t>
            </a:r>
          </a:p>
        </p:txBody>
      </p:sp>
      <p:sp>
        <p:nvSpPr>
          <p:cNvPr id="37" name="TextBox 36"/>
          <p:cNvSpPr txBox="1"/>
          <p:nvPr/>
        </p:nvSpPr>
        <p:spPr>
          <a:xfrm>
            <a:off x="8510016" y="5103654"/>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Multi-step tasks repeated across files</a:t>
            </a:r>
          </a:p>
        </p:txBody>
      </p:sp>
      <p:sp>
        <p:nvSpPr>
          <p:cNvPr id="38" name="Rounded Rectangle 37"/>
          <p:cNvSpPr/>
          <p:nvPr/>
        </p:nvSpPr>
        <p:spPr>
          <a:xfrm>
            <a:off x="777240" y="5665356"/>
            <a:ext cx="10634472" cy="56170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9" name="TextBox 38"/>
          <p:cNvSpPr txBox="1"/>
          <p:nvPr/>
        </p:nvSpPr>
        <p:spPr>
          <a:xfrm>
            <a:off x="886968" y="5665356"/>
            <a:ext cx="1453896" cy="561702"/>
          </a:xfrm>
          <a:prstGeom prst="rect">
            <a:avLst/>
          </a:prstGeom>
          <a:noFill/>
        </p:spPr>
        <p:txBody>
          <a:bodyPr wrap="square" anchor="ctr">
            <a:spAutoFit/>
          </a:bodyPr>
          <a:lstStyle/>
          <a:p>
            <a:pPr algn="l">
              <a:spcAft>
                <a:spcPts val="400"/>
              </a:spcAft>
            </a:pPr>
            <a:r>
              <a:rPr sz="1250" b="1">
                <a:solidFill>
                  <a:srgbClr val="21201C"/>
                </a:solidFill>
                <a:latin typeface="Calibri"/>
              </a:rPr>
              <a:t>Example</a:t>
            </a:r>
          </a:p>
        </p:txBody>
      </p:sp>
      <p:sp>
        <p:nvSpPr>
          <p:cNvPr id="40" name="TextBox 39"/>
          <p:cNvSpPr txBox="1"/>
          <p:nvPr/>
        </p:nvSpPr>
        <p:spPr>
          <a:xfrm>
            <a:off x="2487168" y="566535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Use navy and teal for charts</a:t>
            </a:r>
          </a:p>
        </p:txBody>
      </p:sp>
      <p:sp>
        <p:nvSpPr>
          <p:cNvPr id="41" name="TextBox 40"/>
          <p:cNvSpPr txBox="1"/>
          <p:nvPr/>
        </p:nvSpPr>
        <p:spPr>
          <a:xfrm>
            <a:off x="5498592" y="566535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WIP = In Progress</a:t>
            </a:r>
          </a:p>
        </p:txBody>
      </p:sp>
      <p:sp>
        <p:nvSpPr>
          <p:cNvPr id="42" name="TextBox 41"/>
          <p:cNvSpPr txBox="1"/>
          <p:nvPr/>
        </p:nvSpPr>
        <p:spPr>
          <a:xfrm>
            <a:off x="8510016" y="5665356"/>
            <a:ext cx="2791968" cy="561702"/>
          </a:xfrm>
          <a:prstGeom prst="rect">
            <a:avLst/>
          </a:prstGeom>
          <a:noFill/>
        </p:spPr>
        <p:txBody>
          <a:bodyPr wrap="square" anchor="ctr">
            <a:spAutoFit/>
          </a:bodyPr>
          <a:lstStyle/>
          <a:p>
            <a:pPr algn="l">
              <a:spcAft>
                <a:spcPts val="400"/>
              </a:spcAft>
            </a:pPr>
            <a:r>
              <a:rPr sz="1150" b="0">
                <a:solidFill>
                  <a:srgbClr val="21201C"/>
                </a:solidFill>
                <a:latin typeface="Calibri"/>
              </a:rPr>
              <a:t>@interview-calendar week of 6 July</a:t>
            </a:r>
          </a:p>
        </p:txBody>
      </p:sp>
      <p:sp>
        <p:nvSpPr>
          <p:cNvPr id="43" name="TextBox 4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44" name="TextBox 4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45" name="TextBox 4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WHICH ONE?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Personalization, Rules and Skills Compared</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WHERE DOES IT GO?</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REMEMBER</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'Always show currency as S$ with 2 decimals' → Personalization</a:t>
            </a:r>
          </a:p>
          <a:p>
            <a:pPr>
              <a:spcAft>
                <a:spcPts val="1000"/>
              </a:spcAft>
            </a:pPr>
            <a:r>
              <a:rPr sz="1600" b="0">
                <a:solidFill>
                  <a:srgbClr val="21201C"/>
                </a:solidFill>
                <a:latin typeface="Calibri"/>
              </a:rPr>
              <a:t>•  'In this workbook, WIP means In Progress' → .Rules</a:t>
            </a:r>
          </a:p>
          <a:p>
            <a:pPr>
              <a:spcAft>
                <a:spcPts val="1000"/>
              </a:spcAft>
            </a:pPr>
            <a:r>
              <a:rPr sz="1600" b="0">
                <a:solidFill>
                  <a:srgbClr val="21201C"/>
                </a:solidFill>
                <a:latin typeface="Calibri"/>
              </a:rPr>
              <a:t>•  'Build the weekly interview calendar' → Skill</a:t>
            </a:r>
          </a:p>
          <a:p>
            <a:pPr>
              <a:spcAft>
                <a:spcPts val="1000"/>
              </a:spcAft>
            </a:pPr>
            <a:r>
              <a:rPr sz="1600" b="0">
                <a:solidFill>
                  <a:srgbClr val="21201C"/>
                </a:solidFill>
                <a:latin typeface="Calibri"/>
              </a:rPr>
              <a:t>•  'Charts in this client report use the client's colours' →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Your prompt overrides Personalization.</a:t>
            </a:r>
          </a:p>
          <a:p>
            <a:pPr>
              <a:spcAft>
                <a:spcPts val="1000"/>
              </a:spcAft>
            </a:pPr>
            <a:r>
              <a:rPr sz="1600" b="0">
                <a:solidFill>
                  <a:srgbClr val="21201C"/>
                </a:solidFill>
                <a:latin typeface="Calibri"/>
              </a:rPr>
              <a:t>•  A hidden .Rules sheet is ignored.</a:t>
            </a:r>
          </a:p>
          <a:p>
            <a:pPr>
              <a:spcAft>
                <a:spcPts val="1000"/>
              </a:spcAft>
            </a:pPr>
            <a:r>
              <a:rPr sz="1600" b="0">
                <a:solidFill>
                  <a:srgbClr val="21201C"/>
                </a:solidFill>
                <a:latin typeface="Calibri"/>
              </a:rPr>
              <a:t>•  A custom skill works only once installed in OneDrive.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THEME · WORKBOOK RULES &amp; PERSONALISATION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Clean Messy Client Orders with Cleanup, Personalisation and Rules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4</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order system exports client orders that several people typed by hand: 'WIP', 'in progress' and 'Ongoing' all mean In Progress, regions are written 23 ways and client names carry 'Pte Ltd' suffixes. You will save your own preferences in Personalization, try Copilot's automated cleanup, then create a .Rules sheet that defines the workbook's standards. With the rules in place, a one-line prompt builds a clean table, and the same rules shape the XLOOKUP and budget columns you add next.</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Your Personalization (saved to your account) and BrightPath_Client_Orders_Raw.xlsx with a .Rules sheet, a clean tblOrdersClean table (5 statuses, 5 regions, 12 clients), Rate, Delivered_Value, Budget_Used and Over_Budget columns, and a Checks sheet that proves the clean-up</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Personalise</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Automated cleanup</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Create .Rules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Apply the rules</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Rules + XLOOKUP</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Chat only) · Personalization · Clean data with Copilot · .Rules worksheet · XLOOKUP</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4</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Create rules: Create a .Rules worksheet based on the formatting already used in this workbook.</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Add a rule: Add a rule to my .Rules worksheet that all charts should use navy #1F4E79 and teal #2A9D8F.</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Apply rules: Create a new sheet Orders_Clean with a clean copy of Orders_Raw, following the workbook rules.</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Find variants: List the distinct values in Status and Region with counts, and group the ones that mean the same thing.</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Rules + lookup: Add Rate from tblRateCard by Owner and Delivered_Value = Hours_Logged x Rate to tblOrdersClean.</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4</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Orders and distinct values (Checks B1:B4)</a:t>
            </a:r>
          </a:p>
          <a:p>
            <a:pPr algn="l">
              <a:spcAft>
                <a:spcPts val="300"/>
              </a:spcAft>
            </a:pPr>
            <a:r>
              <a:rPr sz="1300" b="0">
                <a:solidFill>
                  <a:srgbClr val="6B6862"/>
                </a:solidFill>
                <a:latin typeface="Calibri"/>
              </a:rPr>
              <a:t>64 orders; 5 statuses, 5 regions, 12 clients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Status counts</a:t>
            </a:r>
          </a:p>
          <a:p>
            <a:pPr algn="l">
              <a:spcAft>
                <a:spcPts val="300"/>
              </a:spcAft>
            </a:pPr>
            <a:r>
              <a:rPr sz="1300" b="0">
                <a:solidFill>
                  <a:srgbClr val="6B6862"/>
                </a:solidFill>
                <a:latin typeface="Calibri"/>
              </a:rPr>
              <a:t>Open 10, In Progress 24, On Hold 6, Completed 21, Cancelled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Paused orders</a:t>
            </a:r>
          </a:p>
          <a:p>
            <a:pPr algn="l">
              <a:spcAft>
                <a:spcPts val="300"/>
              </a:spcAft>
            </a:pPr>
            <a:r>
              <a:rPr sz="1300" b="0">
                <a:solidFill>
                  <a:srgbClr val="6B6862"/>
                </a:solidFill>
                <a:latin typeface="Calibri"/>
              </a:rPr>
              <a:t>ORD-302 and ORD-303 are On Hold</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Total budget (B6)</a:t>
            </a:r>
          </a:p>
          <a:p>
            <a:pPr algn="l">
              <a:spcAft>
                <a:spcPts val="300"/>
              </a:spcAft>
            </a:pPr>
            <a:r>
              <a:rPr sz="1300" b="0">
                <a:solidFill>
                  <a:srgbClr val="6B6862"/>
                </a:solidFill>
                <a:latin typeface="Calibri"/>
              </a:rPr>
              <a:t>S$3,250,500</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Delivered value and over budget (B7, B8)</a:t>
            </a:r>
          </a:p>
          <a:p>
            <a:pPr algn="l">
              <a:spcAft>
                <a:spcPts val="300"/>
              </a:spcAft>
            </a:pPr>
            <a:r>
              <a:rPr sz="1300" b="0">
                <a:solidFill>
                  <a:srgbClr val="6B6862"/>
                </a:solidFill>
                <a:latin typeface="Calibri"/>
              </a:rPr>
              <a:t>S$1,961,030; 10 orders over budget</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Sample ORD-326</a:t>
            </a:r>
          </a:p>
          <a:p>
            <a:pPr algn="l">
              <a:spcAft>
                <a:spcPts val="300"/>
              </a:spcAft>
            </a:pPr>
            <a:r>
              <a:rPr sz="1300" b="0">
                <a:solidFill>
                  <a:srgbClr val="6B6862"/>
                </a:solidFill>
                <a:latin typeface="Calibri"/>
              </a:rPr>
              <a:t>358 h x S$115 = S$41,170 vs budget S$36,500 - Over_Budget Yes</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Finance Measures: CAC, LTV, Churn and Payback</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CAC is what it costs to win a client; LTV is what a client is worth; payback is how fast CAC is earned back.</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Together they show whether growth pays off. A common benchmark: LTV:CAC of 3 or more.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Write the period and each definition before any skill calculates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Key Finance Measures: CAC, LTV, Churn and Payback</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CAC = sales &amp; marketing spend / new clients</a:t>
            </a:r>
          </a:p>
          <a:p>
            <a:pPr>
              <a:spcAft>
                <a:spcPts val="1000"/>
              </a:spcAft>
            </a:pPr>
            <a:r>
              <a:rPr sz="1600" b="0">
                <a:solidFill>
                  <a:srgbClr val="21201C"/>
                </a:solidFill>
                <a:latin typeface="Calibri"/>
              </a:rPr>
              <a:t>•  ARPA = MRR / active clients</a:t>
            </a:r>
          </a:p>
          <a:p>
            <a:pPr>
              <a:spcAft>
                <a:spcPts val="1000"/>
              </a:spcAft>
            </a:pPr>
            <a:r>
              <a:rPr sz="1600" b="0">
                <a:solidFill>
                  <a:srgbClr val="21201C"/>
                </a:solidFill>
                <a:latin typeface="Calibri"/>
              </a:rPr>
              <a:t>•  LTV = ARPA x gross margin / monthly churn</a:t>
            </a:r>
          </a:p>
          <a:p>
            <a:pPr>
              <a:spcAft>
                <a:spcPts val="1000"/>
              </a:spcAft>
            </a:pPr>
            <a:r>
              <a:rPr sz="1600" b="0">
                <a:solidFill>
                  <a:srgbClr val="21201C"/>
                </a:solidFill>
                <a:latin typeface="Calibri"/>
              </a:rPr>
              <a:t>•  Payback = CAC / (ARPA x gross margin)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H1 2026: CAC S$14,748, LTV about S$80,433.</a:t>
            </a:r>
          </a:p>
          <a:p>
            <a:pPr>
              <a:spcAft>
                <a:spcPts val="1000"/>
              </a:spcAft>
            </a:pPr>
            <a:r>
              <a:rPr sz="1600" b="0">
                <a:solidFill>
                  <a:srgbClr val="21201C"/>
                </a:solidFill>
                <a:latin typeface="Calibri"/>
              </a:rPr>
              <a:t>•  LTV:CAC 5.5; payback 8.9 months.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Built-in Skills: Formatting, Visualisation and Finance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Ready-made skills you call with @: @chart-design, @theme-design, @brandkit and ~20 finance skills.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They package expert know-how - chart design, model audits, unit economics - in one line.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Hold the skill to your definitions and reproduce its headline numbers with formulas.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Built-in Skills: Formatting, Visualisation and Finance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@chart-design Create a combo chart of MRR and active clients by month.</a:t>
            </a:r>
          </a:p>
          <a:p>
            <a:pPr>
              <a:spcAft>
                <a:spcPts val="1000"/>
              </a:spcAft>
            </a:pPr>
            <a:r>
              <a:rPr sz="1600" b="0">
                <a:solidFill>
                  <a:srgbClr val="21201C"/>
                </a:solidFill>
                <a:latin typeface="Calibri"/>
              </a:rPr>
              <a:t>•  @unit-economics Analyse CAC, LTV and payback for H1 2026 using the definitions on About_This_Data.</a:t>
            </a:r>
          </a:p>
          <a:p>
            <a:pPr>
              <a:spcAft>
                <a:spcPts val="1000"/>
              </a:spcAft>
            </a:pPr>
            <a:r>
              <a:rPr sz="1600" b="0">
                <a:solidFill>
                  <a:srgbClr val="21201C"/>
                </a:solidFill>
                <a:latin typeface="Calibri"/>
              </a:rPr>
              <a:t>•  @check-model Audit Headcount_Budget. List issues; do not change anything yet.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CAC on Checks = the skill's CAC.</a:t>
            </a:r>
          </a:p>
          <a:p>
            <a:pPr>
              <a:spcAft>
                <a:spcPts val="1000"/>
              </a:spcAft>
            </a:pPr>
            <a:r>
              <a:rPr sz="1600" b="0">
                <a:solidFill>
                  <a:srgbClr val="21201C"/>
                </a:solidFill>
                <a:latin typeface="Calibri"/>
              </a:rPr>
              <a:t>•  Budget total fixed: 3 errors found.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Turning Built-in Skills On</a:t>
            </a:r>
          </a:p>
        </p:txBody>
      </p:sp>
      <p:sp>
        <p:nvSpPr>
          <p:cNvPr id="5" name="Rectangle 4"/>
          <p:cNvSpPr/>
          <p:nvPr/>
        </p:nvSpPr>
        <p:spPr>
          <a:xfrm>
            <a:off x="2228312" y="1737360"/>
            <a:ext cx="2186491" cy="3840479"/>
          </a:xfrm>
          <a:prstGeom prst="rect">
            <a:avLst/>
          </a:prstGeom>
          <a:solidFill>
            <a:srgbClr val="DCD8CF"/>
          </a:solidFill>
          <a:ln>
            <a:noFill/>
          </a:ln>
          <a:effectLst/>
        </p:spPr>
        <p:txBody>
          <a:bodyPr rtlCol="0" anchor="ctr"/>
          <a:lstStyle/>
          <a:p>
            <a:pPr algn="ctr"/>
          </a:p>
        </p:txBody>
      </p:sp>
      <p:pic>
        <p:nvPicPr>
          <p:cNvPr id="6" name="Picture 5" descr="manage-skills.png"/>
          <p:cNvPicPr>
            <a:picLocks noChangeAspect="1"/>
          </p:cNvPicPr>
          <p:nvPr/>
        </p:nvPicPr>
        <p:blipFill>
          <a:blip r:embed="rId2"/>
          <a:stretch>
            <a:fillRect/>
          </a:stretch>
        </p:blipFill>
        <p:spPr>
          <a:xfrm>
            <a:off x="2274032" y="1783080"/>
            <a:ext cx="2095051" cy="3749039"/>
          </a:xfrm>
          <a:prstGeom prst="rect">
            <a:avLst/>
          </a:prstGeom>
        </p:spPr>
      </p:pic>
      <p:sp>
        <p:nvSpPr>
          <p:cNvPr id="7" name="TextBox 6"/>
          <p:cNvSpPr txBox="1"/>
          <p:nvPr/>
        </p:nvSpPr>
        <p:spPr>
          <a:xfrm>
            <a:off x="777240"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Manage plugins &amp; skills</a:t>
            </a:r>
          </a:p>
          <a:p>
            <a:pPr algn="ctr">
              <a:spcAft>
                <a:spcPts val="200"/>
              </a:spcAft>
            </a:pPr>
            <a:r>
              <a:rPr sz="1200" b="0">
                <a:solidFill>
                  <a:srgbClr val="6B6862"/>
                </a:solidFill>
                <a:latin typeface="Calibri"/>
              </a:rPr>
              <a:t>Settings (...): switch a whole group on - Custom skills, Finance, Visualisation.</a:t>
            </a:r>
          </a:p>
        </p:txBody>
      </p:sp>
      <p:sp>
        <p:nvSpPr>
          <p:cNvPr id="8" name="Rectangle 7"/>
          <p:cNvSpPr/>
          <p:nvPr/>
        </p:nvSpPr>
        <p:spPr>
          <a:xfrm>
            <a:off x="7888787" y="1737360"/>
            <a:ext cx="1957213" cy="3840479"/>
          </a:xfrm>
          <a:prstGeom prst="rect">
            <a:avLst/>
          </a:prstGeom>
          <a:solidFill>
            <a:srgbClr val="DCD8CF"/>
          </a:solidFill>
          <a:ln>
            <a:noFill/>
          </a:ln>
          <a:effectLst/>
        </p:spPr>
        <p:txBody>
          <a:bodyPr rtlCol="0" anchor="ctr"/>
          <a:lstStyle/>
          <a:p>
            <a:pPr algn="ctr"/>
          </a:p>
        </p:txBody>
      </p:sp>
      <p:pic>
        <p:nvPicPr>
          <p:cNvPr id="9" name="Picture 8" descr="finance-skills.png"/>
          <p:cNvPicPr>
            <a:picLocks noChangeAspect="1"/>
          </p:cNvPicPr>
          <p:nvPr/>
        </p:nvPicPr>
        <p:blipFill>
          <a:blip r:embed="rId3"/>
          <a:stretch>
            <a:fillRect/>
          </a:stretch>
        </p:blipFill>
        <p:spPr>
          <a:xfrm>
            <a:off x="7934507" y="1783080"/>
            <a:ext cx="1865774" cy="3749039"/>
          </a:xfrm>
          <a:prstGeom prst="rect">
            <a:avLst/>
          </a:prstGeom>
        </p:spPr>
      </p:pic>
      <p:sp>
        <p:nvSpPr>
          <p:cNvPr id="10" name="TextBox 9"/>
          <p:cNvSpPr txBox="1"/>
          <p:nvPr/>
        </p:nvSpPr>
        <p:spPr>
          <a:xfrm>
            <a:off x="6323076"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Inside a group</a:t>
            </a:r>
          </a:p>
          <a:p>
            <a:pPr algn="ctr">
              <a:spcAft>
                <a:spcPts val="200"/>
              </a:spcAft>
            </a:pPr>
            <a:r>
              <a:rPr sz="1200" b="0">
                <a:solidFill>
                  <a:srgbClr val="6B6862"/>
                </a:solidFill>
                <a:latin typeface="Calibri"/>
              </a:rPr>
              <a:t>Open Finance and turn on single skills, e.g. check-model.</a:t>
            </a:r>
          </a:p>
        </p:txBody>
      </p:sp>
      <p:sp>
        <p:nvSpPr>
          <p:cNvPr id="11" name="TextBox 1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2" name="TextBox 1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3" name="TextBox 1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THEME · BUILT-IN SKILLS: VISUAL &amp; FINANCE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Analyse HR-Outsourcing Finances with Built-in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5</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HR-outsourcing business sells monthly payroll and HR services to client companies. Finance wants to know whether winning clients pays off and whether next year's headcount budget is right. You will switch on skills in Manage plugins &amp; skills, call them with @, and let each one do a specialist job: @chart-design builds the revenue chart, @unit-economics works out CAC, LTV and payback, @check-model finds the errors in the budget model, and @theme-design styles the workbook. A Checks sheet proves every headline number.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BrightPath_HR_Outsourcing_Finance.xlsx with a skill-designed MRR chart, a Unit_Economics sheet, a corrected Headcount_Budget, a Checks sheet that agrees with the skills, and a consistent theme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Manage skills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@chart-design</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@unit-economics</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@check-model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@theme-design</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(Allow editing, Plan, Chat only) · @chart-design · @unit-economics · @check-model · @theme-design</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5</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Find skills: Which skills do you have for charts, formatting and finance? When would I use each one?</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Chart skill: @chart-design Recommend the best chart for new vs churned clients by month, then create it.</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Finance skill: @unit-economics Compare CAC and payback months by acquisition Channel for H1 2026.</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Audit skill: @check-model Check this sheet for hardcoded numbers, broken formulas and totals that miss rows.</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Style skill: @theme-design Apply a coordinated theme to this workbook.</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5</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New clients and spend, H1 2026</a:t>
            </a:r>
          </a:p>
          <a:p>
            <a:pPr algn="l">
              <a:spcAft>
                <a:spcPts val="300"/>
              </a:spcAft>
            </a:pPr>
            <a:r>
              <a:rPr sz="1300" b="0">
                <a:solidFill>
                  <a:srgbClr val="6B6862"/>
                </a:solidFill>
                <a:latin typeface="Calibri"/>
              </a:rPr>
              <a:t>38 clients; S$560,420</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CAC and ARPA</a:t>
            </a:r>
          </a:p>
          <a:p>
            <a:pPr algn="l">
              <a:spcAft>
                <a:spcPts val="300"/>
              </a:spcAft>
            </a:pPr>
            <a:r>
              <a:rPr sz="1300" b="0">
                <a:solidFill>
                  <a:srgbClr val="6B6862"/>
                </a:solidFill>
                <a:latin typeface="Calibri"/>
              </a:rPr>
              <a:t>S$14,748; S$3,681</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Margin and monthly churn</a:t>
            </a:r>
          </a:p>
          <a:p>
            <a:pPr algn="l">
              <a:spcAft>
                <a:spcPts val="300"/>
              </a:spcAft>
            </a:pPr>
            <a:r>
              <a:rPr sz="1300" b="0">
                <a:solidFill>
                  <a:srgbClr val="6B6862"/>
                </a:solidFill>
                <a:latin typeface="Calibri"/>
              </a:rPr>
              <a:t>44.9%; 2.06%</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LTV, LTV:CAC, payback</a:t>
            </a:r>
          </a:p>
          <a:p>
            <a:pPr algn="l">
              <a:spcAft>
                <a:spcPts val="300"/>
              </a:spcAft>
            </a:pPr>
            <a:r>
              <a:rPr sz="1300" b="0">
                <a:solidFill>
                  <a:srgbClr val="6B6862"/>
                </a:solidFill>
                <a:latin typeface="Calibri"/>
              </a:rPr>
              <a:t>About S$80,433; 5.5; 8.9 months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CAC by channel</a:t>
            </a:r>
          </a:p>
          <a:p>
            <a:pPr algn="l">
              <a:spcAft>
                <a:spcPts val="300"/>
              </a:spcAft>
            </a:pPr>
            <a:r>
              <a:rPr sz="1300" b="0">
                <a:solidFill>
                  <a:srgbClr val="6B6862"/>
                </a:solidFill>
                <a:latin typeface="Calibri"/>
              </a:rPr>
              <a:t>Lowest Referral S$5,180; highest Events S$33,445</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@check-model fixes</a:t>
            </a:r>
          </a:p>
          <a:p>
            <a:pPr algn="l">
              <a:spcAft>
                <a:spcPts val="300"/>
              </a:spcAft>
            </a:pPr>
            <a:r>
              <a:rPr sz="1300" b="0">
                <a:solidFill>
                  <a:srgbClr val="6B6862"/>
                </a:solidFill>
                <a:latin typeface="Calibri"/>
              </a:rPr>
              <a:t>E3, E6, E10: total S$1,437,934 -&gt; S$1,703,052</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Skills: The SKILL.md Recipe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SKILL.md file in its own OneDrive folder: name and description at the top, plain-English steps below.</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Turns a long, repeated prompt into a one-line @mention that works in any workbook.</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 name = name: line. Select Refresh after every change.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Custom Skills: The SKILL.md Recipe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SET IT UP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 &gt; Manage plugins &amp; skills &gt; Custom skills &gt; Create OneDrive folder.</a:t>
            </a:r>
          </a:p>
          <a:p>
            <a:pPr>
              <a:spcAft>
                <a:spcPts val="1000"/>
              </a:spcAft>
            </a:pPr>
            <a:r>
              <a:rPr sz="1600" b="0">
                <a:solidFill>
                  <a:srgbClr val="21201C"/>
                </a:solidFill>
                <a:latin typeface="Calibri"/>
              </a:rPr>
              <a:t>•  New folder: interview-calendar; upload SKILL.md into it.</a:t>
            </a:r>
          </a:p>
          <a:p>
            <a:pPr>
              <a:spcAft>
                <a:spcPts val="1000"/>
              </a:spcAft>
            </a:pPr>
            <a:r>
              <a:rPr sz="1600" b="0">
                <a:solidFill>
                  <a:srgbClr val="21201C"/>
                </a:solidFill>
                <a:latin typeface="Calibri"/>
              </a:rPr>
              <a:t>•  Custom skills &gt; Refresh; turn the skill on.</a:t>
            </a:r>
          </a:p>
          <a:p>
            <a:pPr>
              <a:spcAft>
                <a:spcPts val="1000"/>
              </a:spcAft>
            </a:pPr>
            <a:r>
              <a:rPr sz="1600" b="0">
                <a:solidFill>
                  <a:srgbClr val="21201C"/>
                </a:solidFill>
                <a:latin typeface="Calibri"/>
              </a:rPr>
              <a:t>•  @interview-calendar Week starting 6 July 2026.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skill appears when you type @.</a:t>
            </a:r>
          </a:p>
          <a:p>
            <a:pPr>
              <a:spcAft>
                <a:spcPts val="1000"/>
              </a:spcAft>
            </a:pPr>
            <a:r>
              <a:rPr sz="1600" b="0">
                <a:solidFill>
                  <a:srgbClr val="21201C"/>
                </a:solidFill>
                <a:latin typeface="Calibri"/>
              </a:rPr>
              <a:t>•  It runs from one 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 Custom Skill Installed in OneDrive</a:t>
            </a:r>
          </a:p>
        </p:txBody>
      </p:sp>
      <p:sp>
        <p:nvSpPr>
          <p:cNvPr id="5" name="Rectangle 4"/>
          <p:cNvSpPr/>
          <p:nvPr/>
        </p:nvSpPr>
        <p:spPr>
          <a:xfrm>
            <a:off x="1016808" y="1792224"/>
            <a:ext cx="10158079" cy="4224528"/>
          </a:xfrm>
          <a:prstGeom prst="rect">
            <a:avLst/>
          </a:prstGeom>
          <a:solidFill>
            <a:srgbClr val="DCD8CF"/>
          </a:solidFill>
          <a:ln>
            <a:noFill/>
          </a:ln>
          <a:effectLst/>
        </p:spPr>
        <p:txBody>
          <a:bodyPr rtlCol="0" anchor="ctr"/>
          <a:lstStyle/>
          <a:p>
            <a:pPr algn="ctr"/>
          </a:p>
        </p:txBody>
      </p:sp>
      <p:pic>
        <p:nvPicPr>
          <p:cNvPr id="6" name="Picture 5" descr="onedrive-skills-interview-calendar.png"/>
          <p:cNvPicPr>
            <a:picLocks noChangeAspect="1"/>
          </p:cNvPicPr>
          <p:nvPr/>
        </p:nvPicPr>
        <p:blipFill>
          <a:blip r:embed="rId2"/>
          <a:stretch>
            <a:fillRect/>
          </a:stretch>
        </p:blipFill>
        <p:spPr>
          <a:xfrm>
            <a:off x="1071672" y="1847088"/>
            <a:ext cx="10048352" cy="4114800"/>
          </a:xfrm>
          <a:prstGeom prst="rect">
            <a:avLst/>
          </a:prstGeom>
        </p:spPr>
      </p:pic>
      <p:sp>
        <p:nvSpPr>
          <p:cNvPr id="7" name="TextBox 6"/>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6B6862"/>
                </a:solidFill>
                <a:latin typeface="Calibri"/>
              </a:rPr>
              <a:t>OneDrive &gt; Documents &gt; Copilot &gt; Microsoft Excel &gt; skills: the new interview-calendar folder holds SKILL.md, next to the sample make-calendar.example.</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Using Copilot to Write and Improve a Skill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Describe the task in Chat only and Copilot writes the whole SKILL.md for you.</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coding needed - and a skill gets better each time you add a correction to it.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Read every step before saving, and test the skill on a copy first.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Using Copilot to Write and Improve a Skill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Write a SKILL.md named interview-calendar that turns tblInterviews into a weekly calendar and flags clashes.</a:t>
            </a:r>
          </a:p>
          <a:p>
            <a:pPr>
              <a:spcAft>
                <a:spcPts val="1000"/>
              </a:spcAft>
            </a:pPr>
            <a:r>
              <a:rPr sz="1600" b="0">
                <a:solidFill>
                  <a:srgbClr val="21201C"/>
                </a:solidFill>
                <a:latin typeface="Calibri"/>
              </a:rPr>
              <a:t>•  Return only the SKILL.md text, starting with the --- front matter.</a:t>
            </a:r>
          </a:p>
          <a:p>
            <a:pPr>
              <a:spcAft>
                <a:spcPts val="1000"/>
              </a:spcAft>
            </a:pPr>
            <a:r>
              <a:rPr sz="1600" b="0">
                <a:solidFill>
                  <a:srgbClr val="21201C"/>
                </a:solidFill>
                <a:latin typeface="Calibri"/>
              </a:rPr>
              <a:t>•  Update the skill so the summary shows hours per Interviewer.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Week 1: 23 interviews, 3 clashes.</a:t>
            </a:r>
          </a:p>
          <a:p>
            <a:pPr>
              <a:spcAft>
                <a:spcPts val="1000"/>
              </a:spcAft>
            </a:pPr>
            <a:r>
              <a:rPr sz="1600" b="0">
                <a:solidFill>
                  <a:srgbClr val="21201C"/>
                </a:solidFill>
                <a:latin typeface="Calibri"/>
              </a:rPr>
              <a:t>•  Week 2 needs only one short prompt.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THEME · CUSTOM SKILLS: CALENDAR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Use Copilot to Build a Custom Interview-Calendar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6</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Every Friday a BrightPath coordinator turns next week's interview bookings into a calendar and hunts for double-bookings. That is a repeatable recipe, so it should be a skill. You will open the sample calendar skill in your OneDrive skills folder, ask Copilot to write a new SKILL.md for interview-calendar, save it in its own folder, refresh the skills list and call it with @. The same one-line prompt then builds the next week's calendar.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interview-calendar skill in your OneDrive skills folder, and BrightPath_Interview_Schedule.xlsx with Cal_2026-07-06 and Cal_2026-07-13 calendar sheets, each with clashes flagged and a summary</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Skills folder</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Copilot writes SKILL.md</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Save &amp; refresh</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@interview-calendar</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Reuse &amp; improve</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(Chat only, Allow editing) · Manage plugins &amp; skills · OneDrive skills folder · SKILL.md</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6</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Write a skill: Write a SKILL.md for a skill named weekly-recruiter-report that summarises interviews by Interviewer and Client for a given week, with a small bar chart.</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Explain a skill: Read this SKILL.md and tell me what Copilot will do, step by step, and anything that is unclear.</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Call a skill: @interview-calendar Build the calendar for the week starting Monday 6 July 2026.</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Reuse: @interview-calendar Week starting 13 July 2026.</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Clash check: List every interview clash in tblInterviews for 6-10 July 2026 with both Interview_IDs.</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6</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Week of 6 July</a:t>
            </a:r>
          </a:p>
          <a:p>
            <a:pPr algn="l">
              <a:spcAft>
                <a:spcPts val="300"/>
              </a:spcAft>
            </a:pPr>
            <a:r>
              <a:rPr sz="1300" b="0">
                <a:solidFill>
                  <a:srgbClr val="6B6862"/>
                </a:solidFill>
                <a:latin typeface="Calibri"/>
              </a:rPr>
              <a:t>23 interviews = the COUNTIFS check</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By day</a:t>
            </a:r>
          </a:p>
          <a:p>
            <a:pPr algn="l">
              <a:spcAft>
                <a:spcPts val="300"/>
              </a:spcAft>
            </a:pPr>
            <a:r>
              <a:rPr sz="1300" b="0">
                <a:solidFill>
                  <a:srgbClr val="6B6862"/>
                </a:solidFill>
                <a:latin typeface="Calibri"/>
              </a:rPr>
              <a:t>Mon 7, Tue 5, Wed 5, Thu 3, Fri 3</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Clashes flagged</a:t>
            </a:r>
          </a:p>
          <a:p>
            <a:pPr algn="l">
              <a:spcAft>
                <a:spcPts val="300"/>
              </a:spcAft>
            </a:pPr>
            <a:r>
              <a:rPr sz="1300" b="0">
                <a:solidFill>
                  <a:srgbClr val="6B6862"/>
                </a:solidFill>
                <a:latin typeface="Calibri"/>
              </a:rPr>
              <a:t>INT-010/INT-011 Kevin Ong; INT-015/INT-016 Orchid Room; INT-018/INT-019 Aisha Rahman</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Busiest interviewer</a:t>
            </a:r>
          </a:p>
          <a:p>
            <a:pPr algn="l">
              <a:spcAft>
                <a:spcPts val="300"/>
              </a:spcAft>
            </a:pPr>
            <a:r>
              <a:rPr sz="1300" b="0">
                <a:solidFill>
                  <a:srgbClr val="6B6862"/>
                </a:solidFill>
                <a:latin typeface="Calibri"/>
              </a:rPr>
              <a:t>Aisha Rahman (9 interviews)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Week of 13 July</a:t>
            </a:r>
          </a:p>
          <a:p>
            <a:pPr algn="l">
              <a:spcAft>
                <a:spcPts val="300"/>
              </a:spcAft>
            </a:pPr>
            <a:r>
              <a:rPr sz="1300" b="0">
                <a:solidFill>
                  <a:srgbClr val="6B6862"/>
                </a:solidFill>
                <a:latin typeface="Calibri"/>
              </a:rPr>
              <a:t>18 interviews, no clashes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Skill</a:t>
            </a:r>
          </a:p>
          <a:p>
            <a:pPr algn="l">
              <a:spcAft>
                <a:spcPts val="300"/>
              </a:spcAft>
            </a:pPr>
            <a:r>
              <a:rPr sz="1300" b="0">
                <a:solidFill>
                  <a:srgbClr val="6B6862"/>
                </a:solidFill>
                <a:latin typeface="Calibri"/>
              </a:rPr>
              <a:t>interview-calendar appears when you type @ and runs from a one-line prompt</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Personalisation: Your own preferences, saved once in Settings and applied in every workbook.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.Rules: One workbook's standards in a visible .Rules sheet, so a one-line prompt cleans the data.</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Built-in skills: @chart-design, @unit-economics, @check-model and @theme-design - checked against formulas.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LO2 · Custom skills: A SKILL.md written with Copilot, saved in OneDrive and reused with one @mention.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03</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Interactive Dashboards with Copilot, Skills and Rules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What a skill is: reusable, installed in OneDrive · designing a highly visual dashboard · KPI definitions and style in .Rules · plan, build and polish with skills · slicers, timelines and refresh · a reusable dashboard skill · sharing people dashboards responsibly</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LABS 7-8</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Key Concepts — Interactive Dashboards with Copilot, Skills and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Define each KPI first</a:t>
            </a:r>
          </a:p>
          <a:p>
            <a:pPr algn="l">
              <a:spcAft>
                <a:spcPts val="300"/>
              </a:spcAft>
            </a:pPr>
            <a:r>
              <a:rPr sz="1400" b="0">
                <a:solidFill>
                  <a:srgbClr val="6B6862"/>
                </a:solidFill>
                <a:latin typeface="Calibri"/>
              </a:rPr>
              <a:t>Write the formula in .Rules, e.g. Cost per hire = total sourcing cost / hires.</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Put the standards in .Rules</a:t>
            </a:r>
          </a:p>
          <a:p>
            <a:pPr algn="l">
              <a:spcAft>
                <a:spcPts val="300"/>
              </a:spcAft>
            </a:pPr>
            <a:r>
              <a:rPr sz="1400" b="0">
                <a:solidFill>
                  <a:srgbClr val="6B6862"/>
                </a:solidFill>
                <a:latin typeface="Calibri"/>
              </a:rPr>
              <a:t>KPI definitions, layout and colours in the rules keep the build prompt short.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Plan, then build</a:t>
            </a:r>
          </a:p>
          <a:p>
            <a:pPr algn="l">
              <a:spcAft>
                <a:spcPts val="300"/>
              </a:spcAft>
            </a:pPr>
            <a:r>
              <a:rPr sz="1400" b="0">
                <a:solidFill>
                  <a:srgbClr val="6B6862"/>
                </a:solidFill>
                <a:latin typeface="Calibri"/>
              </a:rPr>
              <a:t>Plan mode shows the dashboard plan. Fix a wrong KPI before Copilot copies it into five charts.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visual</a:t>
            </a:r>
          </a:p>
          <a:p>
            <a:pPr algn="l">
              <a:spcAft>
                <a:spcPts val="300"/>
              </a:spcAft>
            </a:pPr>
            <a:r>
              <a:rPr sz="1400" b="0">
                <a:solidFill>
                  <a:srgbClr val="6B6862"/>
                </a:solidFill>
                <a:latin typeface="Calibri"/>
              </a:rPr>
              <a:t>KPI cards on top, charts in a grid, traffic-light colours, then @chart-design and @theme-design to polish.</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interactive</a:t>
            </a:r>
          </a:p>
          <a:p>
            <a:pPr algn="l">
              <a:spcAft>
                <a:spcPts val="300"/>
              </a:spcAft>
            </a:pPr>
            <a:r>
              <a:rPr sz="1400" b="0">
                <a:solidFill>
                  <a:srgbClr val="6B6862"/>
                </a:solidFill>
                <a:latin typeface="Calibri"/>
              </a:rPr>
              <a:t>Slicers and a timeline filter every PivotTable and chart at once, and the KPI cards must follow.</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800" b="1">
                <a:solidFill>
                  <a:srgbClr val="21201C"/>
                </a:solidFill>
                <a:latin typeface="Cambria"/>
              </a:rPr>
              <a:t>Make it repeatable and safe</a:t>
            </a:r>
          </a:p>
          <a:p>
            <a:pPr algn="l">
              <a:spcAft>
                <a:spcPts val="300"/>
              </a:spcAft>
            </a:pPr>
            <a:r>
              <a:rPr sz="1400" b="0">
                <a:solidFill>
                  <a:srgbClr val="6B6862"/>
                </a:solidFill>
                <a:latin typeface="Calibri"/>
              </a:rPr>
              <a:t>Save the recipe as a skill, test refresh with new rows, and hide groups under 5 people.</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Hands-On Labs — Interactive Dashboards with Copilot, Skills and Rules</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7</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Interactive Dashboard</a:t>
            </a:r>
          </a:p>
          <a:p>
            <a:pPr>
              <a:spcAft>
                <a:spcPts val="900"/>
              </a:spcAft>
            </a:pPr>
            <a:r>
              <a:rPr sz="1200" b="0">
                <a:solidFill>
                  <a:srgbClr val="6B6862"/>
                </a:solidFill>
                <a:latin typeface="Calibri"/>
              </a:rPr>
              <a:t>–  Build an Interactive Recruitment Dashboard with Rules and Skills</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8</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Dashboard Skill, Refresh &amp; Share</a:t>
            </a:r>
          </a:p>
          <a:p>
            <a:pPr>
              <a:spcAft>
                <a:spcPts val="900"/>
              </a:spcAft>
            </a:pPr>
            <a:r>
              <a:rPr sz="1200" b="0">
                <a:solidFill>
                  <a:srgbClr val="6B6862"/>
                </a:solidFill>
                <a:latin typeface="Calibri"/>
              </a:rPr>
              <a:t>–  Turn the Dashboard into a Reusable Skill, Refresh It and Share It Safely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 Skill?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reusable recipe Copilot runs from one @mention in any workbook. A custom skill must be installed in OneDrive.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Write the steps once; every workbook and every month gets the same result.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Type @ in the prompt box: an installed, enabled skill appears in the list.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Try It in Copilot — What Is a Skill?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INSTALL A SKILL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Settings (...) &gt; Manage plugins &amp; skills &gt; Custom skills &gt; Add in OneDrive.</a:t>
            </a:r>
          </a:p>
          <a:p>
            <a:pPr>
              <a:spcAft>
                <a:spcPts val="1000"/>
              </a:spcAft>
            </a:pPr>
            <a:r>
              <a:rPr sz="1600" b="0">
                <a:solidFill>
                  <a:srgbClr val="21201C"/>
                </a:solidFill>
                <a:latin typeface="Calibri"/>
              </a:rPr>
              <a:t>•  OneDrive: skills &gt; hr-workforce-dashboard &gt; SKILL.md</a:t>
            </a:r>
          </a:p>
          <a:p>
            <a:pPr>
              <a:spcAft>
                <a:spcPts val="1000"/>
              </a:spcAft>
            </a:pPr>
            <a:r>
              <a:rPr sz="1600" b="0">
                <a:solidFill>
                  <a:srgbClr val="21201C"/>
                </a:solidFill>
                <a:latin typeface="Calibri"/>
              </a:rPr>
              <a:t>•  Refresh, turn the skill on, then type @hr in the prompt box.</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Folder name = the name: line.</a:t>
            </a:r>
          </a:p>
          <a:p>
            <a:pPr>
              <a:spcAft>
                <a:spcPts val="1000"/>
              </a:spcAft>
            </a:pPr>
            <a:r>
              <a:rPr sz="1600" b="0">
                <a:solidFill>
                  <a:srgbClr val="21201C"/>
                </a:solidFill>
                <a:latin typeface="Calibri"/>
              </a:rPr>
              <a:t>•  Workbook local; skill in OneDrive.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Where Custom Skills Live</a:t>
            </a:r>
          </a:p>
        </p:txBody>
      </p:sp>
      <p:sp>
        <p:nvSpPr>
          <p:cNvPr id="5" name="Rectangle 4"/>
          <p:cNvSpPr/>
          <p:nvPr/>
        </p:nvSpPr>
        <p:spPr>
          <a:xfrm>
            <a:off x="1380961" y="1792224"/>
            <a:ext cx="9429773" cy="4224528"/>
          </a:xfrm>
          <a:prstGeom prst="rect">
            <a:avLst/>
          </a:prstGeom>
          <a:solidFill>
            <a:srgbClr val="DCD8CF"/>
          </a:solidFill>
          <a:ln>
            <a:noFill/>
          </a:ln>
          <a:effectLst/>
        </p:spPr>
        <p:txBody>
          <a:bodyPr rtlCol="0" anchor="ctr"/>
          <a:lstStyle/>
          <a:p>
            <a:pPr algn="ctr"/>
          </a:p>
        </p:txBody>
      </p:sp>
      <p:pic>
        <p:nvPicPr>
          <p:cNvPr id="6" name="Picture 5" descr="onedrive-skills-folder.png"/>
          <p:cNvPicPr>
            <a:picLocks noChangeAspect="1"/>
          </p:cNvPicPr>
          <p:nvPr/>
        </p:nvPicPr>
        <p:blipFill>
          <a:blip r:embed="rId2"/>
          <a:stretch>
            <a:fillRect/>
          </a:stretch>
        </p:blipFill>
        <p:spPr>
          <a:xfrm>
            <a:off x="1435825" y="1847088"/>
            <a:ext cx="9320045" cy="4114800"/>
          </a:xfrm>
          <a:prstGeom prst="rect">
            <a:avLst/>
          </a:prstGeom>
        </p:spPr>
      </p:pic>
      <p:sp>
        <p:nvSpPr>
          <p:cNvPr id="7" name="TextBox 6"/>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6B6862"/>
                </a:solidFill>
                <a:latin typeface="Calibri"/>
              </a:rPr>
              <a:t>Excel reads custom skills only from OneDrive &gt; Documents &gt; Copilot &gt; Microsoft Excel &gt; skills - one folder per skill. The workbook itself can stay on your computer.</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Designing a Highly Visual Dashboard</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page: KPI cards on top, charts in a grid, slicers at the side, colour that signals status.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read it in seconds - if every KPI has one agreed definition.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Every KPI has a formula, a period, a target and an owner.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Designing a Highly Visual Dashboard</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Suggest 5 KPIs for a recruitment dashboard using the columns in tblApps.</a:t>
            </a:r>
          </a:p>
          <a:p>
            <a:pPr>
              <a:spcAft>
                <a:spcPts val="1000"/>
              </a:spcAft>
            </a:pPr>
            <a:r>
              <a:rPr sz="1600" b="0">
                <a:solidFill>
                  <a:srgbClr val="21201C"/>
                </a:solidFill>
                <a:latin typeface="Calibri"/>
              </a:rPr>
              <a:t>•  Write Offer acceptance rate = accepted / (accepted + declined), excluding Pending.</a:t>
            </a:r>
          </a:p>
          <a:p>
            <a:pPr>
              <a:spcAft>
                <a:spcPts val="1000"/>
              </a:spcAft>
            </a:pPr>
            <a:r>
              <a:rPr sz="1600" b="0">
                <a:solidFill>
                  <a:srgbClr val="21201C"/>
                </a:solidFill>
                <a:latin typeface="Calibri"/>
              </a:rPr>
              <a:t>•  Suggest a layout and a 3-colour palette for a one-page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4-6 headline KPIs, not 20.</a:t>
            </a:r>
          </a:p>
          <a:p>
            <a:pPr>
              <a:spcAft>
                <a:spcPts val="1000"/>
              </a:spcAft>
            </a:pPr>
            <a:r>
              <a:rPr sz="1600" b="0">
                <a:solidFill>
                  <a:srgbClr val="21201C"/>
                </a:solidFill>
                <a:latin typeface="Calibri"/>
              </a:rPr>
              <a:t>•  Definitions and colours go into .Rules.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Plan and Build with Rules and Skills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Rules hold the definitions and style; Plan mode shows the build; skills polish the result.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Fix a wrong KPI in the plan before it is copied into five charts.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Click each KPI card: it should hold a formula, not a typed number.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Plan and Build with Rules and Skills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Plan mode: Build a one-page H1 2026 recruitment dashboard following the workbook rules.</a:t>
            </a:r>
          </a:p>
          <a:p>
            <a:pPr>
              <a:spcAft>
                <a:spcPts val="1000"/>
              </a:spcAft>
            </a:pPr>
            <a:r>
              <a:rPr sz="1600" b="0">
                <a:solidFill>
                  <a:srgbClr val="21201C"/>
                </a:solidFill>
                <a:latin typeface="Calibri"/>
              </a:rPr>
              <a:t>•  @chart-design Review every chart: finding-style titles and the rule colours.</a:t>
            </a:r>
          </a:p>
          <a:p>
            <a:pPr>
              <a:spcAft>
                <a:spcPts val="1000"/>
              </a:spcAft>
            </a:pPr>
            <a:r>
              <a:rPr sz="1600" b="0">
                <a:solidFill>
                  <a:srgbClr val="21201C"/>
                </a:solidFill>
                <a:latin typeface="Calibri"/>
              </a:rPr>
              <a:t>•  @theme-design Apply a modern theme that keeps the rule colours.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The plan uses the rules' definitions.</a:t>
            </a:r>
          </a:p>
          <a:p>
            <a:pPr>
              <a:spcAft>
                <a:spcPts val="1000"/>
              </a:spcAft>
            </a:pPr>
            <a:r>
              <a:rPr sz="1600" b="0">
                <a:solidFill>
                  <a:srgbClr val="21201C"/>
                </a:solidFill>
                <a:latin typeface="Calibri"/>
              </a:rPr>
              <a:t>•  Each card matches the Checks sheet.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Interactivity: Slicers, Timelines and KPI Cards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Slicers and a timeline filter every PivotTable, PivotChart and KPI card on the page at once.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Leaders answer their own 'what about...?' questions - if the page is wired correctly.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Test one slicer value and one date range against COUNTIFS, then clear them.</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Interactivity: Slicers, Timelines and KPI Cards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Add slicers for Sector, Source and Recruiter and a timeline on Hire_Date, connected to every PivotTable.</a:t>
            </a:r>
          </a:p>
          <a:p>
            <a:pPr>
              <a:spcAft>
                <a:spcPts val="1000"/>
              </a:spcAft>
            </a:pPr>
            <a:r>
              <a:rPr sz="1600" b="0">
                <a:solidFill>
                  <a:srgbClr val="21201C"/>
                </a:solidFill>
                <a:latin typeface="Calibri"/>
              </a:rPr>
              <a:t>•  Link the KPI cards to the PivotTables with GETPIVOTDATA.</a:t>
            </a:r>
          </a:p>
          <a:p>
            <a:pPr>
              <a:spcAft>
                <a:spcPts val="1000"/>
              </a:spcAft>
            </a:pPr>
            <a:r>
              <a:rPr sz="1600" b="0">
                <a:solidFill>
                  <a:srgbClr val="21201C"/>
                </a:solidFill>
                <a:latin typeface="Calibri"/>
              </a:rPr>
              <a:t>•  Which objects did not change when I selected Technology?</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Technology: cards = COUNTIFS checks.</a:t>
            </a:r>
          </a:p>
          <a:p>
            <a:pPr>
              <a:spcAft>
                <a:spcPts val="1000"/>
              </a:spcAft>
            </a:pPr>
            <a:r>
              <a:rPr sz="1600" b="0">
                <a:solidFill>
                  <a:srgbClr val="21201C"/>
                </a:solidFill>
                <a:latin typeface="Calibri"/>
              </a:rPr>
              <a:t>•  Apr-Jun 2026 hires = COUNTIFS on Hire_Date.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THEME · INTERACTIVE DASHBOARD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an Interactive Recruitment Dashboard with Rules and Skills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7</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Head of Recruitment wants one page that shows H1 2026 applications, hires, offer acceptance, time to hire, cost per hire and hires against target, and can be filtered by sector, source, recruiter and date. You will put the KPI definitions, layout and colours in a .Rules sheet, so the build prompt stays short. Copilot plans the dashboard in Plan mode, builds it, then @chart-design and @theme-design make it look professional. Finally you prove that every KPI, slicer and the timeline give the right numbers.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BrightPath_Recruitment_Dashboard_Data.xlsx with a .Rules sheet, a Checks sheet, PivotTables on Dash_Data and a Dashboard sheet with six formula-driven KPI cards (one with traffic-light colours), four PivotCharts, Sector, Source and Recruiter slicers and a Hire_Date timeline</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Build checks</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Plan mode</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Skills make it visual</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Slice &amp; verify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(Plan, Allow editing, Chat only) · .Rules · @chart-design · @theme-design · PivotCharts, slicers, timeline</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7</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Plan: Plan a recruitment dashboard following the workbook rules. Show me the plan first.</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KPI card: Create a KPI card for Cost per hire linked to the PivotTable with GETPIVOTDATA, formatted as S$.</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Chart skill: @chart-design Turn the hires-by-month chart into columns for hires and a line for Hire_Target.</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Timeline: Add a timeline on Hire_Date and connect it to every PivotTable on Dash_Data.</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Visual cue: Add data bars to the hires-by-recruiter table and traffic-light colours to the target card.</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7</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Applications and hires</a:t>
            </a:r>
          </a:p>
          <a:p>
            <a:pPr algn="l">
              <a:spcAft>
                <a:spcPts val="300"/>
              </a:spcAft>
            </a:pPr>
            <a:r>
              <a:rPr sz="1300" b="0">
                <a:solidFill>
                  <a:srgbClr val="6B6862"/>
                </a:solidFill>
                <a:latin typeface="Calibri"/>
              </a:rPr>
              <a:t>600 applications, 41 hires (no slicer selected)</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Offer acceptance rate</a:t>
            </a:r>
          </a:p>
          <a:p>
            <a:pPr algn="l">
              <a:spcAft>
                <a:spcPts val="300"/>
              </a:spcAft>
            </a:pPr>
            <a:r>
              <a:rPr sz="1300" b="0">
                <a:solidFill>
                  <a:srgbClr val="6B6862"/>
                </a:solidFill>
                <a:latin typeface="Calibri"/>
              </a:rPr>
              <a:t>78.8% = 41 of 52; 10 pending excluded</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 to hire, cost per hire</a:t>
            </a:r>
          </a:p>
          <a:p>
            <a:pPr algn="l">
              <a:spcAft>
                <a:spcPts val="300"/>
              </a:spcAft>
            </a:pPr>
            <a:r>
              <a:rPr sz="1300" b="0">
                <a:solidFill>
                  <a:srgbClr val="6B6862"/>
                </a:solidFill>
                <a:latin typeface="Calibri"/>
              </a:rPr>
              <a:t>27.8 days; S$348.20</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vs target (amber)</a:t>
            </a:r>
          </a:p>
          <a:p>
            <a:pPr algn="l">
              <a:spcAft>
                <a:spcPts val="300"/>
              </a:spcAft>
            </a:pPr>
            <a:r>
              <a:rPr sz="1300" b="0">
                <a:solidFill>
                  <a:srgbClr val="6B6862"/>
                </a:solidFill>
                <a:latin typeface="Calibri"/>
              </a:rPr>
              <a:t>93.2% = 41 of 44</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Slicer: Sector = Technology</a:t>
            </a:r>
          </a:p>
          <a:p>
            <a:pPr algn="l">
              <a:spcAft>
                <a:spcPts val="300"/>
              </a:spcAft>
            </a:pPr>
            <a:r>
              <a:rPr sz="1300" b="0">
                <a:solidFill>
                  <a:srgbClr val="6B6862"/>
                </a:solidFill>
                <a:latin typeface="Calibri"/>
              </a:rPr>
              <a:t>124 applications, 5 hires, 42.0 days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Timeline: Apr-Jun 2026</a:t>
            </a:r>
          </a:p>
          <a:p>
            <a:pPr algn="l">
              <a:spcAft>
                <a:spcPts val="300"/>
              </a:spcAft>
            </a:pPr>
            <a:r>
              <a:rPr sz="1300" b="0">
                <a:solidFill>
                  <a:srgbClr val="6B6862"/>
                </a:solidFill>
                <a:latin typeface="Calibri"/>
              </a:rPr>
              <a:t>22 hires; no KPI card holds a typed number</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Workforce Measures: Headcount, Attrition and Tenure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Headcount = active staff on a date. Attrition = exits / average headcount. Tenure = years since hire.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Small definition changes move the rate. Written in .Rules, every rebuild uses the same ones.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Average headcount = (opening + closing) / 2 - not closing only.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The Formulas — Workforce Measures: Headcount, Attrition and Tenure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THE FORMULAS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Headcount: =COUNTIFS(tblEmployees[Status],"Active")</a:t>
            </a:r>
          </a:p>
          <a:p>
            <a:pPr>
              <a:spcAft>
                <a:spcPts val="1000"/>
              </a:spcAft>
            </a:pPr>
            <a:r>
              <a:rPr sz="1600" b="0">
                <a:solidFill>
                  <a:srgbClr val="21201C"/>
                </a:solidFill>
                <a:latin typeface="Calibri"/>
              </a:rPr>
              <a:t>•  Average headcount = (opening + closing) / 2</a:t>
            </a:r>
          </a:p>
          <a:p>
            <a:pPr>
              <a:spcAft>
                <a:spcPts val="1000"/>
              </a:spcAft>
            </a:pPr>
            <a:r>
              <a:rPr sz="1600" b="0">
                <a:solidFill>
                  <a:srgbClr val="21201C"/>
                </a:solidFill>
                <a:latin typeface="Calibri"/>
              </a:rPr>
              <a:t>•  Attrition = exits in period / average headcount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29 / 223.5 = 13.0% attrition.</a:t>
            </a:r>
          </a:p>
          <a:p>
            <a:pPr>
              <a:spcAft>
                <a:spcPts val="1000"/>
              </a:spcAft>
            </a:pPr>
            <a:r>
              <a:rPr sz="1600" b="0">
                <a:solidFill>
                  <a:srgbClr val="21201C"/>
                </a:solidFill>
                <a:latin typeface="Calibri"/>
              </a:rPr>
              <a:t>•  No group under 5 people shown alone.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 Reusable Dashboard Skill and the Refresh Test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Save the dashboard recipe as a skill, then prove the page updates when new rows arrive.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Next month's dashboard takes one line - and a refresh test catches static pictures and typed numbers.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Add test rows, refresh all, and confirm each KPI moves by the expected amount.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Try It in Copilot — A Reusable Dashboard Skill and the Refresh Test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Write a SKILL.md named hr-workforce-dashboard that reads .Rules first and checks every KPI.</a:t>
            </a:r>
          </a:p>
          <a:p>
            <a:pPr>
              <a:spcAft>
                <a:spcPts val="1000"/>
              </a:spcAft>
            </a:pPr>
            <a:r>
              <a:rPr sz="1600" b="0">
                <a:solidFill>
                  <a:srgbClr val="21201C"/>
                </a:solidFill>
                <a:latin typeface="Calibri"/>
              </a:rPr>
              <a:t>•  @hr-workforce-dashboard Build the dashboard for the 12 months ending 2026-06-30.</a:t>
            </a:r>
          </a:p>
          <a:p>
            <a:pPr>
              <a:spcAft>
                <a:spcPts val="1000"/>
              </a:spcAft>
            </a:pPr>
            <a:r>
              <a:rPr sz="1600" b="0">
                <a:solidFill>
                  <a:srgbClr val="21201C"/>
                </a:solidFill>
                <a:latin typeface="Calibri"/>
              </a:rPr>
              <a:t>•  Append the 8 new joiners to tblEmployees and refresh all PivotTables.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Active headcount 237 -&gt; 245.</a:t>
            </a:r>
          </a:p>
          <a:p>
            <a:pPr>
              <a:spcAft>
                <a:spcPts val="1000"/>
              </a:spcAft>
            </a:pPr>
            <a:r>
              <a:rPr sz="1600" b="0">
                <a:solidFill>
                  <a:srgbClr val="21201C"/>
                </a:solidFill>
                <a:latin typeface="Calibri"/>
              </a:rPr>
              <a:t>•  Every chart updated.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Sharing People Dashboards Responsibly</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HR dashboards hold sensitive data. Share totals and averages, never individual records.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Anyone who can open the file sees everything in it, including hidden sheets.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slicer combination shows a group of fewer than 5 people.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Try It in Copilot — Sharing People Dashboards Responsibly</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TYPE THIS IN COPILOT</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THEN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Which slicer combinations show fewer than 5 employees?</a:t>
            </a:r>
          </a:p>
          <a:p>
            <a:pPr>
              <a:spcAft>
                <a:spcPts val="1000"/>
              </a:spcAft>
            </a:pPr>
            <a:r>
              <a:rPr sz="1600" b="0">
                <a:solidFill>
                  <a:srgbClr val="21201C"/>
                </a:solidFill>
                <a:latin typeface="Calibri"/>
              </a:rPr>
              <a:t>•  List every element on this sheet that could identify a person.</a:t>
            </a:r>
          </a:p>
          <a:p>
            <a:pPr>
              <a:spcAft>
                <a:spcPts val="1000"/>
              </a:spcAft>
            </a:pPr>
            <a:r>
              <a:rPr sz="1600" b="0">
                <a:solidFill>
                  <a:srgbClr val="21201C"/>
                </a:solidFill>
                <a:latin typeface="Calibri"/>
              </a:rPr>
              <a:t>•  Write a 5-line leadership summary using only numbers on the dashboard.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Privacy rule written in .Rules.</a:t>
            </a:r>
          </a:p>
          <a:p>
            <a:pPr>
              <a:spcAft>
                <a:spcPts val="1000"/>
              </a:spcAft>
            </a:pPr>
            <a:r>
              <a:rPr sz="1600" b="0">
                <a:solidFill>
                  <a:srgbClr val="21201C"/>
                </a:solidFill>
                <a:latin typeface="Calibri"/>
              </a:rPr>
              <a:t>•  Every number in the summary checked.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108</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THEME · DASHBOARD SKILL, REFRESH &amp; SHARE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Turn the Dashboard into a Reusable Skill, Refresh It and Share It Safely</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8</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BrightPath's HR Director needs the same kind of dashboard every month. Instead of repeating a long brief, you will ask Copilot to write an hr-workforce-dashboard skill, save it to OneDrive and run it on the workforce workbook, whose .Rules sheet holds the period, the attrition definition and the privacy rule. Then you will append eight July joiners and refresh to prove the dashboard is live, check that no slicer combination exposes fewer than 5 people, and ask Copilot for a short leadership summary.</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An hr-workforce-dashboard skill in OneDrive, and BrightPath_Workforce_Headcount.xlsx with a .Rules sheet, helper columns, a Checks sheet and an HR_Dashboard with six KPI cards, four charts and Location and Job_Level slicers - refresh-tested and privacy-checked</a:t>
            </a:r>
          </a:p>
        </p:txBody>
      </p:sp>
      <p:sp>
        <p:nvSpPr>
          <p:cNvPr id="12" name="Rectangle 11"/>
          <p:cNvSpPr/>
          <p:nvPr/>
        </p:nvSpPr>
        <p:spPr>
          <a:xfrm>
            <a:off x="1005840"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1  Write .Rules</a:t>
            </a:r>
          </a:p>
        </p:txBody>
      </p:sp>
      <p:sp>
        <p:nvSpPr>
          <p:cNvPr id="14" name="Rectangle 13"/>
          <p:cNvSpPr/>
          <p:nvPr/>
        </p:nvSpPr>
        <p:spPr>
          <a:xfrm>
            <a:off x="3050438"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105302"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2  Copilot writes the skill</a:t>
            </a:r>
          </a:p>
        </p:txBody>
      </p:sp>
      <p:sp>
        <p:nvSpPr>
          <p:cNvPr id="16" name="Rectangle 15"/>
          <p:cNvSpPr/>
          <p:nvPr/>
        </p:nvSpPr>
        <p:spPr>
          <a:xfrm>
            <a:off x="5095036"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5149900"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3  @hr-workforce-dashboard</a:t>
            </a:r>
          </a:p>
        </p:txBody>
      </p:sp>
      <p:sp>
        <p:nvSpPr>
          <p:cNvPr id="18" name="Rectangle 17"/>
          <p:cNvSpPr/>
          <p:nvPr/>
        </p:nvSpPr>
        <p:spPr>
          <a:xfrm>
            <a:off x="7139634"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7194498"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4  Refresh test</a:t>
            </a:r>
          </a:p>
        </p:txBody>
      </p:sp>
      <p:sp>
        <p:nvSpPr>
          <p:cNvPr id="20" name="Rectangle 19"/>
          <p:cNvSpPr/>
          <p:nvPr/>
        </p:nvSpPr>
        <p:spPr>
          <a:xfrm>
            <a:off x="9184232" y="4828032"/>
            <a:ext cx="1880006" cy="475488"/>
          </a:xfrm>
          <a:prstGeom prst="rect">
            <a:avLst/>
          </a:prstGeom>
          <a:solidFill>
            <a:srgbClr val="FAF9F5"/>
          </a:solidFill>
          <a:ln w="12700">
            <a:solidFill>
              <a:srgbClr val="DCD8CF"/>
            </a:solidFill>
          </a:ln>
          <a:effectLst/>
        </p:spPr>
        <p:txBody>
          <a:bodyPr rtlCol="0" anchor="ctr"/>
          <a:lstStyle/>
          <a:p>
            <a:pPr algn="ctr"/>
          </a:p>
        </p:txBody>
      </p:sp>
      <p:sp>
        <p:nvSpPr>
          <p:cNvPr id="21" name="TextBox 20"/>
          <p:cNvSpPr txBox="1"/>
          <p:nvPr/>
        </p:nvSpPr>
        <p:spPr>
          <a:xfrm>
            <a:off x="9239096" y="4882896"/>
            <a:ext cx="1770278" cy="347472"/>
          </a:xfrm>
          <a:prstGeom prst="rect">
            <a:avLst/>
          </a:prstGeom>
          <a:noFill/>
        </p:spPr>
        <p:txBody>
          <a:bodyPr wrap="square" anchor="ctr">
            <a:spAutoFit/>
          </a:bodyPr>
          <a:lstStyle/>
          <a:p>
            <a:pPr algn="ctr">
              <a:spcAft>
                <a:spcPts val="400"/>
              </a:spcAft>
            </a:pPr>
            <a:r>
              <a:rPr sz="1100" b="1">
                <a:solidFill>
                  <a:srgbClr val="21201C"/>
                </a:solidFill>
                <a:latin typeface="Calibri"/>
              </a:rPr>
              <a:t>5  Privacy &amp; summary</a:t>
            </a:r>
          </a:p>
        </p:txBody>
      </p:sp>
      <p:sp>
        <p:nvSpPr>
          <p:cNvPr id="22" name="TextBox 21"/>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 Copilot (Chat only, Plan, Allow editing) · .Rules · custom skill · PivotTables, slicers, refresh</a:t>
            </a:r>
          </a:p>
        </p:txBody>
      </p:sp>
      <p:sp>
        <p:nvSpPr>
          <p:cNvPr id="23" name="TextBox 2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5" name="TextBox 2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109</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8</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Write a skill: Write a SKILL.md named hr-workforce-dashboard that reads the .Rules sheet first and builds a verified workforce dashboard.</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Run a skill: @hr-workforce-dashboard Build the workforce dashboard for the 12 months ending 2026-06-30.</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Refresh: I added rows to tblEmployees. Refresh all PivotTables and tell me which KPI values changed.</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Privacy: Which slicer combinations show a group of fewer than 5 employees? Suggest how to suppress them.</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Explain: Explain how the Attrition rate card is calculated, step by step.</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110</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8</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Active headcount</a:t>
            </a:r>
          </a:p>
          <a:p>
            <a:pPr algn="l">
              <a:spcAft>
                <a:spcPts val="300"/>
              </a:spcAft>
            </a:pPr>
            <a:r>
              <a:rPr sz="1300" b="0">
                <a:solidFill>
                  <a:srgbClr val="6B6862"/>
                </a:solidFill>
                <a:latin typeface="Calibri"/>
              </a:rPr>
              <a:t>237 before the refresh</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Exits and attrition</a:t>
            </a:r>
          </a:p>
          <a:p>
            <a:pPr algn="l">
              <a:spcAft>
                <a:spcPts val="300"/>
              </a:spcAft>
            </a:pPr>
            <a:r>
              <a:rPr sz="1300" b="0">
                <a:solidFill>
                  <a:srgbClr val="6B6862"/>
                </a:solidFill>
                <a:latin typeface="Calibri"/>
              </a:rPr>
              <a:t>29 exits (25 voluntary); 13.0% attrition</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Hires and tenure</a:t>
            </a:r>
          </a:p>
          <a:p>
            <a:pPr algn="l">
              <a:spcAft>
                <a:spcPts val="300"/>
              </a:spcAft>
            </a:pPr>
            <a:r>
              <a:rPr sz="1300" b="0">
                <a:solidFill>
                  <a:srgbClr val="6B6862"/>
                </a:solidFill>
                <a:latin typeface="Calibri"/>
              </a:rPr>
              <a:t>56 hires; average tenure about 3.1 years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Highest-attrition department</a:t>
            </a:r>
          </a:p>
          <a:p>
            <a:pPr algn="l">
              <a:spcAft>
                <a:spcPts val="300"/>
              </a:spcAft>
            </a:pPr>
            <a:r>
              <a:rPr sz="1300" b="0">
                <a:solidFill>
                  <a:srgbClr val="6B6862"/>
                </a:solidFill>
                <a:latin typeface="Calibri"/>
              </a:rPr>
              <a:t>Recruitment: 21.8% (12 exits)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Refresh test</a:t>
            </a:r>
          </a:p>
          <a:p>
            <a:pPr algn="l">
              <a:spcAft>
                <a:spcPts val="300"/>
              </a:spcAft>
            </a:pPr>
            <a:r>
              <a:rPr sz="1300" b="0">
                <a:solidFill>
                  <a:srgbClr val="6B6862"/>
                </a:solidFill>
                <a:latin typeface="Calibri"/>
              </a:rPr>
              <a:t>After adding the July joiners: headcount 245, 428 rows</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Privacy</a:t>
            </a:r>
          </a:p>
          <a:p>
            <a:pPr algn="l">
              <a:spcAft>
                <a:spcPts val="300"/>
              </a:spcAft>
            </a:pPr>
            <a:r>
              <a:rPr sz="1300" b="0">
                <a:solidFill>
                  <a:srgbClr val="6B6862"/>
                </a:solidFill>
                <a:latin typeface="Calibri"/>
              </a:rPr>
              <a:t>No Employee_ID, salary, individual record or group under 5 on the dashboard</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111</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Recap - Interactive Dashboards with Copilot, Skills and Rules</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Design: KPI definitions, layout and colours written in .Rules before anything is built.</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Build: Plan mode, then @chart-design and @theme-design; every KPI card matches the Checks sheet.</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Interact: Slicers, a timeline and GETPIVOTDATA cards tested against COUNTIFS.</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LO3 · Reuse and share: A dashboard skill, a passing refresh test, and no group under 5 people on view.</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112</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WRAP-UP</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Course Summary &amp; Next Steps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113</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You Achieved</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Excel Fundamentals</a:t>
            </a:r>
          </a:p>
          <a:p>
            <a:pPr algn="l">
              <a:spcAft>
                <a:spcPts val="300"/>
              </a:spcAft>
            </a:pPr>
            <a:r>
              <a:rPr sz="1300" b="0">
                <a:solidFill>
                  <a:srgbClr val="6B6862"/>
                </a:solidFill>
                <a:latin typeface="Calibri"/>
              </a:rPr>
              <a:t>Use Copilot in Excel's Chat only, Plan and Allow editing modes to prepare and clean data, write formulas and XLOOKUPs, and build PivotTables, PivotCharts and charts, verifying every result.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Skills &amp; Rules</a:t>
            </a:r>
          </a:p>
          <a:p>
            <a:pPr algn="l">
              <a:spcAft>
                <a:spcPts val="300"/>
              </a:spcAft>
            </a:pPr>
            <a:r>
              <a:rPr sz="1300" b="0">
                <a:solidFill>
                  <a:srgbClr val="6B6862"/>
                </a:solidFill>
                <a:latin typeface="Calibri"/>
              </a:rPr>
              <a:t>Make Copilot's work consistent and repeatable with personalisation, workbook rules (.Rules), built-in skills and custom skills that you create with Copilot.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Interactive Dashboard</a:t>
            </a:r>
          </a:p>
          <a:p>
            <a:pPr algn="l">
              <a:spcAft>
                <a:spcPts val="300"/>
              </a:spcAft>
            </a:pPr>
            <a:r>
              <a:rPr sz="1300" b="0">
                <a:solidFill>
                  <a:srgbClr val="6B6862"/>
                </a:solidFill>
                <a:latin typeface="Calibri"/>
              </a:rPr>
              <a:t>Combine Copilot, rules and skills to build a highly visual, interactive and refreshable dashboard, and verify and share it responsibly.</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114</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NEXT STEPS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Continue the Verified Workflow</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Add your three most common corrections to Personalization.</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Write a .Rules sheet for one workbook you use every month.</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Turn one repeated report into a custom skill - let Copilot write the first draft.</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people decisions with accountable people: Copilot informs, it does not decide.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115</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WRAP-UP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Keep Practising After the Course</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Re-run the labs on your own machine — repetition is what makes the skills stick.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Apply the techniques to a real process or project in your own organisation.</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your downloaded C34 course files and use the lab checkpoints to restart safely.</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Explore the follow-on courses at www.tertiarycourses.com.sg.</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Microsoft 365 Copilot for Excel  ·  C34</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116</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MICROSOFT 365 COPILOT FOR EXCEL · C34</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Thank You!</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You can now use Copilot in Excel for the fundamentals, make its work repeatable with rules and skills, and build interactive dashboards - while keeping evidence, privacy and human judgement in control.</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Microsoft 365 Copilot for Excel  ·  C34</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117</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