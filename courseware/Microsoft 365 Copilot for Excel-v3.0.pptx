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v3.0  ·  11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ectangle 4"/>
          <p:cNvSpPr/>
          <p:nvPr/>
        </p:nvSpPr>
        <p:spPr>
          <a:xfrm>
            <a:off x="731520" y="1764792"/>
            <a:ext cx="2539789" cy="4434840"/>
          </a:xfrm>
          <a:prstGeom prst="rect">
            <a:avLst/>
          </a:prstGeom>
          <a:solidFill>
            <a:srgbClr val="DCD8CF"/>
          </a:solidFill>
          <a:ln>
            <a:noFill/>
          </a:ln>
          <a:effectLst/>
        </p:spPr>
        <p:txBody>
          <a:bodyPr rtlCol="0" anchor="ctr"/>
          <a:lstStyle/>
          <a:p>
            <a:pPr algn="ctr"/>
          </a:p>
        </p:txBody>
      </p:sp>
      <p:pic>
        <p:nvPicPr>
          <p:cNvPr id="6" name="Picture 5" descr="model-picker.png"/>
          <p:cNvPicPr>
            <a:picLocks noChangeAspect="1"/>
          </p:cNvPicPr>
          <p:nvPr/>
        </p:nvPicPr>
        <p:blipFill>
          <a:blip r:embed="rId2"/>
          <a:stretch>
            <a:fillRect/>
          </a:stretch>
        </p:blipFill>
        <p:spPr>
          <a:xfrm>
            <a:off x="777240" y="1810512"/>
            <a:ext cx="2448350" cy="4343400"/>
          </a:xfrm>
          <a:prstGeom prst="rect">
            <a:avLst/>
          </a:prstGeom>
        </p:spPr>
      </p:pic>
      <p:sp>
        <p:nvSpPr>
          <p:cNvPr id="7" name="Rounded Rectangle 6"/>
          <p:cNvSpPr/>
          <p:nvPr/>
        </p:nvSpPr>
        <p:spPr>
          <a:xfrm>
            <a:off x="3591349" y="1810512"/>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591349" y="1810512"/>
            <a:ext cx="7820363" cy="64008"/>
          </a:xfrm>
          <a:prstGeom prst="rect">
            <a:avLst/>
          </a:prstGeom>
          <a:solidFill>
            <a:srgbClr val="D97757"/>
          </a:solidFill>
          <a:ln>
            <a:noFill/>
          </a:ln>
          <a:effectLst/>
        </p:spPr>
        <p:txBody>
          <a:bodyPr rtlCol="0" anchor="ctr"/>
          <a:lstStyle/>
          <a:p>
            <a:pPr algn="ctr"/>
          </a:p>
        </p:txBody>
      </p:sp>
      <p:sp>
        <p:nvSpPr>
          <p:cNvPr id="9" name="Oval 8"/>
          <p:cNvSpPr/>
          <p:nvPr/>
        </p:nvSpPr>
        <p:spPr>
          <a:xfrm>
            <a:off x="3774229"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774229"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322869" y="1810512"/>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Auto (recommended)</a:t>
            </a:r>
          </a:p>
          <a:p>
            <a:pPr algn="l">
              <a:spcAft>
                <a:spcPts val="200"/>
              </a:spcAft>
            </a:pPr>
            <a:r>
              <a:rPr sz="1200" b="0">
                <a:solidFill>
                  <a:srgbClr val="6B6862"/>
                </a:solidFill>
                <a:latin typeface="Calibri"/>
              </a:rPr>
              <a:t>Copilot chooses the model for each task. Start here.</a:t>
            </a:r>
          </a:p>
        </p:txBody>
      </p:sp>
      <p:sp>
        <p:nvSpPr>
          <p:cNvPr id="12" name="Rounded Rectangle 11"/>
          <p:cNvSpPr/>
          <p:nvPr/>
        </p:nvSpPr>
        <p:spPr>
          <a:xfrm>
            <a:off x="3591349" y="2923794"/>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591349" y="2923794"/>
            <a:ext cx="7820363" cy="64008"/>
          </a:xfrm>
          <a:prstGeom prst="rect">
            <a:avLst/>
          </a:prstGeom>
          <a:solidFill>
            <a:srgbClr val="3A7D7B"/>
          </a:solidFill>
          <a:ln>
            <a:noFill/>
          </a:ln>
          <a:effectLst/>
        </p:spPr>
        <p:txBody>
          <a:bodyPr rtlCol="0" anchor="ctr"/>
          <a:lstStyle/>
          <a:p>
            <a:pPr algn="ctr"/>
          </a:p>
        </p:txBody>
      </p:sp>
      <p:sp>
        <p:nvSpPr>
          <p:cNvPr id="14" name="Oval 13"/>
          <p:cNvSpPr/>
          <p:nvPr/>
        </p:nvSpPr>
        <p:spPr>
          <a:xfrm>
            <a:off x="3774229"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774229"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322869" y="2923794"/>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Claude - Anthropic</a:t>
            </a:r>
          </a:p>
          <a:p>
            <a:pPr algn="l">
              <a:spcAft>
                <a:spcPts val="200"/>
              </a:spcAft>
            </a:pPr>
            <a:r>
              <a:rPr sz="1200" b="0">
                <a:solidFill>
                  <a:srgbClr val="6B6862"/>
                </a:solidFill>
                <a:latin typeface="Calibri"/>
              </a:rPr>
              <a:t>e.g. Claude Opus and Sonnet models. Deep reasoning models suit complex analysis.</a:t>
            </a:r>
          </a:p>
        </p:txBody>
      </p:sp>
      <p:sp>
        <p:nvSpPr>
          <p:cNvPr id="17" name="Rounded Rectangle 16"/>
          <p:cNvSpPr/>
          <p:nvPr/>
        </p:nvSpPr>
        <p:spPr>
          <a:xfrm>
            <a:off x="3591349" y="4037076"/>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591349" y="4037076"/>
            <a:ext cx="7820363" cy="64008"/>
          </a:xfrm>
          <a:prstGeom prst="rect">
            <a:avLst/>
          </a:prstGeom>
          <a:solidFill>
            <a:srgbClr val="5B4B8A"/>
          </a:solidFill>
          <a:ln>
            <a:noFill/>
          </a:ln>
          <a:effectLst/>
        </p:spPr>
        <p:txBody>
          <a:bodyPr rtlCol="0" anchor="ctr"/>
          <a:lstStyle/>
          <a:p>
            <a:pPr algn="ctr"/>
          </a:p>
        </p:txBody>
      </p:sp>
      <p:sp>
        <p:nvSpPr>
          <p:cNvPr id="19" name="Oval 18"/>
          <p:cNvSpPr/>
          <p:nvPr/>
        </p:nvSpPr>
        <p:spPr>
          <a:xfrm>
            <a:off x="3774229"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774229"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322869" y="4037076"/>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GPT - OpenAI</a:t>
            </a:r>
          </a:p>
          <a:p>
            <a:pPr algn="l">
              <a:spcAft>
                <a:spcPts val="200"/>
              </a:spcAft>
            </a:pPr>
            <a:r>
              <a:rPr sz="1200" b="0">
                <a:solidFill>
                  <a:srgbClr val="6B6862"/>
                </a:solidFill>
                <a:latin typeface="Calibri"/>
              </a:rPr>
              <a:t>OpenAI's GPT models.</a:t>
            </a:r>
          </a:p>
        </p:txBody>
      </p:sp>
      <p:sp>
        <p:nvSpPr>
          <p:cNvPr id="22" name="Rounded Rectangle 21"/>
          <p:cNvSpPr/>
          <p:nvPr/>
        </p:nvSpPr>
        <p:spPr>
          <a:xfrm>
            <a:off x="3591349" y="5150358"/>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3591349" y="5150358"/>
            <a:ext cx="7820363" cy="64008"/>
          </a:xfrm>
          <a:prstGeom prst="rect">
            <a:avLst/>
          </a:prstGeom>
          <a:solidFill>
            <a:srgbClr val="C2603F"/>
          </a:solidFill>
          <a:ln>
            <a:noFill/>
          </a:ln>
          <a:effectLst/>
        </p:spPr>
        <p:txBody>
          <a:bodyPr rtlCol="0" anchor="ctr"/>
          <a:lstStyle/>
          <a:p>
            <a:pPr algn="ctr"/>
          </a:p>
        </p:txBody>
      </p:sp>
      <p:sp>
        <p:nvSpPr>
          <p:cNvPr id="24" name="Oval 23"/>
          <p:cNvSpPr/>
          <p:nvPr/>
        </p:nvSpPr>
        <p:spPr>
          <a:xfrm>
            <a:off x="3774229"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3774229"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4322869" y="5150358"/>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Which one?</a:t>
            </a:r>
          </a:p>
          <a:p>
            <a:pPr algn="l">
              <a:spcAft>
                <a:spcPts val="200"/>
              </a:spcAft>
            </a:pPr>
            <a:r>
              <a:rPr sz="1200" b="0">
                <a:solidFill>
                  <a:srgbClr val="6B6862"/>
                </a:solidFill>
                <a:latin typeface="Calibri"/>
              </a:rPr>
              <a:t>Try another model if an answer is weak. Premium models have fair-use limits. Always check the result.</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locally;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your work-c34 folder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Open locally</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(desktop)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Describe:  </a:t>
            </a:r>
            <a:r>
              <a:rPr sz="1200" b="0">
                <a:solidFill>
                  <a:srgbClr val="21201C"/>
                </a:solidFill>
                <a:latin typeface="Calibri"/>
              </a:rPr>
              <a:t>Describe tblApplications: what one row represents, each column's data type, the row count and the Applied_Date range. Do not change the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Chat only: Copilot reads the table and reports what a row is, each column's type, the row count and the date range. Nothing in the sheet changes.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Data quality:  </a:t>
            </a:r>
            <a:r>
              <a:rPr sz="1200" b="0">
                <a:solidFill>
                  <a:srgbClr val="21201C"/>
                </a:solidFill>
                <a:latin typeface="Calibri"/>
              </a:rPr>
              <a:t>List any Application_ID that appears more than once in tblApplications and any Source value that is not in the canonical list on About_This_Data.</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Reports duplicate IDs and Source values that are not on the canonical list, so you see the problems before fixing anything.</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Plan first:  </a:t>
            </a:r>
            <a:r>
              <a:rPr sz="1200" b="0">
                <a:solidFill>
                  <a:srgbClr val="21201C"/>
                </a:solidFill>
                <a:latin typeface="Calibri"/>
              </a:rPr>
              <a:t>Plan how you would flag duplicate Application_IDs and standardise Source. Show me the steps before you change anything.</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Plan mode: Copilot lists its steps and waits. You approve or correct the plan before any cell changes.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Clean helper column:  </a:t>
            </a:r>
            <a:r>
              <a:rPr sz="1200" b="0">
                <a:solidFill>
                  <a:srgbClr val="21201C"/>
                </a:solidFill>
                <a:latin typeface="Calibri"/>
              </a:rPr>
              <a:t>Add a column Source_Clean that trims spaces from Source and replaces 'Linked In' with 'LinkedIn'. Do not change the original Source column.</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=SUBSTITUTE(TRIM([@Source]),"Linked In","LinkedIn"): TRIM removes extra spaces, SUBSTITUTE fixes the spelling. The original Source stays as it was.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Question:  </a:t>
            </a:r>
            <a:r>
              <a:rPr sz="1200" b="0">
                <a:solidFill>
                  <a:srgbClr val="21201C"/>
                </a:solidFill>
                <a:latin typeface="Calibri"/>
              </a:rPr>
              <a:t>Using tblApplications, count applications and hires by Source_Clean and show the hire rate. Sort by hires, highest first.</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Counts applications and hires (Stage = "Hired") for each Source_Clean value; hire rate = hires / applications. Check it with COUNTIFS.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Lookup:  </a:t>
            </a:r>
            <a:r>
              <a:rPr sz="1200" b="0">
                <a:solidFill>
                  <a:srgbClr val="21201C"/>
                </a:solidFill>
                <a:latin typeface="Calibri"/>
              </a:rPr>
              <a:t>Add a column Recruiter_Name that looks up Recruiter_Name from tblRecruiters using Recruiter_ID with XLOOKUP. Return "Not found" if missing.</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=XLOOKUP([@Recruiter_ID], tblRecruiters[Recruiter_ID], tblRecruiters[Recruiter_Name], "Not found"): finds this row's ID in tblRecruiters and returns the name.</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Duration:  </a:t>
            </a:r>
            <a:r>
              <a:rPr sz="1200" b="0">
                <a:solidFill>
                  <a:srgbClr val="21201C"/>
                </a:solidFill>
                <a:latin typeface="Calibri"/>
              </a:rPr>
              <a:t>Add a column Days_Open: if Close_Date is blank use Control!B1 minus Open_Date, otherwise Close_Date minus Open_Date.</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=IF([@Close_Date]="", Control!$B$1-[@Open_Date], [@Close_Date]-[@Open_Date]): still open? count to the report date; closed? count to the close date.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Ratio:  </a:t>
            </a:r>
            <a:r>
              <a:rPr sz="1200" b="0">
                <a:solidFill>
                  <a:srgbClr val="21201C"/>
                </a:solidFill>
                <a:latin typeface="Calibri"/>
              </a:rPr>
              <a:t>Add a column Fill_Rate = Filled / Openings formatted as a percentage.</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=[@Filled]/[@Openings]: this row's filled positions divided by its openings, e.g. 4 of 4 = 100%.</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Business rule:  </a:t>
            </a:r>
            <a:r>
              <a:rPr sz="1200" b="0">
                <a:solidFill>
                  <a:srgbClr val="21201C"/>
                </a:solidFill>
                <a:latin typeface="Calibri"/>
              </a:rPr>
              <a:t>Add a column Est_Fee = Filled x Monthly_Salary_Budget x 12 x Fee_Rate, formatted as S$ with no decimals.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=[@Filled]*[@Monthly_Salary_Budget]*12*[@Fee_Rate]: monthly salary x 12 = annual salary, x fee rate, x positions filled. JOB-2002: 4 x S$4,900 x 12 x 25% = S$58,800.</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Flag:  </a:t>
            </a:r>
            <a:r>
              <a:rPr sz="1200" b="0">
                <a:solidFill>
                  <a:srgbClr val="21201C"/>
                </a:solidFill>
                <a:latin typeface="Calibri"/>
              </a:rPr>
              <a:t>Add a column Ageing_Flag that shows "Overdue" when Status is Open and Days_Open &gt; 45, otherwise blank.</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=IF(AND([@Status]="Open", [@Days_Open]&gt;45), "Overdue", ""): Overdue only when both tests are true; otherwise the cell stays blank.</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PivotTable:  </a:t>
            </a:r>
            <a:r>
              <a:rPr sz="1200" b="0">
                <a:solidFill>
                  <a:srgbClr val="21201C"/>
                </a:solidFill>
                <a:latin typeface="Calibri"/>
              </a:rPr>
              <a:t>Create a PivotTable from tblMonthly with Month_Label in rows, Sector in columns and Sum of Hires as values.</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Builds a summary with no formulas: one row per month, one column per sector, each cell the total hires. Check the grand total against =SUM(tblMonthly[Hires]).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PivotChart:  </a:t>
            </a:r>
            <a:r>
              <a:rPr sz="1200" b="0">
                <a:solidFill>
                  <a:srgbClr val="21201C"/>
                </a:solidFill>
                <a:latin typeface="Calibri"/>
              </a:rPr>
              <a:t>Create a line PivotChart from the Pivot_Trend PivotTable showing total hires by month. Show data labels and gridlines.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Draws a line chart linked to the PivotTable, so it changes when the PivotTable is filtered or refreshed.</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Bar chart:  </a:t>
            </a:r>
            <a:r>
              <a:rPr sz="1200" b="0">
                <a:solidFill>
                  <a:srgbClr val="21201C"/>
                </a:solidFill>
                <a:latin typeface="Calibri"/>
              </a:rPr>
              <a:t>Create a bar chart of 2026 hires by Sector, sorted from highest to lowest.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Totals 2026 hires for each sector and draws bars, longest first, so the top sector stands out.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Funnel:  </a:t>
            </a:r>
            <a:r>
              <a:rPr sz="1200" b="0">
                <a:solidFill>
                  <a:srgbClr val="21201C"/>
                </a:solidFill>
                <a:latin typeface="Calibri"/>
              </a:rPr>
              <a:t>Create a funnel chart of 2026 Applications, Screened, Interviews, Offers and Hires with data labels.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Shows how many candidates remain at each stage, from applications down to hires, so you see where people drop out.</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Combo chart:  </a:t>
            </a:r>
            <a:r>
              <a:rPr sz="1200" b="0">
                <a:solidFill>
                  <a:srgbClr val="21201C"/>
                </a:solidFill>
                <a:latin typeface="Calibri"/>
              </a:rPr>
              <a:t>Create a combo chart of Hire_Rate as columns and Cost_per_Hire as a line on a secondary axis.</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Puts two measures with different units on one chart: hire rate (%) as columns on the left axis, cost per hire (S$) as a line on the right axis.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(8.7%); MyCareersFuture: lowest cost per hire (S$126)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in Copilot</a:t>
            </a:r>
          </a:p>
        </p:txBody>
      </p:sp>
      <p:sp>
        <p:nvSpPr>
          <p:cNvPr id="5" name="Rectangle 4"/>
          <p:cNvSpPr/>
          <p:nvPr/>
        </p:nvSpPr>
        <p:spPr>
          <a:xfrm>
            <a:off x="731520" y="1764792"/>
            <a:ext cx="2338498" cy="4434840"/>
          </a:xfrm>
          <a:prstGeom prst="rect">
            <a:avLst/>
          </a:prstGeom>
          <a:solidFill>
            <a:srgbClr val="DCD8CF"/>
          </a:solidFill>
          <a:ln>
            <a:noFill/>
          </a:ln>
          <a:effectLst/>
        </p:spPr>
        <p:txBody>
          <a:bodyPr rtlCol="0" anchor="ctr"/>
          <a:lstStyle/>
          <a:p>
            <a:pPr algn="ctr"/>
          </a:p>
        </p:txBody>
      </p:sp>
      <p:pic>
        <p:nvPicPr>
          <p:cNvPr id="6" name="Picture 5" descr="personalization.png"/>
          <p:cNvPicPr>
            <a:picLocks noChangeAspect="1"/>
          </p:cNvPicPr>
          <p:nvPr/>
        </p:nvPicPr>
        <p:blipFill>
          <a:blip r:embed="rId2"/>
          <a:stretch>
            <a:fillRect/>
          </a:stretch>
        </p:blipFill>
        <p:spPr>
          <a:xfrm>
            <a:off x="777240" y="1810512"/>
            <a:ext cx="2247059" cy="4343400"/>
          </a:xfrm>
          <a:prstGeom prst="rect">
            <a:avLst/>
          </a:prstGeom>
        </p:spPr>
      </p:pic>
      <p:sp>
        <p:nvSpPr>
          <p:cNvPr id="7" name="Rounded Rectangle 6"/>
          <p:cNvSpPr/>
          <p:nvPr/>
        </p:nvSpPr>
        <p:spPr>
          <a:xfrm>
            <a:off x="3390058" y="1810512"/>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390058" y="1810512"/>
            <a:ext cx="8021654" cy="64008"/>
          </a:xfrm>
          <a:prstGeom prst="rect">
            <a:avLst/>
          </a:prstGeom>
          <a:solidFill>
            <a:srgbClr val="D97757"/>
          </a:solidFill>
          <a:ln>
            <a:noFill/>
          </a:ln>
          <a:effectLst/>
        </p:spPr>
        <p:txBody>
          <a:bodyPr rtlCol="0" anchor="ctr"/>
          <a:lstStyle/>
          <a:p>
            <a:pPr algn="ctr"/>
          </a:p>
        </p:txBody>
      </p:sp>
      <p:sp>
        <p:nvSpPr>
          <p:cNvPr id="9" name="Oval 8"/>
          <p:cNvSpPr/>
          <p:nvPr/>
        </p:nvSpPr>
        <p:spPr>
          <a:xfrm>
            <a:off x="3572938" y="2305812"/>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572938" y="2305812"/>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121578" y="1810512"/>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Settings (...) &gt; Personalization</a:t>
            </a:r>
          </a:p>
          <a:p>
            <a:pPr algn="l">
              <a:spcAft>
                <a:spcPts val="200"/>
              </a:spcAft>
            </a:pPr>
            <a:r>
              <a:rPr sz="1200" b="0">
                <a:solidFill>
                  <a:srgbClr val="6B6862"/>
                </a:solidFill>
                <a:latin typeface="Calibri"/>
              </a:rPr>
              <a:t>Opens Customise Copilot.</a:t>
            </a:r>
          </a:p>
        </p:txBody>
      </p:sp>
      <p:sp>
        <p:nvSpPr>
          <p:cNvPr id="12" name="Rounded Rectangle 11"/>
          <p:cNvSpPr/>
          <p:nvPr/>
        </p:nvSpPr>
        <p:spPr>
          <a:xfrm>
            <a:off x="3390058" y="3294888"/>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390058" y="3294888"/>
            <a:ext cx="8021654" cy="64008"/>
          </a:xfrm>
          <a:prstGeom prst="rect">
            <a:avLst/>
          </a:prstGeom>
          <a:solidFill>
            <a:srgbClr val="3A7D7B"/>
          </a:solidFill>
          <a:ln>
            <a:noFill/>
          </a:ln>
          <a:effectLst/>
        </p:spPr>
        <p:txBody>
          <a:bodyPr rtlCol="0" anchor="ctr"/>
          <a:lstStyle/>
          <a:p>
            <a:pPr algn="ctr"/>
          </a:p>
        </p:txBody>
      </p:sp>
      <p:sp>
        <p:nvSpPr>
          <p:cNvPr id="14" name="Oval 13"/>
          <p:cNvSpPr/>
          <p:nvPr/>
        </p:nvSpPr>
        <p:spPr>
          <a:xfrm>
            <a:off x="3572938" y="3790188"/>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572938" y="379018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121578" y="3294888"/>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One preference per line</a:t>
            </a:r>
          </a:p>
          <a:p>
            <a:pPr algn="l">
              <a:spcAft>
                <a:spcPts val="200"/>
              </a:spcAft>
            </a:pPr>
            <a:r>
              <a:rPr sz="1200" b="0">
                <a:solidFill>
                  <a:srgbClr val="6B6862"/>
                </a:solidFill>
                <a:latin typeface="Calibri"/>
              </a:rPr>
              <a:t>Charts, colours, layout and PivotTable field names.</a:t>
            </a:r>
          </a:p>
        </p:txBody>
      </p:sp>
      <p:sp>
        <p:nvSpPr>
          <p:cNvPr id="17" name="Rounded Rectangle 16"/>
          <p:cNvSpPr/>
          <p:nvPr/>
        </p:nvSpPr>
        <p:spPr>
          <a:xfrm>
            <a:off x="3390058" y="4779264"/>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390058" y="4779264"/>
            <a:ext cx="8021654" cy="64008"/>
          </a:xfrm>
          <a:prstGeom prst="rect">
            <a:avLst/>
          </a:prstGeom>
          <a:solidFill>
            <a:srgbClr val="5B4B8A"/>
          </a:solidFill>
          <a:ln>
            <a:noFill/>
          </a:ln>
          <a:effectLst/>
        </p:spPr>
        <p:txBody>
          <a:bodyPr rtlCol="0" anchor="ctr"/>
          <a:lstStyle/>
          <a:p>
            <a:pPr algn="ctr"/>
          </a:p>
        </p:txBody>
      </p:sp>
      <p:sp>
        <p:nvSpPr>
          <p:cNvPr id="19" name="Oval 18"/>
          <p:cNvSpPr/>
          <p:nvPr/>
        </p:nvSpPr>
        <p:spPr>
          <a:xfrm>
            <a:off x="3572938" y="5274564"/>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572938" y="5274564"/>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121578" y="4779264"/>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Save, then New chat</a:t>
            </a:r>
          </a:p>
          <a:p>
            <a:pPr algn="l">
              <a:spcAft>
                <a:spcPts val="200"/>
              </a:spcAft>
            </a:pPr>
            <a:r>
              <a:rPr sz="1200" b="0">
                <a:solidFill>
                  <a:srgbClr val="6B6862"/>
                </a:solidFill>
                <a:latin typeface="Calibri"/>
              </a:rPr>
              <a:t>The preferences now apply in every workbook you open.</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.Rules Works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3A7D7B"/>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 &gt; Create workbook rules adds a sheet named .Rules with starter rules.</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3A7D7B"/>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Write one rule per cell in column A, under ## headings, with an example.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3A7D7B"/>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On every prompt in this file, Copilot reads the visible .Rules sheet first.</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3A7D7B"/>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Your short prompt + the rules = the same result every time.</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3A7D7B"/>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3A7D7B"/>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Share the file: the rules travel with it - no setup for colleagues.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COMPARE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vs .Rules vs Skills</a:t>
            </a:r>
          </a:p>
        </p:txBody>
      </p:sp>
      <p:sp>
        <p:nvSpPr>
          <p:cNvPr id="5" name="Rectangle 4"/>
          <p:cNvSpPr/>
          <p:nvPr/>
        </p:nvSpPr>
        <p:spPr>
          <a:xfrm>
            <a:off x="2404872" y="1783080"/>
            <a:ext cx="295656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2404872"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Personalization</a:t>
            </a:r>
          </a:p>
        </p:txBody>
      </p:sp>
      <p:sp>
        <p:nvSpPr>
          <p:cNvPr id="7" name="Rectangle 6"/>
          <p:cNvSpPr/>
          <p:nvPr/>
        </p:nvSpPr>
        <p:spPr>
          <a:xfrm>
            <a:off x="5416296" y="1783080"/>
            <a:ext cx="2956560" cy="457200"/>
          </a:xfrm>
          <a:prstGeom prst="rect">
            <a:avLst/>
          </a:prstGeom>
          <a:solidFill>
            <a:srgbClr val="3A7D7B"/>
          </a:solidFill>
          <a:ln>
            <a:noFill/>
          </a:ln>
          <a:effectLst/>
        </p:spPr>
        <p:txBody>
          <a:bodyPr rtlCol="0" anchor="ctr"/>
          <a:lstStyle/>
          <a:p>
            <a:pPr algn="ctr"/>
          </a:p>
        </p:txBody>
      </p:sp>
      <p:sp>
        <p:nvSpPr>
          <p:cNvPr id="8" name="TextBox 7"/>
          <p:cNvSpPr txBox="1"/>
          <p:nvPr/>
        </p:nvSpPr>
        <p:spPr>
          <a:xfrm>
            <a:off x="5416296"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.Rules sheet</a:t>
            </a:r>
          </a:p>
        </p:txBody>
      </p:sp>
      <p:sp>
        <p:nvSpPr>
          <p:cNvPr id="9" name="Rectangle 8"/>
          <p:cNvSpPr/>
          <p:nvPr/>
        </p:nvSpPr>
        <p:spPr>
          <a:xfrm>
            <a:off x="8427720" y="1783080"/>
            <a:ext cx="2956560" cy="457200"/>
          </a:xfrm>
          <a:prstGeom prst="rect">
            <a:avLst/>
          </a:prstGeom>
          <a:solidFill>
            <a:srgbClr val="5B4B8A"/>
          </a:solidFill>
          <a:ln>
            <a:noFill/>
          </a:ln>
          <a:effectLst/>
        </p:spPr>
        <p:txBody>
          <a:bodyPr rtlCol="0" anchor="ctr"/>
          <a:lstStyle/>
          <a:p>
            <a:pPr algn="ctr"/>
          </a:p>
        </p:txBody>
      </p:sp>
      <p:sp>
        <p:nvSpPr>
          <p:cNvPr id="10" name="TextBox 9"/>
          <p:cNvSpPr txBox="1"/>
          <p:nvPr/>
        </p:nvSpPr>
        <p:spPr>
          <a:xfrm>
            <a:off x="8427720"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Skill</a:t>
            </a:r>
          </a:p>
        </p:txBody>
      </p:sp>
      <p:sp>
        <p:nvSpPr>
          <p:cNvPr id="11" name="Rounded Rectangle 10"/>
          <p:cNvSpPr/>
          <p:nvPr/>
        </p:nvSpPr>
        <p:spPr>
          <a:xfrm>
            <a:off x="777240" y="2295144"/>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86968" y="229514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What it is</a:t>
            </a:r>
          </a:p>
        </p:txBody>
      </p:sp>
      <p:sp>
        <p:nvSpPr>
          <p:cNvPr id="13" name="TextBox 12"/>
          <p:cNvSpPr txBox="1"/>
          <p:nvPr/>
        </p:nvSpPr>
        <p:spPr>
          <a:xfrm>
            <a:off x="2487168"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preferences for how Copilot works</a:t>
            </a:r>
          </a:p>
        </p:txBody>
      </p:sp>
      <p:sp>
        <p:nvSpPr>
          <p:cNvPr id="14" name="TextBox 13"/>
          <p:cNvSpPr txBox="1"/>
          <p:nvPr/>
        </p:nvSpPr>
        <p:spPr>
          <a:xfrm>
            <a:off x="5498592"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Guidelines for one workbook</a:t>
            </a:r>
          </a:p>
        </p:txBody>
      </p:sp>
      <p:sp>
        <p:nvSpPr>
          <p:cNvPr id="15" name="TextBox 14"/>
          <p:cNvSpPr txBox="1"/>
          <p:nvPr/>
        </p:nvSpPr>
        <p:spPr>
          <a:xfrm>
            <a:off x="8510016"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recipe for one repeatable task</a:t>
            </a:r>
          </a:p>
        </p:txBody>
      </p:sp>
      <p:sp>
        <p:nvSpPr>
          <p:cNvPr id="16" name="TextBox 15"/>
          <p:cNvSpPr txBox="1"/>
          <p:nvPr/>
        </p:nvSpPr>
        <p:spPr>
          <a:xfrm>
            <a:off x="886968" y="285684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Where it lives</a:t>
            </a:r>
          </a:p>
        </p:txBody>
      </p:sp>
      <p:sp>
        <p:nvSpPr>
          <p:cNvPr id="17" name="TextBox 16"/>
          <p:cNvSpPr txBox="1"/>
          <p:nvPr/>
        </p:nvSpPr>
        <p:spPr>
          <a:xfrm>
            <a:off x="2487168"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Microsoft 365 account</a:t>
            </a:r>
          </a:p>
        </p:txBody>
      </p:sp>
      <p:sp>
        <p:nvSpPr>
          <p:cNvPr id="18" name="TextBox 17"/>
          <p:cNvSpPr txBox="1"/>
          <p:nvPr/>
        </p:nvSpPr>
        <p:spPr>
          <a:xfrm>
            <a:off x="5498592"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visible sheet named .Rules in the file</a:t>
            </a:r>
          </a:p>
        </p:txBody>
      </p:sp>
      <p:sp>
        <p:nvSpPr>
          <p:cNvPr id="19" name="TextBox 18"/>
          <p:cNvSpPr txBox="1"/>
          <p:nvPr/>
        </p:nvSpPr>
        <p:spPr>
          <a:xfrm>
            <a:off x="8510016"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Built in, or SKILL.md in your OneDrive skills folder</a:t>
            </a:r>
          </a:p>
        </p:txBody>
      </p:sp>
      <p:sp>
        <p:nvSpPr>
          <p:cNvPr id="20" name="Rounded Rectangle 19"/>
          <p:cNvSpPr/>
          <p:nvPr/>
        </p:nvSpPr>
        <p:spPr>
          <a:xfrm>
            <a:off x="777240" y="3418548"/>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86968" y="3418548"/>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Applies to</a:t>
            </a:r>
          </a:p>
        </p:txBody>
      </p:sp>
      <p:sp>
        <p:nvSpPr>
          <p:cNvPr id="22" name="TextBox 21"/>
          <p:cNvSpPr txBox="1"/>
          <p:nvPr/>
        </p:nvSpPr>
        <p:spPr>
          <a:xfrm>
            <a:off x="2487168"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 in every workbook, on any device</a:t>
            </a:r>
          </a:p>
        </p:txBody>
      </p:sp>
      <p:sp>
        <p:nvSpPr>
          <p:cNvPr id="23" name="TextBox 22"/>
          <p:cNvSpPr txBox="1"/>
          <p:nvPr/>
        </p:nvSpPr>
        <p:spPr>
          <a:xfrm>
            <a:off x="5498592"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Anyone using Copilot in this workbook</a:t>
            </a:r>
          </a:p>
        </p:txBody>
      </p:sp>
      <p:sp>
        <p:nvSpPr>
          <p:cNvPr id="24" name="TextBox 23"/>
          <p:cNvSpPr txBox="1"/>
          <p:nvPr/>
        </p:nvSpPr>
        <p:spPr>
          <a:xfrm>
            <a:off x="8510016"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 workbook, when you call @name</a:t>
            </a:r>
          </a:p>
        </p:txBody>
      </p:sp>
      <p:sp>
        <p:nvSpPr>
          <p:cNvPr id="25" name="TextBox 24"/>
          <p:cNvSpPr txBox="1"/>
          <p:nvPr/>
        </p:nvSpPr>
        <p:spPr>
          <a:xfrm>
            <a:off x="886968" y="3980250"/>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Shared?</a:t>
            </a:r>
          </a:p>
        </p:txBody>
      </p:sp>
      <p:sp>
        <p:nvSpPr>
          <p:cNvPr id="26" name="TextBox 25"/>
          <p:cNvSpPr txBox="1"/>
          <p:nvPr/>
        </p:nvSpPr>
        <p:spPr>
          <a:xfrm>
            <a:off x="2487168"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No - only you</a:t>
            </a:r>
          </a:p>
        </p:txBody>
      </p:sp>
      <p:sp>
        <p:nvSpPr>
          <p:cNvPr id="27" name="TextBox 26"/>
          <p:cNvSpPr txBox="1"/>
          <p:nvPr/>
        </p:nvSpPr>
        <p:spPr>
          <a:xfrm>
            <a:off x="5498592"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Yes - it travels with the file</a:t>
            </a:r>
          </a:p>
        </p:txBody>
      </p:sp>
      <p:sp>
        <p:nvSpPr>
          <p:cNvPr id="28" name="TextBox 27"/>
          <p:cNvSpPr txBox="1"/>
          <p:nvPr/>
        </p:nvSpPr>
        <p:spPr>
          <a:xfrm>
            <a:off x="8510016"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Only with people who install the same skill</a:t>
            </a:r>
          </a:p>
        </p:txBody>
      </p:sp>
      <p:sp>
        <p:nvSpPr>
          <p:cNvPr id="29" name="Rounded Rectangle 28"/>
          <p:cNvSpPr/>
          <p:nvPr/>
        </p:nvSpPr>
        <p:spPr>
          <a:xfrm>
            <a:off x="777240" y="4541952"/>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TextBox 29"/>
          <p:cNvSpPr txBox="1"/>
          <p:nvPr/>
        </p:nvSpPr>
        <p:spPr>
          <a:xfrm>
            <a:off x="886968" y="4541952"/>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Set up</a:t>
            </a:r>
          </a:p>
        </p:txBody>
      </p:sp>
      <p:sp>
        <p:nvSpPr>
          <p:cNvPr id="31" name="TextBox 30"/>
          <p:cNvSpPr txBox="1"/>
          <p:nvPr/>
        </p:nvSpPr>
        <p:spPr>
          <a:xfrm>
            <a:off x="2487168"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Settings (...) &gt; Personalization</a:t>
            </a:r>
          </a:p>
        </p:txBody>
      </p:sp>
      <p:sp>
        <p:nvSpPr>
          <p:cNvPr id="32" name="TextBox 31"/>
          <p:cNvSpPr txBox="1"/>
          <p:nvPr/>
        </p:nvSpPr>
        <p:spPr>
          <a:xfrm>
            <a:off x="5498592"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 &gt; Create workbook rules</a:t>
            </a:r>
          </a:p>
        </p:txBody>
      </p:sp>
      <p:sp>
        <p:nvSpPr>
          <p:cNvPr id="33" name="TextBox 32"/>
          <p:cNvSpPr txBox="1"/>
          <p:nvPr/>
        </p:nvSpPr>
        <p:spPr>
          <a:xfrm>
            <a:off x="8510016"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Manage plugins &amp; skills; custom: OneDrive + Refresh</a:t>
            </a:r>
          </a:p>
        </p:txBody>
      </p:sp>
      <p:sp>
        <p:nvSpPr>
          <p:cNvPr id="34" name="TextBox 33"/>
          <p:cNvSpPr txBox="1"/>
          <p:nvPr/>
        </p:nvSpPr>
        <p:spPr>
          <a:xfrm>
            <a:off x="886968" y="510365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Best for</a:t>
            </a:r>
          </a:p>
        </p:txBody>
      </p:sp>
      <p:sp>
        <p:nvSpPr>
          <p:cNvPr id="35" name="TextBox 34"/>
          <p:cNvSpPr txBox="1"/>
          <p:nvPr/>
        </p:nvSpPr>
        <p:spPr>
          <a:xfrm>
            <a:off x="2487168"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Formats, colours, tone you always want</a:t>
            </a:r>
          </a:p>
        </p:txBody>
      </p:sp>
      <p:sp>
        <p:nvSpPr>
          <p:cNvPr id="36" name="TextBox 35"/>
          <p:cNvSpPr txBox="1"/>
          <p:nvPr/>
        </p:nvSpPr>
        <p:spPr>
          <a:xfrm>
            <a:off x="5498592"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Definitions, valid values, layout</a:t>
            </a:r>
          </a:p>
        </p:txBody>
      </p:sp>
      <p:sp>
        <p:nvSpPr>
          <p:cNvPr id="37" name="TextBox 36"/>
          <p:cNvSpPr txBox="1"/>
          <p:nvPr/>
        </p:nvSpPr>
        <p:spPr>
          <a:xfrm>
            <a:off x="8510016"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Multi-step tasks repeated across files</a:t>
            </a:r>
          </a:p>
        </p:txBody>
      </p:sp>
      <p:sp>
        <p:nvSpPr>
          <p:cNvPr id="38" name="Rounded Rectangle 37"/>
          <p:cNvSpPr/>
          <p:nvPr/>
        </p:nvSpPr>
        <p:spPr>
          <a:xfrm>
            <a:off x="777240" y="5665356"/>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9" name="TextBox 38"/>
          <p:cNvSpPr txBox="1"/>
          <p:nvPr/>
        </p:nvSpPr>
        <p:spPr>
          <a:xfrm>
            <a:off x="886968" y="566535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Example</a:t>
            </a:r>
          </a:p>
        </p:txBody>
      </p:sp>
      <p:sp>
        <p:nvSpPr>
          <p:cNvPr id="40" name="TextBox 39"/>
          <p:cNvSpPr txBox="1"/>
          <p:nvPr/>
        </p:nvSpPr>
        <p:spPr>
          <a:xfrm>
            <a:off x="2487168"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Use navy and teal for charts</a:t>
            </a:r>
          </a:p>
        </p:txBody>
      </p:sp>
      <p:sp>
        <p:nvSpPr>
          <p:cNvPr id="41" name="TextBox 40"/>
          <p:cNvSpPr txBox="1"/>
          <p:nvPr/>
        </p:nvSpPr>
        <p:spPr>
          <a:xfrm>
            <a:off x="5498592"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WIP = In Progress</a:t>
            </a:r>
          </a:p>
        </p:txBody>
      </p:sp>
      <p:sp>
        <p:nvSpPr>
          <p:cNvPr id="42" name="TextBox 41"/>
          <p:cNvSpPr txBox="1"/>
          <p:nvPr/>
        </p:nvSpPr>
        <p:spPr>
          <a:xfrm>
            <a:off x="8510016"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@interview-calendar week of 6 July</a:t>
            </a:r>
          </a:p>
        </p:txBody>
      </p:sp>
      <p:sp>
        <p:nvSpPr>
          <p:cNvPr id="43" name="TextBox 4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45" name="TextBox 4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WHICH 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Rules and Skills Compared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WHERE DOES IT GO?</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REMEMBER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'Always show currency as S$ with 2 decimals' → Personalization</a:t>
            </a:r>
          </a:p>
          <a:p>
            <a:pPr>
              <a:spcAft>
                <a:spcPts val="1000"/>
              </a:spcAft>
            </a:pPr>
            <a:r>
              <a:rPr sz="1600" b="0">
                <a:solidFill>
                  <a:srgbClr val="21201C"/>
                </a:solidFill>
                <a:latin typeface="Calibri"/>
              </a:rPr>
              <a:t>•  'In this workbook, WIP means In Progress' → .Rules</a:t>
            </a:r>
          </a:p>
          <a:p>
            <a:pPr>
              <a:spcAft>
                <a:spcPts val="1000"/>
              </a:spcAft>
            </a:pPr>
            <a:r>
              <a:rPr sz="1600" b="0">
                <a:solidFill>
                  <a:srgbClr val="21201C"/>
                </a:solidFill>
                <a:latin typeface="Calibri"/>
              </a:rPr>
              <a:t>•  'Build the weekly interview calendar' → Skill</a:t>
            </a:r>
          </a:p>
          <a:p>
            <a:pPr>
              <a:spcAft>
                <a:spcPts val="1000"/>
              </a:spcAft>
            </a:pPr>
            <a:r>
              <a:rPr sz="1600" b="0">
                <a:solidFill>
                  <a:srgbClr val="21201C"/>
                </a:solidFill>
                <a:latin typeface="Calibri"/>
              </a:rPr>
              <a:t>•  'Charts in this client report use the client's colours' →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Your prompt overrides Personalization.</a:t>
            </a:r>
          </a:p>
          <a:p>
            <a:pPr>
              <a:spcAft>
                <a:spcPts val="1000"/>
              </a:spcAft>
            </a:pPr>
            <a:r>
              <a:rPr sz="1600" b="0">
                <a:solidFill>
                  <a:srgbClr val="21201C"/>
                </a:solidFill>
                <a:latin typeface="Calibri"/>
              </a:rPr>
              <a:t>•  A hidden .Rules sheet is ignored.</a:t>
            </a:r>
          </a:p>
          <a:p>
            <a:pPr>
              <a:spcAft>
                <a:spcPts val="1000"/>
              </a:spcAft>
            </a:pPr>
            <a:r>
              <a:rPr sz="1600" b="0">
                <a:solidFill>
                  <a:srgbClr val="21201C"/>
                </a:solidFill>
                <a:latin typeface="Calibri"/>
              </a:rPr>
              <a:t>•  A custom skill works only once installed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Create rules:  </a:t>
            </a:r>
            <a:r>
              <a:rPr sz="1200" b="0">
                <a:solidFill>
                  <a:srgbClr val="21201C"/>
                </a:solidFill>
                <a:latin typeface="Calibri"/>
              </a:rPr>
              <a:t>Create a .Rules worksheet based on the formatting already used in this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the workbook's current formats (dates, money, tables) and writes them as rules on a new .Rules sheet.</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Add a rule:  </a:t>
            </a:r>
            <a:r>
              <a:rPr sz="1200" b="0">
                <a:solidFill>
                  <a:srgbClr val="21201C"/>
                </a:solidFill>
                <a:latin typeface="Calibri"/>
              </a:rPr>
              <a:t>Add a rule to my .Rules worksheet that all charts should use navy #1F4E79 and teal #2A9D8F.</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one line to column A of .Rules; from now on every chart Copilot makes in this workbook uses those colours.</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Apply rules:  </a:t>
            </a:r>
            <a:r>
              <a:rPr sz="1200" b="0">
                <a:solidFill>
                  <a:srgbClr val="21201C"/>
                </a:solidFill>
                <a:latin typeface="Calibri"/>
              </a:rPr>
              <a:t>Create a new sheet Orders_Clean with a clean copy of Orders_Raw, following the workbook rules.</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 one-line prompt is enough: Copilot reads .Rules and applies every rule - statuses, regions, client names, dates, money - to a clean copy.</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Find variants:  </a:t>
            </a:r>
            <a:r>
              <a:rPr sz="1200" b="0">
                <a:solidFill>
                  <a:srgbClr val="21201C"/>
                </a:solidFill>
                <a:latin typeface="Calibri"/>
              </a:rPr>
              <a:t>List the distinct values in Status and Region with counts, and group the ones that mean the same thing.</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Lists each spelling with its count and groups variants such as WIP and In Progress, so you know what the rules must fix.</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Rules + lookup:  </a:t>
            </a:r>
            <a:r>
              <a:rPr sz="1200" b="0">
                <a:solidFill>
                  <a:srgbClr val="21201C"/>
                </a:solidFill>
                <a:latin typeface="Calibri"/>
              </a:rPr>
              <a:t>Add Rate from tblRateCard by Owner and Delivered_Value = Hours_Logged x Rate to tblOrdersClean.</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Rate: =XLOOKUP([@Owner], tblRateCard[Owner], tblRateCard[Hourly_Rate]) finds the owner's rate. Delivered_Value: =[@Hours_Logged]*[@Rate], hours x rate.</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Turning Built-in Skills On</a:t>
            </a:r>
          </a:p>
        </p:txBody>
      </p:sp>
      <p:sp>
        <p:nvSpPr>
          <p:cNvPr id="5" name="Rectangle 4"/>
          <p:cNvSpPr/>
          <p:nvPr/>
        </p:nvSpPr>
        <p:spPr>
          <a:xfrm>
            <a:off x="2228312" y="1737360"/>
            <a:ext cx="2186491" cy="3840479"/>
          </a:xfrm>
          <a:prstGeom prst="rect">
            <a:avLst/>
          </a:prstGeom>
          <a:solidFill>
            <a:srgbClr val="DCD8CF"/>
          </a:solidFill>
          <a:ln>
            <a:noFill/>
          </a:ln>
          <a:effectLst/>
        </p:spPr>
        <p:txBody>
          <a:bodyPr rtlCol="0" anchor="ctr"/>
          <a:lstStyle/>
          <a:p>
            <a:pPr algn="ctr"/>
          </a:p>
        </p:txBody>
      </p:sp>
      <p:pic>
        <p:nvPicPr>
          <p:cNvPr id="6" name="Picture 5" descr="manage-skills.png"/>
          <p:cNvPicPr>
            <a:picLocks noChangeAspect="1"/>
          </p:cNvPicPr>
          <p:nvPr/>
        </p:nvPicPr>
        <p:blipFill>
          <a:blip r:embed="rId2"/>
          <a:stretch>
            <a:fillRect/>
          </a:stretch>
        </p:blipFill>
        <p:spPr>
          <a:xfrm>
            <a:off x="2274032" y="1783080"/>
            <a:ext cx="2095051"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Manage plugins &amp; skills</a:t>
            </a:r>
          </a:p>
          <a:p>
            <a:pPr algn="ctr">
              <a:spcAft>
                <a:spcPts val="200"/>
              </a:spcAft>
            </a:pPr>
            <a:r>
              <a:rPr sz="1200" b="0">
                <a:solidFill>
                  <a:srgbClr val="6B6862"/>
                </a:solidFill>
                <a:latin typeface="Calibri"/>
              </a:rPr>
              <a:t>Settings (...): switch a whole group on - Custom skills, Finance, Visualisation.</a:t>
            </a:r>
          </a:p>
        </p:txBody>
      </p:sp>
      <p:sp>
        <p:nvSpPr>
          <p:cNvPr id="8" name="Rectangle 7"/>
          <p:cNvSpPr/>
          <p:nvPr/>
        </p:nvSpPr>
        <p:spPr>
          <a:xfrm>
            <a:off x="7888787" y="1737360"/>
            <a:ext cx="1957213" cy="3840479"/>
          </a:xfrm>
          <a:prstGeom prst="rect">
            <a:avLst/>
          </a:prstGeom>
          <a:solidFill>
            <a:srgbClr val="DCD8CF"/>
          </a:solidFill>
          <a:ln>
            <a:noFill/>
          </a:ln>
          <a:effectLst/>
        </p:spPr>
        <p:txBody>
          <a:bodyPr rtlCol="0" anchor="ctr"/>
          <a:lstStyle/>
          <a:p>
            <a:pPr algn="ctr"/>
          </a:p>
        </p:txBody>
      </p:sp>
      <p:pic>
        <p:nvPicPr>
          <p:cNvPr id="9" name="Picture 8" descr="finance-skills.png"/>
          <p:cNvPicPr>
            <a:picLocks noChangeAspect="1"/>
          </p:cNvPicPr>
          <p:nvPr/>
        </p:nvPicPr>
        <p:blipFill>
          <a:blip r:embed="rId3"/>
          <a:stretch>
            <a:fillRect/>
          </a:stretch>
        </p:blipFill>
        <p:spPr>
          <a:xfrm>
            <a:off x="7934507" y="1783080"/>
            <a:ext cx="1865774" cy="3749039"/>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Inside a group</a:t>
            </a:r>
          </a:p>
          <a:p>
            <a:pPr algn="ctr">
              <a:spcAft>
                <a:spcPts val="200"/>
              </a:spcAft>
            </a:pPr>
            <a:r>
              <a:rPr sz="1200" b="0">
                <a:solidFill>
                  <a:srgbClr val="6B6862"/>
                </a:solidFill>
                <a:latin typeface="Calibri"/>
              </a:rPr>
              <a:t>Open Finance and turn on single skills, e.g. check-model.</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Find skills:  </a:t>
            </a:r>
            <a:r>
              <a:rPr sz="1200" b="0">
                <a:solidFill>
                  <a:srgbClr val="21201C"/>
                </a:solidFill>
                <a:latin typeface="Calibri"/>
              </a:rPr>
              <a:t>Which skills do you have for charts, formatting and finance? When would I use each one?</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Chat only: Copilot lists the skills you can call - Formatting, Visualization and Finance - and when each one helps.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Chart skill:  </a:t>
            </a:r>
            <a:r>
              <a:rPr sz="1200" b="0">
                <a:solidFill>
                  <a:srgbClr val="21201C"/>
                </a:solidFill>
                <a:latin typeface="Calibri"/>
              </a:rPr>
              <a:t>@chart-design Recommend the best chart for new vs churned clients by month, then create it.</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chart-design skill: it picks a suitable chart type, then builds and formats the chart.</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Finance skill:  </a:t>
            </a:r>
            <a:r>
              <a:rPr sz="1200" b="0">
                <a:solidFill>
                  <a:srgbClr val="21201C"/>
                </a:solidFill>
                <a:latin typeface="Calibri"/>
              </a:rPr>
              <a:t>@unit-economics Compare CAC and payback months by acquisition Channel for H1 2026.</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unit-economics skill: CAC = spend / new clients and payback = CAC / (ARPA x gross margin), for each channel. Check against your Checks sheet.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Audit skill:  </a:t>
            </a:r>
            <a:r>
              <a:rPr sz="1200" b="0">
                <a:solidFill>
                  <a:srgbClr val="21201C"/>
                </a:solidFill>
                <a:latin typeface="Calibri"/>
              </a:rPr>
              <a:t>@check-model Check this sheet for hardcoded numbers, broken formulas and totals that miss rows.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check-model skill to audit the sheet: typed numbers where formulas should be, formulas unlike their neighbours, totals that miss rows.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Style skill:  </a:t>
            </a:r>
            <a:r>
              <a:rPr sz="1200" b="0">
                <a:solidFill>
                  <a:srgbClr val="21201C"/>
                </a:solidFill>
                <a:latin typeface="Calibri"/>
              </a:rPr>
              <a:t>@theme-design Apply a coordinated theme to this workbook.</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theme-design skill: one coordinated set of colours and fonts for cells, tables and charts.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Custom Skill Installed in OneDrive</a:t>
            </a:r>
          </a:p>
        </p:txBody>
      </p:sp>
      <p:sp>
        <p:nvSpPr>
          <p:cNvPr id="5" name="Rectangle 4"/>
          <p:cNvSpPr/>
          <p:nvPr/>
        </p:nvSpPr>
        <p:spPr>
          <a:xfrm>
            <a:off x="1016808" y="1792224"/>
            <a:ext cx="10158079" cy="4224528"/>
          </a:xfrm>
          <a:prstGeom prst="rect">
            <a:avLst/>
          </a:prstGeom>
          <a:solidFill>
            <a:srgbClr val="DCD8CF"/>
          </a:solidFill>
          <a:ln>
            <a:noFill/>
          </a:ln>
          <a:effectLst/>
        </p:spPr>
        <p:txBody>
          <a:bodyPr rtlCol="0" anchor="ctr"/>
          <a:lstStyle/>
          <a:p>
            <a:pPr algn="ctr"/>
          </a:p>
        </p:txBody>
      </p:sp>
      <p:pic>
        <p:nvPicPr>
          <p:cNvPr id="6" name="Picture 5" descr="onedrive-skills-interview-calendar.png"/>
          <p:cNvPicPr>
            <a:picLocks noChangeAspect="1"/>
          </p:cNvPicPr>
          <p:nvPr/>
        </p:nvPicPr>
        <p:blipFill>
          <a:blip r:embed="rId2"/>
          <a:stretch>
            <a:fillRect/>
          </a:stretch>
        </p:blipFill>
        <p:spPr>
          <a:xfrm>
            <a:off x="1071672" y="1847088"/>
            <a:ext cx="10048352"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OneDrive &gt; Documents &gt; Copilot &gt; Microsoft Excel &gt; skills: the new interview-calendar folder holds SKILL.md, next to the sample make-calendar.example.</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a:t>
            </a:r>
            <a:r>
              <a:rPr sz="1200" b="0">
                <a:solidFill>
                  <a:srgbClr val="21201C"/>
                </a:solidFill>
                <a:latin typeface="Calibri"/>
              </a:rPr>
              <a:t>Write a SKILL.md for a skill named weekly-recruiter-report that summarises interviews by Interviewer and Client for a given week, with a small bar chart.</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whole SKILL.md: a name and description at the top, then the steps. You save it in your OneDrive skills folder.</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Explain a skill:  </a:t>
            </a:r>
            <a:r>
              <a:rPr sz="1200" b="0">
                <a:solidFill>
                  <a:srgbClr val="21201C"/>
                </a:solidFill>
                <a:latin typeface="Calibri"/>
              </a:rPr>
              <a:t>Read this SKILL.md and tell me what Copilot will do, step by step, and anything that is unclear.</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a skill file and explains its steps in plain English - a quick review before you save or run it.</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Call a skill:  </a:t>
            </a:r>
            <a:r>
              <a:rPr sz="1200" b="0">
                <a:solidFill>
                  <a:srgbClr val="21201C"/>
                </a:solidFill>
                <a:latin typeface="Calibri"/>
              </a:rPr>
              <a:t>@interview-calendar Build the calendar for the week starting Monday 6 July 2026.</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your custom skill from one line: it builds the Monday-to-Friday calendar and flags clashes.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Reuse:  </a:t>
            </a:r>
            <a:r>
              <a:rPr sz="1200" b="0">
                <a:solidFill>
                  <a:srgbClr val="21201C"/>
                </a:solidFill>
                <a:latin typeface="Calibri"/>
              </a:rPr>
              <a:t>@interview-calendar Week starting 13 July 2026.</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The same skill for a new week - no need to repeat the instructions.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Clash check:  </a:t>
            </a:r>
            <a:r>
              <a:rPr sz="1200" b="0">
                <a:solidFill>
                  <a:srgbClr val="21201C"/>
                </a:solidFill>
                <a:latin typeface="Calibri"/>
              </a:rPr>
              <a:t>List every interview clash in tblInterviews for 6-10 July 2026 with both Interview_IDs.</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Finds overlapping interviews with the same interviewer, or onsite interviews in the same room, and lists both IDs.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What a skill is: reusable, installed in OneDrive · 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recipe Copilot runs from one @mention in any workbook. A custom skill must be installed in OneDrive.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steps once; every workbook and every month gets the same result.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Type @ in the prompt box: an installed, enabled skill appears in the list.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What Is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INSTALL A SKILL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Settings (...) &gt; Manage plugins &amp; skills &gt; Custom skills &gt; Add in OneDrive.</a:t>
            </a:r>
          </a:p>
          <a:p>
            <a:pPr>
              <a:spcAft>
                <a:spcPts val="1000"/>
              </a:spcAft>
            </a:pPr>
            <a:r>
              <a:rPr sz="1600" b="0">
                <a:solidFill>
                  <a:srgbClr val="21201C"/>
                </a:solidFill>
                <a:latin typeface="Calibri"/>
              </a:rPr>
              <a:t>•  OneDrive: skills &gt; hr-workforce-dashboard &gt; SKILL.md</a:t>
            </a:r>
          </a:p>
          <a:p>
            <a:pPr>
              <a:spcAft>
                <a:spcPts val="1000"/>
              </a:spcAft>
            </a:pPr>
            <a:r>
              <a:rPr sz="1600" b="0">
                <a:solidFill>
                  <a:srgbClr val="21201C"/>
                </a:solidFill>
                <a:latin typeface="Calibri"/>
              </a:rPr>
              <a:t>•  Refresh, turn the skill on, then type @hr in the prompt box.</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Folder name = the name: line.</a:t>
            </a:r>
          </a:p>
          <a:p>
            <a:pPr>
              <a:spcAft>
                <a:spcPts val="1000"/>
              </a:spcAft>
            </a:pPr>
            <a:r>
              <a:rPr sz="1600" b="0">
                <a:solidFill>
                  <a:srgbClr val="21201C"/>
                </a:solidFill>
                <a:latin typeface="Calibri"/>
              </a:rPr>
              <a:t>•  Workbook local; skill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Where Custom Skills Live</a:t>
            </a:r>
          </a:p>
        </p:txBody>
      </p:sp>
      <p:sp>
        <p:nvSpPr>
          <p:cNvPr id="5" name="Rectangle 4"/>
          <p:cNvSpPr/>
          <p:nvPr/>
        </p:nvSpPr>
        <p:spPr>
          <a:xfrm>
            <a:off x="1380961" y="1792224"/>
            <a:ext cx="9429773" cy="422452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1435825" y="1847088"/>
            <a:ext cx="9320045"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Excel reads custom skills only from OneDrive &gt; Documents &gt; Copilot &gt; Microsoft Excel &gt; skills - one folder per skill. The workbook itself can stay on your computer.</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Plan:  </a:t>
            </a:r>
            <a:r>
              <a:rPr sz="1200" b="0">
                <a:solidFill>
                  <a:srgbClr val="21201C"/>
                </a:solidFill>
                <a:latin typeface="Calibri"/>
              </a:rPr>
              <a:t>Plan a recruitment dashboard following the workbook rules. Show me the plan first.</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Plan mode: Copilot proposes the dashboard - KPI cards, charts, slicers - using the definitions in .Rules, and waits for your approval.</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KPI card:  </a:t>
            </a:r>
            <a:r>
              <a:rPr sz="1200" b="0">
                <a:solidFill>
                  <a:srgbClr val="21201C"/>
                </a:solidFill>
                <a:latin typeface="Calibri"/>
              </a:rPr>
              <a:t>Create a KPI card for Cost per hire linked to the PivotTable with GETPIVOTDATA, formatted as 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Reads the totals from the PivotTable with GETPIVOTDATA (sourcing cost / hires), so the card follows the slicers instead of showing a fixed number.</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Chart skill:  </a:t>
            </a:r>
            <a:r>
              <a:rPr sz="1200" b="0">
                <a:solidFill>
                  <a:srgbClr val="21201C"/>
                </a:solidFill>
                <a:latin typeface="Calibri"/>
              </a:rPr>
              <a:t>@chart-design Turn the hires-by-month chart into columns for hires and a line for Hire_Target.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chart-design for a combo chart: hires as columns and the monthly target as a line, so each month is seen against target.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Timeline:  </a:t>
            </a:r>
            <a:r>
              <a:rPr sz="1200" b="0">
                <a:solidFill>
                  <a:srgbClr val="21201C"/>
                </a:solidFill>
                <a:latin typeface="Calibri"/>
              </a:rPr>
              <a:t>Add a timeline on Hire_Date and connect it to every PivotTable on Dash_Data.</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a date slider for Hire_Date; connected to every PivotTable, it filters all charts and cards together.</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Visual cue:  </a:t>
            </a:r>
            <a:r>
              <a:rPr sz="1200" b="0">
                <a:solidFill>
                  <a:srgbClr val="21201C"/>
                </a:solidFill>
                <a:latin typeface="Calibri"/>
              </a:rPr>
              <a:t>Add data bars to the hires-by-recruiter table and traffic-light colours to the target card.</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Data bars draw a bar inside each cell; traffic-light colours turn the target card green, amber or red by the % reached.</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Save the dashboard recipe as a skill, then prove the page updates when new rows arrive.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hr-workforce-dashboard that reads .Rules first and checks every KPI.</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Copilot to write an hr-workforce-dashboard skill, save it to OneDrive and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the skill</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@hr-workforce-dashboard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Plan, Allow editing) · .Rules · custom skill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a:t>
            </a:r>
            <a:r>
              <a:rPr sz="1200" b="0">
                <a:solidFill>
                  <a:srgbClr val="21201C"/>
                </a:solidFill>
                <a:latin typeface="Calibri"/>
              </a:rPr>
              <a:t>Write a SKILL.md named hr-workforce-dashboard that reads the .Rules sheet first and builds a verified workforce dashboard.</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dashboard recipe as a SKILL.md; its first step reads .Rules, so every run uses the same definitions.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Run a skill:  </a:t>
            </a:r>
            <a:r>
              <a:rPr sz="1200" b="0">
                <a:solidFill>
                  <a:srgbClr val="21201C"/>
                </a:solidFill>
                <a:latin typeface="Calibri"/>
              </a:rPr>
              <a:t>@hr-workforce-dashboard Build the workforce dashboard for the 12 months ending 2026-06-30.</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the skill: helper columns, Checks sheet, PivotTables, KPI cards, charts and slicers - all from one line.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Refresh:  </a:t>
            </a:r>
            <a:r>
              <a:rPr sz="1200" b="0">
                <a:solidFill>
                  <a:srgbClr val="21201C"/>
                </a:solidFill>
                <a:latin typeface="Calibri"/>
              </a:rPr>
              <a:t>I added rows to tblEmployees. Refresh all PivotTables and tell me which KPI values changed.</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Refreshes every PivotTable after new rows were added and reports which KPIs moved, e.g. headcount 237 to 245.</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Privacy:  </a:t>
            </a:r>
            <a:r>
              <a:rPr sz="1200" b="0">
                <a:solidFill>
                  <a:srgbClr val="21201C"/>
                </a:solidFill>
                <a:latin typeface="Calibri"/>
              </a:rPr>
              <a:t>Which slicer combinations show a group of fewer than 5 employees? Suggest how to suppress them.</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Finds filter combinations that would show fewer than 5 people, so you can hide or group them before sharing.</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Explain:  </a:t>
            </a:r>
            <a:r>
              <a:rPr sz="1200" b="0">
                <a:solidFill>
                  <a:srgbClr val="21201C"/>
                </a:solidFill>
                <a:latin typeface="Calibri"/>
              </a:rPr>
              <a:t>Explain how the Attrition rate card is calculated, step by step.</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Explains the card's formula: exits in the period / ((opening + closing headcount) / 2) = 29 / 223.5 = 13.0%.</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