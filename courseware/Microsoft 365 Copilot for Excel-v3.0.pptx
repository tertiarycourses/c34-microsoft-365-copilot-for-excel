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778240" y="1371600"/>
            <a:ext cx="2862072" cy="365760"/>
          </a:xfrm>
          <a:prstGeom prst="rect">
            <a:avLst/>
          </a:prstGeom>
          <a:noFill/>
        </p:spPr>
        <p:txBody>
          <a:bodyPr wrap="square" anchor="t">
            <a:spAutoFit/>
          </a:bodyPr>
          <a:lstStyle/>
          <a:p>
            <a:pPr algn="r">
              <a:spcAft>
                <a:spcPts val="400"/>
              </a:spcAft>
            </a:pPr>
            <a:r>
              <a:rPr sz="1300" b="0">
                <a:solidFill>
                  <a:srgbClr val="B9B4A9"/>
                </a:solidFill>
                <a:latin typeface="Calibri"/>
              </a:rPr>
              <a:t>Version v3.0  ·  11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Auto (recommended)</a:t>
            </a:r>
          </a:p>
          <a:p>
            <a:pPr algn="l">
              <a:spcAft>
                <a:spcPts val="300"/>
              </a:spcAft>
            </a:pPr>
            <a:r>
              <a:rPr sz="1400" b="0">
                <a:solidFill>
                  <a:srgbClr val="6B6862"/>
                </a:solidFill>
                <a:latin typeface="Calibri"/>
              </a:rPr>
              <a:t>Copilot chooses the model for each task. Start here.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Claude - Anthropic</a:t>
            </a:r>
          </a:p>
          <a:p>
            <a:pPr algn="l">
              <a:spcAft>
                <a:spcPts val="300"/>
              </a:spcAft>
            </a:pPr>
            <a:r>
              <a:rPr sz="1400" b="0">
                <a:solidFill>
                  <a:srgbClr val="6B6862"/>
                </a:solidFill>
                <a:latin typeface="Calibri"/>
              </a:rPr>
              <a:t>e.g. Claude Opus and Sonnet models. Deep reasoning models suit complex analysis.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GPT - OpenAI</a:t>
            </a:r>
          </a:p>
          <a:p>
            <a:pPr algn="l">
              <a:spcAft>
                <a:spcPts val="300"/>
              </a:spcAft>
            </a:pPr>
            <a:r>
              <a:rPr sz="1400" b="0">
                <a:solidFill>
                  <a:srgbClr val="6B6862"/>
                </a:solidFill>
                <a:latin typeface="Calibri"/>
              </a:rPr>
              <a:t>OpenAI's GPT models.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Which one?</a:t>
            </a:r>
          </a:p>
          <a:p>
            <a:pPr algn="l">
              <a:spcAft>
                <a:spcPts val="300"/>
              </a:spcAft>
            </a:pPr>
            <a:r>
              <a:rPr sz="1400" b="0">
                <a:solidFill>
                  <a:srgbClr val="6B6862"/>
                </a:solidFill>
                <a:latin typeface="Calibri"/>
              </a:rPr>
              <a:t>Try another model if an answer is weak. Premium models have fair-use limits. Always check the result.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in OneDrive;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OneDrive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Save to OneDrive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or Excel for the web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Describe: Describe tblApplications: what one row represents, each column's data type, the row count and the Applied_Date range. Do not change the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Data quality: List any Application_ID that appears more than once in tblApplications and any Source value that is not in the canonical list on About_This_Data.</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first: Plan how you would flag duplicate Application_IDs and standardise Source. Show me the steps before you change anything.</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Clean helper column: Add a column Source_Clean that trims spaces from Source and replaces 'Linked In' with 'LinkedIn'. Do not change the original Source column.</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Question: Using tblApplications, count applications and hires by Source_Clean and show the hire rate. Sort by hires, highest first.</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Lookup: Add a column Recruiter_Name that looks up Recruiter_Name from tblRecruiters using Recruiter_ID with XLOOKUP. Return "Not found" if missing.</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Duration: Add a column Days_Open: if Close_Date is blank use Control!B1 minus Open_Date, otherwise Close_Date minus Open_Date.</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Ratio: Add a column Fill_Rate = Filled / Openings formatted as a percentage.</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Business rule: Add a column Est_Fee = Filled x Monthly_Salary_Budget x 12 x Fee_Rate, formatted as S$ with no decimals.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Flag: Add a column Ageing_Flag that shows "Overdue" when Status is Open and Days_Open &gt; 45, otherwise blank.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PivotTable: Create a PivotTable from tblMonthly with Month_Label in rows, Sector in columns and Sum of Hires as values.</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PivotChart: Create a line PivotChart from the Pivot_Trend PivotTable showing total hires by month. Show data labels and gridlines.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Bar chart: Create a bar chart of 2026 hires by Sector, sorted from highest to lowest.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Funnel: Create a funnel chart of 2026 Applications, Screened, Interviews, Offers and Hires with data labels.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Combo chart: Create a combo chart of Hire_Rate as columns and Cost_per_Hire as a line on a secondary axis.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(7.4%); MyCareersFuture: lowest cost per hire (S$186)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Create rules: Create a .Rules worksheet based on the formatting already used in this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Add a rule: Add a rule to my .Rules worksheet that all charts should use navy #1F4E79 and teal #2A9D8F.</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Apply rules: Create a new sheet Orders_Clean with a clean copy of Orders_Raw, following the workbook rules.</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variants: List the distinct values in Status and Region with counts, and group the ones that mean the same thing.</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Rules + lookup: Add Rate from tblRateCard by Owner and Delivered_Value = Hours_Logged x Rate to tblOrdersClean.</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skills: Which skills do you have for charts, formatting and finance? When would I use each one?</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Recommend the best chart for new vs churned clients by month, then create it.</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Finance skill: @unit-economics Compare CAC and payback months by acquisition Channel for H1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Audit skill: @check-model Check this sheet for hardcoded numbers, broken formulas and totals that miss rows.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Style skill: @theme-design Apply a coordinated theme to this workbook.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for a skill named weekly-recruiter-report that summarises interviews by Interviewer and Client for a given week, with a small bar chart.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a skill: Read this SKILL.md and tell me what Copilot will do, step by step, and anything that is unclear.</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Call a skill: @interview-calendar Build the calendar for the week starting Monday 6 July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Reuse: @interview-calendar Week starting 13 July 2026.</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Clash check: List every interview clash in tblInterviews for 6-10 July 2026 with both Interview_IDs.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Plan a recruitment dashboard following the workbook rules. Show me the plan first.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KPI card: Create a KPI card for Cost per hire linked to the PivotTable with GETPIVOTDATA, formatted as 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Turn the hires-by-month chart into columns for hires and a line for Hire_Target.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Timeline: Add a timeline on Hire_Date and connect it to every PivotTable on Dash_Data.</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Visual cue: Add data bars to the hires-by-recruiter table and traffic-light colours to the target card.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Save the dashboard recipe as a skill, then prove the page updates when new rows arrive.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hr-workforce-dashboard that reads .Rules first and checks every KPI.</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Copilot to write an hr-workforce-dashboard skill, save it to OneDrive and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the skill</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@hr-workforce-dashboard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Plan, Allow editing) · .Rules · custom skill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named hr-workforce-dashboard that reads the .Rules sheet first and builds a verified workforce dashboard.</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Run a skill: @hr-workforce-dashboard Build the workforce dashboard for the 12 months ending 2026-06-30.</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Refresh: I added rows to tblEmployees. Refresh all PivotTables and tell me which KPI values changed.</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Privacy: Which slicer combinations show a group of fewer than 5 employees? Suggest how to suppress them.</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Explain how the Attrition rate card is calculated, step by step.</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